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by framing the project as a supervised learning solution for a real bank marketing use case. Point out the actual dataset size and the major target imbalance shown on the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the problem is operational: contact capacity is limited, so the bank needs a ranked list of clients. The model supports that prioritization by estimating subscription probabilities.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plots to discuss data imbalance and heterogeneity by campaign month and previous campaign outcome. Stress that because the positive class is only 11.7 percent, evaluation requires metrics beyond accuracy.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pipeline. Emphasize that stratified splitting preserves the target distribution and that pipelines prevent leakage from preprocessing into validation or test 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why the two preprocessing pipelines differ. Logistic Regression needs standardized numerical variables; Random Forest does not. Both handle categorical variables with one-hot encoding and are wrapped in pipelines.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table to show why accuracy alone is insufficient. The baseline accuracy is high because most clients do not subscribe, but its precision, recall and F1 for the positive class are zero. Random Forest gives stronger ranking metrics than Logistic Regression.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 the held-out test metrics for the tuned Random Forest. The preferred model is chosen because it combines strong ranking performance with reasonable precision and recall, and it offers useful interpretability through feature importances.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thresholding as the bridge from model scores to marketing action. A lower threshold increases recall and contact volume, while a higher threshold prioritizes precision and a smaller campaign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feature importances were aggregated back to original variables after one-hot encoding. The Top 10 model performs similarly and even improves F1 and recall on the test set, which supports simpler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practical takeaway. The model is valuable for prioritization, but the duration variable creates leakage for pre-call targeting because it is only known after the call begins. Therefore, deployment should use a duration-free model or treat duration only as an explanatory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sp>
      <p:sp>
        <p:nvSpPr>
          <p:cNvPr id="3" name="Shape 1"/>
          <p:cNvSpPr/>
          <p:nvPr/>
        </p:nvSpPr>
        <p:spPr>
          <a:xfrm>
            <a:off x="7863840" y="0"/>
            <a:ext cx="4327855" cy="6858000"/>
          </a:xfrm>
          <a:prstGeom prst="rect">
            <a:avLst/>
          </a:prstGeom>
          <a:solidFill>
            <a:srgbClr val="E7F6F2"/>
          </a:solidFill>
          <a:ln w="12700">
            <a:solidFill>
              <a:srgbClr val="E7F6F2"/>
            </a:solidFill>
            <a:prstDash val="solid"/>
          </a:ln>
        </p:spPr>
      </p:sp>
      <p:sp>
        <p:nvSpPr>
          <p:cNvPr id="4" name="Text 2"/>
          <p:cNvSpPr/>
          <p:nvPr/>
        </p:nvSpPr>
        <p:spPr>
          <a:xfrm>
            <a:off x="731520" y="1143000"/>
            <a:ext cx="6675120" cy="1234440"/>
          </a:xfrm>
          <a:prstGeom prst="rect">
            <a:avLst/>
          </a:prstGeom>
          <a:noFill/>
          <a:ln/>
        </p:spPr>
        <p:txBody>
          <a:bodyPr wrap="square" lIns="0" tIns="0" rIns="0" bIns="0" rtlCol="0" anchor="ctr"/>
          <a:lstStyle/>
          <a:p>
            <a:pPr indent="0" marL="0">
              <a:buNone/>
            </a:pPr>
            <a:r>
              <a:rPr lang="en-US" sz="4000" b="1" dirty="0">
                <a:solidFill>
                  <a:srgbClr val="12385B"/>
                </a:solidFill>
                <a:latin typeface="Aptos Display" pitchFamily="34" charset="0"/>
                <a:ea typeface="Aptos Display" pitchFamily="34" charset="-122"/>
                <a:cs typeface="Aptos Display" pitchFamily="34" charset="-120"/>
              </a:rPr>
              <a:t>Bank Marketing</a:t>
            </a:r>
            <a:endParaRPr lang="en-US" sz="4000" dirty="0"/>
          </a:p>
          <a:p>
            <a:pPr indent="0" marL="0">
              <a:buNone/>
            </a:pPr>
            <a:r>
              <a:rPr lang="en-US" sz="4000" b="1" dirty="0">
                <a:solidFill>
                  <a:srgbClr val="12385B"/>
                </a:solidFill>
                <a:latin typeface="Aptos Display" pitchFamily="34" charset="0"/>
                <a:ea typeface="Aptos Display" pitchFamily="34" charset="-122"/>
                <a:cs typeface="Aptos Display" pitchFamily="34" charset="-120"/>
              </a:rPr>
              <a:t>Subscription Prediction</a:t>
            </a:r>
            <a:endParaRPr lang="en-US" sz="4000" dirty="0"/>
          </a:p>
        </p:txBody>
      </p:sp>
      <p:sp>
        <p:nvSpPr>
          <p:cNvPr id="5" name="Shape 3"/>
          <p:cNvSpPr/>
          <p:nvPr/>
        </p:nvSpPr>
        <p:spPr>
          <a:xfrm>
            <a:off x="749808" y="2788920"/>
            <a:ext cx="1920240" cy="0"/>
          </a:xfrm>
          <a:prstGeom prst="line">
            <a:avLst/>
          </a:prstGeom>
          <a:noFill/>
          <a:ln w="50800">
            <a:solidFill>
              <a:srgbClr val="149C7E"/>
            </a:solidFill>
            <a:prstDash val="solid"/>
          </a:ln>
        </p:spPr>
      </p:sp>
      <p:sp>
        <p:nvSpPr>
          <p:cNvPr id="6" name="Text 4"/>
          <p:cNvSpPr/>
          <p:nvPr/>
        </p:nvSpPr>
        <p:spPr>
          <a:xfrm>
            <a:off x="749808" y="3063240"/>
            <a:ext cx="6309360" cy="274320"/>
          </a:xfrm>
          <a:prstGeom prst="rect">
            <a:avLst/>
          </a:prstGeom>
          <a:noFill/>
          <a:ln/>
        </p:spPr>
        <p:txBody>
          <a:bodyPr wrap="square" lIns="0" tIns="0" rIns="0" bIns="0" rtlCol="0" anchor="ctr"/>
          <a:lstStyle/>
          <a:p>
            <a:pPr indent="0" marL="0">
              <a:buNone/>
            </a:pPr>
            <a:r>
              <a:rPr lang="en-US" sz="1600" dirty="0">
                <a:solidFill>
                  <a:srgbClr val="5B6770"/>
                </a:solidFill>
              </a:rPr>
              <a:t>FinTech final project | Portuguese bank direct marketing dataset</a:t>
            </a:r>
            <a:endParaRPr lang="en-US" sz="1600" dirty="0"/>
          </a:p>
        </p:txBody>
      </p:sp>
      <p:sp>
        <p:nvSpPr>
          <p:cNvPr id="7" name="Text 5"/>
          <p:cNvSpPr/>
          <p:nvPr/>
        </p:nvSpPr>
        <p:spPr>
          <a:xfrm>
            <a:off x="749808" y="5102352"/>
            <a:ext cx="3840480" cy="228600"/>
          </a:xfrm>
          <a:prstGeom prst="rect">
            <a:avLst/>
          </a:prstGeom>
          <a:noFill/>
          <a:ln/>
        </p:spPr>
        <p:txBody>
          <a:bodyPr wrap="square" lIns="0" tIns="0" rIns="0" bIns="0" rtlCol="0" anchor="ctr"/>
          <a:lstStyle/>
          <a:p>
            <a:pPr indent="0" marL="0">
              <a:buNone/>
            </a:pPr>
            <a:r>
              <a:rPr lang="en-US" sz="1500" b="1" dirty="0">
                <a:solidFill>
                  <a:srgbClr val="1F2933"/>
                </a:solidFill>
              </a:rPr>
              <a:t>Salvatore Mariano Librici</a:t>
            </a:r>
            <a:endParaRPr lang="en-US" sz="1500" dirty="0"/>
          </a:p>
        </p:txBody>
      </p:sp>
      <p:sp>
        <p:nvSpPr>
          <p:cNvPr id="8" name="Text 6"/>
          <p:cNvSpPr/>
          <p:nvPr/>
        </p:nvSpPr>
        <p:spPr>
          <a:xfrm>
            <a:off x="749808" y="5422392"/>
            <a:ext cx="3840480" cy="201168"/>
          </a:xfrm>
          <a:prstGeom prst="rect">
            <a:avLst/>
          </a:prstGeom>
          <a:noFill/>
          <a:ln/>
        </p:spPr>
        <p:txBody>
          <a:bodyPr wrap="square" lIns="0" tIns="0" rIns="0" bIns="0" rtlCol="0" anchor="ctr"/>
          <a:lstStyle/>
          <a:p>
            <a:pPr indent="0" marL="0">
              <a:buNone/>
            </a:pPr>
            <a:r>
              <a:rPr lang="en-US" sz="1150" dirty="0">
                <a:solidFill>
                  <a:srgbClr val="5B6770"/>
                </a:solidFill>
              </a:rPr>
              <a:t>FinTech — Politecnico di Milano</a:t>
            </a:r>
            <a:endParaRPr lang="en-US" sz="1150" dirty="0"/>
          </a:p>
        </p:txBody>
      </p:sp>
      <p:sp>
        <p:nvSpPr>
          <p:cNvPr id="9" name="Shape 7"/>
          <p:cNvSpPr/>
          <p:nvPr/>
        </p:nvSpPr>
        <p:spPr>
          <a:xfrm>
            <a:off x="8183880" y="1005840"/>
            <a:ext cx="3246120" cy="2423160"/>
          </a:xfrm>
          <a:prstGeom prst="roundRect">
            <a:avLst>
              <a:gd name="adj" fmla="val 2264"/>
            </a:avLst>
          </a:prstGeom>
          <a:solidFill>
            <a:srgbClr val="FFFFFF"/>
          </a:solidFill>
          <a:ln w="12700">
            <a:solidFill>
              <a:srgbClr val="D8DEE6">
                <a:alpha val="85000"/>
              </a:srgbClr>
            </a:solidFill>
            <a:prstDash val="solid"/>
          </a:ln>
        </p:spPr>
      </p:sp>
      <p:sp>
        <p:nvSpPr>
          <p:cNvPr id="10" name="Text 8"/>
          <p:cNvSpPr/>
          <p:nvPr/>
        </p:nvSpPr>
        <p:spPr>
          <a:xfrm>
            <a:off x="8293608" y="1088136"/>
            <a:ext cx="3026664" cy="164592"/>
          </a:xfrm>
          <a:prstGeom prst="rect">
            <a:avLst/>
          </a:prstGeom>
          <a:noFill/>
          <a:ln/>
        </p:spPr>
        <p:txBody>
          <a:bodyPr wrap="square" lIns="0" tIns="0" rIns="0" bIns="0" rtlCol="0" anchor="ctr"/>
          <a:lstStyle/>
          <a:p>
            <a:pPr indent="0" marL="0">
              <a:buNone/>
            </a:pPr>
            <a:r>
              <a:rPr lang="en-US" sz="1020" b="1" dirty="0">
                <a:solidFill>
                  <a:srgbClr val="12385B"/>
                </a:solidFill>
              </a:rPr>
              <a:t>Real target imbalance</a:t>
            </a:r>
            <a:endParaRPr lang="en-US" sz="1020" dirty="0"/>
          </a:p>
        </p:txBody>
      </p:sp>
      <p:pic>
        <p:nvPicPr>
          <p:cNvPr id="11" name="Image 0" descr="/mnt/data/key_extracted_plots/02_target_distribution_count.png">    </p:cNvPr>
          <p:cNvPicPr>
            <a:picLocks noChangeAspect="1"/>
          </p:cNvPicPr>
          <p:nvPr/>
        </p:nvPicPr>
        <p:blipFill>
          <a:blip r:embed="rId1"/>
          <a:stretch>
            <a:fillRect/>
          </a:stretch>
        </p:blipFill>
        <p:spPr>
          <a:xfrm>
            <a:off x="8451151" y="1307592"/>
            <a:ext cx="2711577" cy="2011680"/>
          </a:xfrm>
          <a:prstGeom prst="rect">
            <a:avLst/>
          </a:prstGeom>
        </p:spPr>
      </p:pic>
      <p:sp>
        <p:nvSpPr>
          <p:cNvPr id="12" name="Shape 9"/>
          <p:cNvSpPr/>
          <p:nvPr/>
        </p:nvSpPr>
        <p:spPr>
          <a:xfrm>
            <a:off x="8183880" y="3794760"/>
            <a:ext cx="1508760" cy="777240"/>
          </a:xfrm>
          <a:prstGeom prst="roundRect">
            <a:avLst>
              <a:gd name="adj" fmla="val 7059"/>
            </a:avLst>
          </a:prstGeom>
          <a:solidFill>
            <a:srgbClr val="FFFFFF"/>
          </a:solidFill>
          <a:ln w="12700">
            <a:solidFill>
              <a:srgbClr val="D8DEE6">
                <a:alpha val="80000"/>
              </a:srgbClr>
            </a:solidFill>
            <a:prstDash val="solid"/>
          </a:ln>
        </p:spPr>
      </p:sp>
      <p:sp>
        <p:nvSpPr>
          <p:cNvPr id="13" name="Shape 10"/>
          <p:cNvSpPr/>
          <p:nvPr/>
        </p:nvSpPr>
        <p:spPr>
          <a:xfrm>
            <a:off x="8183880" y="3794760"/>
            <a:ext cx="54864" cy="777240"/>
          </a:xfrm>
          <a:prstGeom prst="rect">
            <a:avLst/>
          </a:prstGeom>
          <a:solidFill>
            <a:srgbClr val="1F77B4"/>
          </a:solidFill>
          <a:ln w="12700">
            <a:solidFill>
              <a:srgbClr val="1F77B4"/>
            </a:solidFill>
            <a:prstDash val="solid"/>
          </a:ln>
        </p:spPr>
      </p:sp>
      <p:sp>
        <p:nvSpPr>
          <p:cNvPr id="14" name="Text 11"/>
          <p:cNvSpPr/>
          <p:nvPr/>
        </p:nvSpPr>
        <p:spPr>
          <a:xfrm>
            <a:off x="8330184" y="3922776"/>
            <a:ext cx="1307592" cy="256032"/>
          </a:xfrm>
          <a:prstGeom prst="rect">
            <a:avLst/>
          </a:prstGeom>
          <a:noFill/>
          <a:ln/>
        </p:spPr>
        <p:txBody>
          <a:bodyPr wrap="square" lIns="0" tIns="0" rIns="0" bIns="0" rtlCol="0" anchor="ctr"/>
          <a:lstStyle/>
          <a:p>
            <a:pPr algn="ctr" indent="0" marL="0">
              <a:buNone/>
            </a:pPr>
            <a:r>
              <a:rPr lang="en-US" sz="1800" b="1" dirty="0">
                <a:solidFill>
                  <a:srgbClr val="1F77B4"/>
                </a:solidFill>
              </a:rPr>
              <a:t>45,211</a:t>
            </a:r>
            <a:endParaRPr lang="en-US" sz="1800" dirty="0"/>
          </a:p>
        </p:txBody>
      </p:sp>
      <p:sp>
        <p:nvSpPr>
          <p:cNvPr id="15" name="Text 12"/>
          <p:cNvSpPr/>
          <p:nvPr/>
        </p:nvSpPr>
        <p:spPr>
          <a:xfrm>
            <a:off x="8293608" y="4233672"/>
            <a:ext cx="1325880" cy="164592"/>
          </a:xfrm>
          <a:prstGeom prst="rect">
            <a:avLst/>
          </a:prstGeom>
          <a:noFill/>
          <a:ln/>
        </p:spPr>
        <p:txBody>
          <a:bodyPr wrap="square" lIns="0" tIns="0" rIns="0" bIns="0" rtlCol="0" anchor="ctr"/>
          <a:lstStyle/>
          <a:p>
            <a:pPr algn="ctr" indent="0" marL="0">
              <a:buNone/>
            </a:pPr>
            <a:r>
              <a:rPr lang="en-US" sz="850" dirty="0">
                <a:solidFill>
                  <a:srgbClr val="5B6770"/>
                </a:solidFill>
              </a:rPr>
              <a:t>observations</a:t>
            </a:r>
            <a:endParaRPr lang="en-US" sz="850" dirty="0"/>
          </a:p>
        </p:txBody>
      </p:sp>
      <p:sp>
        <p:nvSpPr>
          <p:cNvPr id="16" name="Shape 13"/>
          <p:cNvSpPr/>
          <p:nvPr/>
        </p:nvSpPr>
        <p:spPr>
          <a:xfrm>
            <a:off x="9921240" y="3794760"/>
            <a:ext cx="1508760" cy="777240"/>
          </a:xfrm>
          <a:prstGeom prst="roundRect">
            <a:avLst>
              <a:gd name="adj" fmla="val 7059"/>
            </a:avLst>
          </a:prstGeom>
          <a:solidFill>
            <a:srgbClr val="FFFFFF"/>
          </a:solidFill>
          <a:ln w="12700">
            <a:solidFill>
              <a:srgbClr val="D8DEE6">
                <a:alpha val="80000"/>
              </a:srgbClr>
            </a:solidFill>
            <a:prstDash val="solid"/>
          </a:ln>
        </p:spPr>
      </p:sp>
      <p:sp>
        <p:nvSpPr>
          <p:cNvPr id="17" name="Shape 14"/>
          <p:cNvSpPr/>
          <p:nvPr/>
        </p:nvSpPr>
        <p:spPr>
          <a:xfrm>
            <a:off x="9921240" y="3794760"/>
            <a:ext cx="54864" cy="777240"/>
          </a:xfrm>
          <a:prstGeom prst="rect">
            <a:avLst/>
          </a:prstGeom>
          <a:solidFill>
            <a:srgbClr val="149C7E"/>
          </a:solidFill>
          <a:ln w="12700">
            <a:solidFill>
              <a:srgbClr val="149C7E"/>
            </a:solidFill>
            <a:prstDash val="solid"/>
          </a:ln>
        </p:spPr>
      </p:sp>
      <p:sp>
        <p:nvSpPr>
          <p:cNvPr id="18" name="Text 15"/>
          <p:cNvSpPr/>
          <p:nvPr/>
        </p:nvSpPr>
        <p:spPr>
          <a:xfrm>
            <a:off x="10067544" y="3922776"/>
            <a:ext cx="1307592" cy="256032"/>
          </a:xfrm>
          <a:prstGeom prst="rect">
            <a:avLst/>
          </a:prstGeom>
          <a:noFill/>
          <a:ln/>
        </p:spPr>
        <p:txBody>
          <a:bodyPr wrap="square" lIns="0" tIns="0" rIns="0" bIns="0" rtlCol="0" anchor="ctr"/>
          <a:lstStyle/>
          <a:p>
            <a:pPr algn="ctr" indent="0" marL="0">
              <a:buNone/>
            </a:pPr>
            <a:r>
              <a:rPr lang="en-US" sz="1800" b="1" dirty="0">
                <a:solidFill>
                  <a:srgbClr val="149C7E"/>
                </a:solidFill>
              </a:rPr>
              <a:t>11.7%</a:t>
            </a:r>
            <a:endParaRPr lang="en-US" sz="1800" dirty="0"/>
          </a:p>
        </p:txBody>
      </p:sp>
      <p:sp>
        <p:nvSpPr>
          <p:cNvPr id="19" name="Text 16"/>
          <p:cNvSpPr/>
          <p:nvPr/>
        </p:nvSpPr>
        <p:spPr>
          <a:xfrm>
            <a:off x="10030968" y="4233672"/>
            <a:ext cx="1325880" cy="164592"/>
          </a:xfrm>
          <a:prstGeom prst="rect">
            <a:avLst/>
          </a:prstGeom>
          <a:noFill/>
          <a:ln/>
        </p:spPr>
        <p:txBody>
          <a:bodyPr wrap="square" lIns="0" tIns="0" rIns="0" bIns="0" rtlCol="0" anchor="ctr"/>
          <a:lstStyle/>
          <a:p>
            <a:pPr algn="ctr" indent="0" marL="0">
              <a:buNone/>
            </a:pPr>
            <a:r>
              <a:rPr lang="en-US" sz="850" dirty="0">
                <a:solidFill>
                  <a:srgbClr val="5B6770"/>
                </a:solidFill>
              </a:rPr>
              <a:t>positive class</a:t>
            </a:r>
            <a:endParaRPr lang="en-US" sz="850" dirty="0"/>
          </a:p>
        </p:txBody>
      </p:sp>
      <p:sp>
        <p:nvSpPr>
          <p:cNvPr id="20" name="Text 17"/>
          <p:cNvSpPr/>
          <p:nvPr/>
        </p:nvSpPr>
        <p:spPr>
          <a:xfrm>
            <a:off x="8183880" y="4983480"/>
            <a:ext cx="3200400" cy="502920"/>
          </a:xfrm>
          <a:prstGeom prst="rect">
            <a:avLst/>
          </a:prstGeom>
          <a:noFill/>
          <a:ln/>
        </p:spPr>
        <p:txBody>
          <a:bodyPr wrap="square" lIns="0" tIns="0" rIns="0" bIns="0" rtlCol="0" anchor="ctr">
            <a:normAutofit/>
          </a:bodyPr>
          <a:lstStyle/>
          <a:p>
            <a:pPr algn="ctr" indent="0" marL="0">
              <a:buNone/>
            </a:pPr>
            <a:r>
              <a:rPr lang="en-US" sz="1300" b="1" dirty="0">
                <a:solidFill>
                  <a:srgbClr val="12385B"/>
                </a:solidFill>
              </a:rPr>
              <a:t>From historical campaign outcomes to a client ranking for smarter marketing contacts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49C7E"/>
          </a:solidFill>
          <a:ln w="12700">
            <a:solidFill>
              <a:srgbClr val="149C7E"/>
            </a:solidFill>
            <a:prstDash val="solid"/>
          </a:ln>
        </p:spPr>
      </p:sp>
      <p:sp>
        <p:nvSpPr>
          <p:cNvPr id="3" name="Text 1"/>
          <p:cNvSpPr/>
          <p:nvPr/>
        </p:nvSpPr>
        <p:spPr>
          <a:xfrm>
            <a:off x="502920" y="310896"/>
            <a:ext cx="8138160" cy="384048"/>
          </a:xfrm>
          <a:prstGeom prst="rect">
            <a:avLst/>
          </a:prstGeom>
          <a:noFill/>
          <a:ln/>
        </p:spPr>
        <p:txBody>
          <a:bodyPr wrap="square" lIns="0" tIns="0" rIns="0" bIns="0" rtlCol="0" anchor="ctr"/>
          <a:lstStyle/>
          <a:p>
            <a:pPr indent="0" marL="0">
              <a:buNone/>
            </a:pPr>
            <a:r>
              <a:rPr lang="en-US" sz="2600" b="1" dirty="0">
                <a:solidFill>
                  <a:srgbClr val="12385B"/>
                </a:solidFill>
                <a:latin typeface="Aptos Display" pitchFamily="34" charset="0"/>
                <a:ea typeface="Aptos Display" pitchFamily="34" charset="-122"/>
                <a:cs typeface="Aptos Display" pitchFamily="34" charset="-120"/>
              </a:rPr>
              <a:t>Business Problem</a:t>
            </a:r>
            <a:endParaRPr lang="en-US" sz="2600" dirty="0"/>
          </a:p>
        </p:txBody>
      </p:sp>
      <p:sp>
        <p:nvSpPr>
          <p:cNvPr id="4" name="Text 2"/>
          <p:cNvSpPr/>
          <p:nvPr/>
        </p:nvSpPr>
        <p:spPr>
          <a:xfrm>
            <a:off x="521208" y="749808"/>
            <a:ext cx="10789920" cy="237744"/>
          </a:xfrm>
          <a:prstGeom prst="rect">
            <a:avLst/>
          </a:prstGeom>
          <a:noFill/>
          <a:ln/>
        </p:spPr>
        <p:txBody>
          <a:bodyPr wrap="square" lIns="0" tIns="0" rIns="0" bIns="0" rtlCol="0" anchor="ctr"/>
          <a:lstStyle/>
          <a:p>
            <a:pPr indent="0" marL="0">
              <a:buNone/>
            </a:pPr>
            <a:r>
              <a:rPr lang="en-US" sz="1050" dirty="0">
                <a:solidFill>
                  <a:srgbClr val="5B6770"/>
                </a:solidFill>
              </a:rPr>
              <a:t>Predict which clients will subscribe to a term deposit and prioritize marketing resources.</a:t>
            </a:r>
            <a:endParaRPr lang="en-US" sz="1050" dirty="0"/>
          </a:p>
        </p:txBody>
      </p:sp>
      <p:sp>
        <p:nvSpPr>
          <p:cNvPr id="5" name="Text 3"/>
          <p:cNvSpPr/>
          <p:nvPr/>
        </p:nvSpPr>
        <p:spPr>
          <a:xfrm>
            <a:off x="502920" y="6483096"/>
            <a:ext cx="4572000" cy="164592"/>
          </a:xfrm>
          <a:prstGeom prst="rect">
            <a:avLst/>
          </a:prstGeom>
          <a:noFill/>
          <a:ln/>
        </p:spPr>
        <p:txBody>
          <a:bodyPr wrap="square" lIns="0" tIns="0" rIns="0" bIns="0" rtlCol="0" anchor="ctr"/>
          <a:lstStyle/>
          <a:p>
            <a:pPr indent="0" marL="0">
              <a:buNone/>
            </a:pPr>
            <a:r>
              <a:rPr lang="en-US" sz="800" dirty="0">
                <a:solidFill>
                  <a:srgbClr val="7B8794"/>
                </a:solidFill>
              </a:rPr>
              <a:t>Bank Marketing Subscription Prediction</a:t>
            </a:r>
            <a:endParaRPr lang="en-US" sz="800" dirty="0"/>
          </a:p>
        </p:txBody>
      </p:sp>
      <p:sp>
        <p:nvSpPr>
          <p:cNvPr id="6" name="Text 4"/>
          <p:cNvSpPr/>
          <p:nvPr/>
        </p:nvSpPr>
        <p:spPr>
          <a:xfrm>
            <a:off x="11384280" y="6464808"/>
            <a:ext cx="320040" cy="164592"/>
          </a:xfrm>
          <a:prstGeom prst="rect">
            <a:avLst/>
          </a:prstGeom>
          <a:noFill/>
          <a:ln/>
        </p:spPr>
        <p:txBody>
          <a:bodyPr wrap="square" lIns="0" tIns="0" rIns="0" bIns="0" rtlCol="0" anchor="ctr"/>
          <a:lstStyle/>
          <a:p>
            <a:pPr algn="r" indent="0" marL="0">
              <a:buNone/>
            </a:pPr>
            <a:r>
              <a:rPr lang="en-US" sz="800" dirty="0">
                <a:solidFill>
                  <a:srgbClr val="7B8794"/>
                </a:solidFill>
              </a:rPr>
              <a:t>02</a:t>
            </a:r>
            <a:endParaRPr lang="en-US" sz="800" dirty="0"/>
          </a:p>
        </p:txBody>
      </p:sp>
      <p:sp>
        <p:nvSpPr>
          <p:cNvPr id="7" name="Text 5"/>
          <p:cNvSpPr/>
          <p:nvPr/>
        </p:nvSpPr>
        <p:spPr>
          <a:xfrm>
            <a:off x="640080" y="1234440"/>
            <a:ext cx="2926080" cy="228600"/>
          </a:xfrm>
          <a:prstGeom prst="rect">
            <a:avLst/>
          </a:prstGeom>
          <a:noFill/>
          <a:ln/>
        </p:spPr>
        <p:txBody>
          <a:bodyPr wrap="square" lIns="0" tIns="0" rIns="0" bIns="0" rtlCol="0" anchor="ctr"/>
          <a:lstStyle/>
          <a:p>
            <a:pPr indent="0" marL="0">
              <a:buNone/>
            </a:pPr>
            <a:r>
              <a:rPr lang="en-US" sz="1400" b="1" dirty="0">
                <a:solidFill>
                  <a:srgbClr val="12385B"/>
                </a:solidFill>
              </a:rPr>
              <a:t>Core decision question</a:t>
            </a:r>
            <a:endParaRPr lang="en-US" sz="1400" dirty="0"/>
          </a:p>
        </p:txBody>
      </p:sp>
      <p:sp>
        <p:nvSpPr>
          <p:cNvPr id="8" name="Text 6"/>
          <p:cNvSpPr/>
          <p:nvPr/>
        </p:nvSpPr>
        <p:spPr>
          <a:xfrm>
            <a:off x="640080" y="1600200"/>
            <a:ext cx="4480560" cy="502920"/>
          </a:xfrm>
          <a:prstGeom prst="rect">
            <a:avLst/>
          </a:prstGeom>
          <a:noFill/>
          <a:ln/>
        </p:spPr>
        <p:txBody>
          <a:bodyPr wrap="square" lIns="0" tIns="0" rIns="0" bIns="0" rtlCol="0" anchor="ctr">
            <a:normAutofit/>
          </a:bodyPr>
          <a:lstStyle/>
          <a:p>
            <a:pPr indent="0" marL="0">
              <a:buNone/>
            </a:pPr>
            <a:r>
              <a:rPr lang="en-US" sz="2200" b="1" dirty="0">
                <a:solidFill>
                  <a:srgbClr val="12385B"/>
                </a:solidFill>
              </a:rPr>
              <a:t>Which clients should the bank contact first?</a:t>
            </a:r>
            <a:endParaRPr lang="en-US" sz="2200" dirty="0"/>
          </a:p>
        </p:txBody>
      </p:sp>
      <p:sp>
        <p:nvSpPr>
          <p:cNvPr id="9" name="Text 7"/>
          <p:cNvSpPr/>
          <p:nvPr/>
        </p:nvSpPr>
        <p:spPr>
          <a:xfrm>
            <a:off x="685800" y="2331720"/>
            <a:ext cx="4297680" cy="1234440"/>
          </a:xfrm>
          <a:prstGeom prst="rect">
            <a:avLst/>
          </a:prstGeom>
          <a:noFill/>
          <a:ln/>
        </p:spPr>
        <p:txBody>
          <a:bodyPr wrap="square" lIns="254" tIns="254" rIns="254" bIns="254" rtlCol="0" anchor="t">
            <a:normAutofit/>
          </a:bodyPr>
          <a:lstStyle/>
          <a:p>
            <a:pPr indent="0" marL="0">
              <a:buNone/>
            </a:pPr>
            <a:r>
              <a:rPr lang="en-US" sz="1300" dirty="0">
                <a:solidFill>
                  <a:srgbClr val="1F2933"/>
                </a:solidFill>
              </a:rPr>
              <a:t>• Each phone call has cost and capacity limits</a:t>
            </a:r>
            <a:endParaRPr lang="en-US" sz="1300" dirty="0"/>
          </a:p>
          <a:p>
            <a:pPr indent="0" marL="0">
              <a:buNone/>
            </a:pPr>
            <a:r>
              <a:rPr lang="en-US" sz="1300" dirty="0">
                <a:solidFill>
                  <a:srgbClr val="1F2933"/>
                </a:solidFill>
              </a:rPr>
              <a:t>• Most clients do not subscribe</a:t>
            </a:r>
            <a:endParaRPr lang="en-US" sz="1300" dirty="0"/>
          </a:p>
          <a:p>
            <a:pPr indent="0" marL="0">
              <a:buNone/>
            </a:pPr>
            <a:r>
              <a:rPr lang="en-US" sz="1300" dirty="0">
                <a:solidFill>
                  <a:srgbClr val="1F2933"/>
                </a:solidFill>
              </a:rPr>
              <a:t>• The useful output is a probability ranking, not only a yes/no label</a:t>
            </a:r>
            <a:endParaRPr lang="en-US" sz="1300" dirty="0"/>
          </a:p>
        </p:txBody>
      </p:sp>
      <p:sp>
        <p:nvSpPr>
          <p:cNvPr id="10" name="Shape 8"/>
          <p:cNvSpPr/>
          <p:nvPr/>
        </p:nvSpPr>
        <p:spPr>
          <a:xfrm>
            <a:off x="5257800" y="2240280"/>
            <a:ext cx="914400" cy="502920"/>
          </a:xfrm>
          <a:prstGeom prst="rightArrow">
            <a:avLst/>
          </a:prstGeom>
          <a:solidFill>
            <a:srgbClr val="149C7E"/>
          </a:solidFill>
          <a:ln w="12700">
            <a:solidFill>
              <a:srgbClr val="149C7E"/>
            </a:solidFill>
            <a:prstDash val="solid"/>
          </a:ln>
        </p:spPr>
      </p:sp>
      <p:sp>
        <p:nvSpPr>
          <p:cNvPr id="11" name="Shape 9"/>
          <p:cNvSpPr/>
          <p:nvPr/>
        </p:nvSpPr>
        <p:spPr>
          <a:xfrm>
            <a:off x="6492240" y="1280160"/>
            <a:ext cx="4983480" cy="2834640"/>
          </a:xfrm>
          <a:prstGeom prst="roundRect">
            <a:avLst>
              <a:gd name="adj" fmla="val 2581"/>
            </a:avLst>
          </a:prstGeom>
          <a:solidFill>
            <a:srgbClr val="EAF3FA"/>
          </a:solidFill>
          <a:ln w="12700">
            <a:solidFill>
              <a:srgbClr val="D8DEE6">
                <a:alpha val="70000"/>
              </a:srgbClr>
            </a:solidFill>
            <a:prstDash val="solid"/>
          </a:ln>
        </p:spPr>
      </p:sp>
      <p:sp>
        <p:nvSpPr>
          <p:cNvPr id="12" name="Text 10"/>
          <p:cNvSpPr/>
          <p:nvPr/>
        </p:nvSpPr>
        <p:spPr>
          <a:xfrm>
            <a:off x="6812280" y="1645920"/>
            <a:ext cx="2194560" cy="228600"/>
          </a:xfrm>
          <a:prstGeom prst="rect">
            <a:avLst/>
          </a:prstGeom>
          <a:noFill/>
          <a:ln/>
        </p:spPr>
        <p:txBody>
          <a:bodyPr wrap="square" lIns="0" tIns="0" rIns="0" bIns="0" rtlCol="0" anchor="ctr"/>
          <a:lstStyle/>
          <a:p>
            <a:pPr indent="0" marL="0">
              <a:buNone/>
            </a:pPr>
            <a:r>
              <a:rPr lang="en-US" sz="1400" b="1" dirty="0">
                <a:solidFill>
                  <a:srgbClr val="12385B"/>
                </a:solidFill>
              </a:rPr>
              <a:t>Business value</a:t>
            </a:r>
            <a:endParaRPr lang="en-US" sz="1400" dirty="0"/>
          </a:p>
        </p:txBody>
      </p:sp>
      <p:sp>
        <p:nvSpPr>
          <p:cNvPr id="13" name="Text 11"/>
          <p:cNvSpPr/>
          <p:nvPr/>
        </p:nvSpPr>
        <p:spPr>
          <a:xfrm>
            <a:off x="6858000" y="2057400"/>
            <a:ext cx="4160520" cy="1371600"/>
          </a:xfrm>
          <a:prstGeom prst="rect">
            <a:avLst/>
          </a:prstGeom>
          <a:noFill/>
          <a:ln/>
        </p:spPr>
        <p:txBody>
          <a:bodyPr wrap="square" lIns="254" tIns="254" rIns="254" bIns="254" rtlCol="0" anchor="t">
            <a:normAutofit/>
          </a:bodyPr>
          <a:lstStyle/>
          <a:p>
            <a:pPr indent="0" marL="0">
              <a:buNone/>
            </a:pPr>
            <a:r>
              <a:rPr lang="en-US" sz="1260" dirty="0">
                <a:solidFill>
                  <a:srgbClr val="1F2933"/>
                </a:solidFill>
              </a:rPr>
              <a:t>• Rank clients by subscription probability</a:t>
            </a:r>
            <a:endParaRPr lang="en-US" sz="1260" dirty="0"/>
          </a:p>
          <a:p>
            <a:pPr indent="0" marL="0">
              <a:buNone/>
            </a:pPr>
            <a:r>
              <a:rPr lang="en-US" sz="1260" dirty="0">
                <a:solidFill>
                  <a:srgbClr val="1F2933"/>
                </a:solidFill>
              </a:rPr>
              <a:t>• Focus calls on higher-potential segments</a:t>
            </a:r>
            <a:endParaRPr lang="en-US" sz="1260" dirty="0"/>
          </a:p>
          <a:p>
            <a:pPr indent="0" marL="0">
              <a:buNone/>
            </a:pPr>
            <a:r>
              <a:rPr lang="en-US" sz="1260" dirty="0">
                <a:solidFill>
                  <a:srgbClr val="1F2933"/>
                </a:solidFill>
              </a:rPr>
              <a:t>• Improve ROI by reducing low-value contacts</a:t>
            </a:r>
            <a:endParaRPr lang="en-US" sz="1260" dirty="0"/>
          </a:p>
          <a:p>
            <a:pPr indent="0" marL="0">
              <a:buNone/>
            </a:pPr>
            <a:r>
              <a:rPr lang="en-US" sz="1260" dirty="0">
                <a:solidFill>
                  <a:srgbClr val="1F2933"/>
                </a:solidFill>
              </a:rPr>
              <a:t>• Adapt threshold to campaign budget</a:t>
            </a:r>
            <a:endParaRPr lang="en-US" sz="1260" dirty="0"/>
          </a:p>
        </p:txBody>
      </p:sp>
      <p:sp>
        <p:nvSpPr>
          <p:cNvPr id="14" name="Shape 12"/>
          <p:cNvSpPr/>
          <p:nvPr/>
        </p:nvSpPr>
        <p:spPr>
          <a:xfrm>
            <a:off x="685800" y="4800600"/>
            <a:ext cx="10744200" cy="822960"/>
          </a:xfrm>
          <a:prstGeom prst="roundRect">
            <a:avLst>
              <a:gd name="adj" fmla="val 8889"/>
            </a:avLst>
          </a:prstGeom>
          <a:solidFill>
            <a:srgbClr val="E7F6F2"/>
          </a:solidFill>
          <a:ln w="12700">
            <a:solidFill>
              <a:srgbClr val="149C7E">
                <a:alpha val="30000"/>
              </a:srgbClr>
            </a:solidFill>
            <a:prstDash val="solid"/>
          </a:ln>
        </p:spPr>
      </p:sp>
      <p:sp>
        <p:nvSpPr>
          <p:cNvPr id="15" name="Text 13"/>
          <p:cNvSpPr/>
          <p:nvPr/>
        </p:nvSpPr>
        <p:spPr>
          <a:xfrm>
            <a:off x="960120" y="5047488"/>
            <a:ext cx="10149840" cy="219456"/>
          </a:xfrm>
          <a:prstGeom prst="rect">
            <a:avLst/>
          </a:prstGeom>
          <a:noFill/>
          <a:ln/>
        </p:spPr>
        <p:txBody>
          <a:bodyPr wrap="square" lIns="0" tIns="0" rIns="0" bIns="0" rtlCol="0" anchor="ctr"/>
          <a:lstStyle/>
          <a:p>
            <a:pPr algn="ctr" indent="0" marL="0">
              <a:buNone/>
            </a:pPr>
            <a:r>
              <a:rPr lang="en-US" sz="1300" b="1" dirty="0">
                <a:solidFill>
                  <a:srgbClr val="12385B"/>
                </a:solidFill>
              </a:rPr>
              <a:t>Target: y = yes / no  →  encoded as no = 0, yes = 1  →  evaluated as an imbalanced binary classification problem</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49C7E"/>
          </a:solidFill>
          <a:ln w="12700">
            <a:solidFill>
              <a:srgbClr val="149C7E"/>
            </a:solidFill>
            <a:prstDash val="solid"/>
          </a:ln>
        </p:spPr>
      </p:sp>
      <p:sp>
        <p:nvSpPr>
          <p:cNvPr id="3" name="Text 1"/>
          <p:cNvSpPr/>
          <p:nvPr/>
        </p:nvSpPr>
        <p:spPr>
          <a:xfrm>
            <a:off x="502920" y="310896"/>
            <a:ext cx="8138160" cy="384048"/>
          </a:xfrm>
          <a:prstGeom prst="rect">
            <a:avLst/>
          </a:prstGeom>
          <a:noFill/>
          <a:ln/>
        </p:spPr>
        <p:txBody>
          <a:bodyPr wrap="square" lIns="0" tIns="0" rIns="0" bIns="0" rtlCol="0" anchor="ctr"/>
          <a:lstStyle/>
          <a:p>
            <a:pPr indent="0" marL="0">
              <a:buNone/>
            </a:pPr>
            <a:r>
              <a:rPr lang="en-US" sz="2600" b="1" dirty="0">
                <a:solidFill>
                  <a:srgbClr val="12385B"/>
                </a:solidFill>
                <a:latin typeface="Aptos Display" pitchFamily="34" charset="0"/>
                <a:ea typeface="Aptos Display" pitchFamily="34" charset="-122"/>
                <a:cs typeface="Aptos Display" pitchFamily="34" charset="-120"/>
              </a:rPr>
              <a:t>Dataset and Target</a:t>
            </a:r>
            <a:endParaRPr lang="en-US" sz="2600" dirty="0"/>
          </a:p>
        </p:txBody>
      </p:sp>
      <p:sp>
        <p:nvSpPr>
          <p:cNvPr id="4" name="Text 2"/>
          <p:cNvSpPr/>
          <p:nvPr/>
        </p:nvSpPr>
        <p:spPr>
          <a:xfrm>
            <a:off x="521208" y="749808"/>
            <a:ext cx="10789920" cy="237744"/>
          </a:xfrm>
          <a:prstGeom prst="rect">
            <a:avLst/>
          </a:prstGeom>
          <a:noFill/>
          <a:ln/>
        </p:spPr>
        <p:txBody>
          <a:bodyPr wrap="square" lIns="0" tIns="0" rIns="0" bIns="0" rtlCol="0" anchor="ctr"/>
          <a:lstStyle/>
          <a:p>
            <a:pPr indent="0" marL="0">
              <a:buNone/>
            </a:pPr>
            <a:r>
              <a:rPr lang="en-US" sz="1050" dirty="0">
                <a:solidFill>
                  <a:srgbClr val="5B6770"/>
                </a:solidFill>
              </a:rPr>
              <a:t>Dataset4.csv contains client, campaign and previous-outcome variables; the target is highly imbalanced.</a:t>
            </a:r>
            <a:endParaRPr lang="en-US" sz="1050" dirty="0"/>
          </a:p>
        </p:txBody>
      </p:sp>
      <p:sp>
        <p:nvSpPr>
          <p:cNvPr id="5" name="Text 3"/>
          <p:cNvSpPr/>
          <p:nvPr/>
        </p:nvSpPr>
        <p:spPr>
          <a:xfrm>
            <a:off x="502920" y="6483096"/>
            <a:ext cx="4572000" cy="164592"/>
          </a:xfrm>
          <a:prstGeom prst="rect">
            <a:avLst/>
          </a:prstGeom>
          <a:noFill/>
          <a:ln/>
        </p:spPr>
        <p:txBody>
          <a:bodyPr wrap="square" lIns="0" tIns="0" rIns="0" bIns="0" rtlCol="0" anchor="ctr"/>
          <a:lstStyle/>
          <a:p>
            <a:pPr indent="0" marL="0">
              <a:buNone/>
            </a:pPr>
            <a:r>
              <a:rPr lang="en-US" sz="800" dirty="0">
                <a:solidFill>
                  <a:srgbClr val="7B8794"/>
                </a:solidFill>
              </a:rPr>
              <a:t>Bank Marketing Subscription Prediction</a:t>
            </a:r>
            <a:endParaRPr lang="en-US" sz="800" dirty="0"/>
          </a:p>
        </p:txBody>
      </p:sp>
      <p:sp>
        <p:nvSpPr>
          <p:cNvPr id="6" name="Text 4"/>
          <p:cNvSpPr/>
          <p:nvPr/>
        </p:nvSpPr>
        <p:spPr>
          <a:xfrm>
            <a:off x="11384280" y="6464808"/>
            <a:ext cx="320040" cy="164592"/>
          </a:xfrm>
          <a:prstGeom prst="rect">
            <a:avLst/>
          </a:prstGeom>
          <a:noFill/>
          <a:ln/>
        </p:spPr>
        <p:txBody>
          <a:bodyPr wrap="square" lIns="0" tIns="0" rIns="0" bIns="0" rtlCol="0" anchor="ctr"/>
          <a:lstStyle/>
          <a:p>
            <a:pPr algn="r" indent="0" marL="0">
              <a:buNone/>
            </a:pPr>
            <a:r>
              <a:rPr lang="en-US" sz="800" dirty="0">
                <a:solidFill>
                  <a:srgbClr val="7B8794"/>
                </a:solidFill>
              </a:rPr>
              <a:t>03</a:t>
            </a:r>
            <a:endParaRPr lang="en-US" sz="800" dirty="0"/>
          </a:p>
        </p:txBody>
      </p:sp>
      <p:sp>
        <p:nvSpPr>
          <p:cNvPr id="7" name="Shape 5"/>
          <p:cNvSpPr/>
          <p:nvPr/>
        </p:nvSpPr>
        <p:spPr>
          <a:xfrm>
            <a:off x="640080" y="1234440"/>
            <a:ext cx="1737360" cy="777240"/>
          </a:xfrm>
          <a:prstGeom prst="roundRect">
            <a:avLst>
              <a:gd name="adj" fmla="val 7059"/>
            </a:avLst>
          </a:prstGeom>
          <a:solidFill>
            <a:srgbClr val="FFFFFF"/>
          </a:solidFill>
          <a:ln w="12700">
            <a:solidFill>
              <a:srgbClr val="D8DEE6">
                <a:alpha val="80000"/>
              </a:srgbClr>
            </a:solidFill>
            <a:prstDash val="solid"/>
          </a:ln>
        </p:spPr>
      </p:sp>
      <p:sp>
        <p:nvSpPr>
          <p:cNvPr id="8" name="Shape 6"/>
          <p:cNvSpPr/>
          <p:nvPr/>
        </p:nvSpPr>
        <p:spPr>
          <a:xfrm>
            <a:off x="640080" y="1234440"/>
            <a:ext cx="54864" cy="777240"/>
          </a:xfrm>
          <a:prstGeom prst="rect">
            <a:avLst/>
          </a:prstGeom>
          <a:solidFill>
            <a:srgbClr val="1F77B4"/>
          </a:solidFill>
          <a:ln w="12700">
            <a:solidFill>
              <a:srgbClr val="1F77B4"/>
            </a:solidFill>
            <a:prstDash val="solid"/>
          </a:ln>
        </p:spPr>
      </p:sp>
      <p:sp>
        <p:nvSpPr>
          <p:cNvPr id="9" name="Text 7"/>
          <p:cNvSpPr/>
          <p:nvPr/>
        </p:nvSpPr>
        <p:spPr>
          <a:xfrm>
            <a:off x="786384" y="1362456"/>
            <a:ext cx="1536192" cy="256032"/>
          </a:xfrm>
          <a:prstGeom prst="rect">
            <a:avLst/>
          </a:prstGeom>
          <a:noFill/>
          <a:ln/>
        </p:spPr>
        <p:txBody>
          <a:bodyPr wrap="square" lIns="0" tIns="0" rIns="0" bIns="0" rtlCol="0" anchor="ctr"/>
          <a:lstStyle/>
          <a:p>
            <a:pPr algn="ctr" indent="0" marL="0">
              <a:buNone/>
            </a:pPr>
            <a:r>
              <a:rPr lang="en-US" sz="1800" b="1" dirty="0">
                <a:solidFill>
                  <a:srgbClr val="1F77B4"/>
                </a:solidFill>
              </a:rPr>
              <a:t>39,922</a:t>
            </a:r>
            <a:endParaRPr lang="en-US" sz="1800" dirty="0"/>
          </a:p>
        </p:txBody>
      </p:sp>
      <p:sp>
        <p:nvSpPr>
          <p:cNvPr id="10" name="Text 8"/>
          <p:cNvSpPr/>
          <p:nvPr/>
        </p:nvSpPr>
        <p:spPr>
          <a:xfrm>
            <a:off x="749808" y="1673352"/>
            <a:ext cx="1554480" cy="164592"/>
          </a:xfrm>
          <a:prstGeom prst="rect">
            <a:avLst/>
          </a:prstGeom>
          <a:noFill/>
          <a:ln/>
        </p:spPr>
        <p:txBody>
          <a:bodyPr wrap="square" lIns="0" tIns="0" rIns="0" bIns="0" rtlCol="0" anchor="ctr"/>
          <a:lstStyle/>
          <a:p>
            <a:pPr algn="ctr" indent="0" marL="0">
              <a:buNone/>
            </a:pPr>
            <a:r>
              <a:rPr lang="en-US" sz="850" dirty="0">
                <a:solidFill>
                  <a:srgbClr val="5B6770"/>
                </a:solidFill>
              </a:rPr>
              <a:t>no subscriptions</a:t>
            </a:r>
            <a:endParaRPr lang="en-US" sz="850" dirty="0"/>
          </a:p>
        </p:txBody>
      </p:sp>
      <p:sp>
        <p:nvSpPr>
          <p:cNvPr id="11" name="Shape 9"/>
          <p:cNvSpPr/>
          <p:nvPr/>
        </p:nvSpPr>
        <p:spPr>
          <a:xfrm>
            <a:off x="2560320" y="1234440"/>
            <a:ext cx="1737360" cy="777240"/>
          </a:xfrm>
          <a:prstGeom prst="roundRect">
            <a:avLst>
              <a:gd name="adj" fmla="val 7059"/>
            </a:avLst>
          </a:prstGeom>
          <a:solidFill>
            <a:srgbClr val="FFFFFF"/>
          </a:solidFill>
          <a:ln w="12700">
            <a:solidFill>
              <a:srgbClr val="D8DEE6">
                <a:alpha val="80000"/>
              </a:srgbClr>
            </a:solidFill>
            <a:prstDash val="solid"/>
          </a:ln>
        </p:spPr>
      </p:sp>
      <p:sp>
        <p:nvSpPr>
          <p:cNvPr id="12" name="Shape 10"/>
          <p:cNvSpPr/>
          <p:nvPr/>
        </p:nvSpPr>
        <p:spPr>
          <a:xfrm>
            <a:off x="2560320" y="1234440"/>
            <a:ext cx="54864" cy="777240"/>
          </a:xfrm>
          <a:prstGeom prst="rect">
            <a:avLst/>
          </a:prstGeom>
          <a:solidFill>
            <a:srgbClr val="149C7E"/>
          </a:solidFill>
          <a:ln w="12700">
            <a:solidFill>
              <a:srgbClr val="149C7E"/>
            </a:solidFill>
            <a:prstDash val="solid"/>
          </a:ln>
        </p:spPr>
      </p:sp>
      <p:sp>
        <p:nvSpPr>
          <p:cNvPr id="13" name="Text 11"/>
          <p:cNvSpPr/>
          <p:nvPr/>
        </p:nvSpPr>
        <p:spPr>
          <a:xfrm>
            <a:off x="2706624" y="1362456"/>
            <a:ext cx="1536192" cy="256032"/>
          </a:xfrm>
          <a:prstGeom prst="rect">
            <a:avLst/>
          </a:prstGeom>
          <a:noFill/>
          <a:ln/>
        </p:spPr>
        <p:txBody>
          <a:bodyPr wrap="square" lIns="0" tIns="0" rIns="0" bIns="0" rtlCol="0" anchor="ctr"/>
          <a:lstStyle/>
          <a:p>
            <a:pPr algn="ctr" indent="0" marL="0">
              <a:buNone/>
            </a:pPr>
            <a:r>
              <a:rPr lang="en-US" sz="1800" b="1" dirty="0">
                <a:solidFill>
                  <a:srgbClr val="149C7E"/>
                </a:solidFill>
              </a:rPr>
              <a:t>5,289</a:t>
            </a:r>
            <a:endParaRPr lang="en-US" sz="1800" dirty="0"/>
          </a:p>
        </p:txBody>
      </p:sp>
      <p:sp>
        <p:nvSpPr>
          <p:cNvPr id="14" name="Text 12"/>
          <p:cNvSpPr/>
          <p:nvPr/>
        </p:nvSpPr>
        <p:spPr>
          <a:xfrm>
            <a:off x="2670048" y="1673352"/>
            <a:ext cx="1554480" cy="164592"/>
          </a:xfrm>
          <a:prstGeom prst="rect">
            <a:avLst/>
          </a:prstGeom>
          <a:noFill/>
          <a:ln/>
        </p:spPr>
        <p:txBody>
          <a:bodyPr wrap="square" lIns="0" tIns="0" rIns="0" bIns="0" rtlCol="0" anchor="ctr"/>
          <a:lstStyle/>
          <a:p>
            <a:pPr algn="ctr" indent="0" marL="0">
              <a:buNone/>
            </a:pPr>
            <a:r>
              <a:rPr lang="en-US" sz="850" dirty="0">
                <a:solidFill>
                  <a:srgbClr val="5B6770"/>
                </a:solidFill>
              </a:rPr>
              <a:t>yes subscriptions</a:t>
            </a:r>
            <a:endParaRPr lang="en-US" sz="850" dirty="0"/>
          </a:p>
        </p:txBody>
      </p:sp>
      <p:sp>
        <p:nvSpPr>
          <p:cNvPr id="15" name="Shape 13"/>
          <p:cNvSpPr/>
          <p:nvPr/>
        </p:nvSpPr>
        <p:spPr>
          <a:xfrm>
            <a:off x="4480560" y="1234440"/>
            <a:ext cx="1417320" cy="777240"/>
          </a:xfrm>
          <a:prstGeom prst="roundRect">
            <a:avLst>
              <a:gd name="adj" fmla="val 7059"/>
            </a:avLst>
          </a:prstGeom>
          <a:solidFill>
            <a:srgbClr val="FFFFFF"/>
          </a:solidFill>
          <a:ln w="12700">
            <a:solidFill>
              <a:srgbClr val="D8DEE6">
                <a:alpha val="80000"/>
              </a:srgbClr>
            </a:solidFill>
            <a:prstDash val="solid"/>
          </a:ln>
        </p:spPr>
      </p:sp>
      <p:sp>
        <p:nvSpPr>
          <p:cNvPr id="16" name="Shape 14"/>
          <p:cNvSpPr/>
          <p:nvPr/>
        </p:nvSpPr>
        <p:spPr>
          <a:xfrm>
            <a:off x="4480560" y="1234440"/>
            <a:ext cx="54864" cy="777240"/>
          </a:xfrm>
          <a:prstGeom prst="rect">
            <a:avLst/>
          </a:prstGeom>
          <a:solidFill>
            <a:srgbClr val="149C7E"/>
          </a:solidFill>
          <a:ln w="12700">
            <a:solidFill>
              <a:srgbClr val="149C7E"/>
            </a:solidFill>
            <a:prstDash val="solid"/>
          </a:ln>
        </p:spPr>
      </p:sp>
      <p:sp>
        <p:nvSpPr>
          <p:cNvPr id="17" name="Text 15"/>
          <p:cNvSpPr/>
          <p:nvPr/>
        </p:nvSpPr>
        <p:spPr>
          <a:xfrm>
            <a:off x="4626864" y="1362456"/>
            <a:ext cx="1216152" cy="256032"/>
          </a:xfrm>
          <a:prstGeom prst="rect">
            <a:avLst/>
          </a:prstGeom>
          <a:noFill/>
          <a:ln/>
        </p:spPr>
        <p:txBody>
          <a:bodyPr wrap="square" lIns="0" tIns="0" rIns="0" bIns="0" rtlCol="0" anchor="ctr"/>
          <a:lstStyle/>
          <a:p>
            <a:pPr algn="ctr" indent="0" marL="0">
              <a:buNone/>
            </a:pPr>
            <a:r>
              <a:rPr lang="en-US" sz="1800" b="1" dirty="0">
                <a:solidFill>
                  <a:srgbClr val="149C7E"/>
                </a:solidFill>
              </a:rPr>
              <a:t>11.7%</a:t>
            </a:r>
            <a:endParaRPr lang="en-US" sz="1800" dirty="0"/>
          </a:p>
        </p:txBody>
      </p:sp>
      <p:sp>
        <p:nvSpPr>
          <p:cNvPr id="18" name="Text 16"/>
          <p:cNvSpPr/>
          <p:nvPr/>
        </p:nvSpPr>
        <p:spPr>
          <a:xfrm>
            <a:off x="4590288" y="1673352"/>
            <a:ext cx="1234440" cy="164592"/>
          </a:xfrm>
          <a:prstGeom prst="rect">
            <a:avLst/>
          </a:prstGeom>
          <a:noFill/>
          <a:ln/>
        </p:spPr>
        <p:txBody>
          <a:bodyPr wrap="square" lIns="0" tIns="0" rIns="0" bIns="0" rtlCol="0" anchor="ctr"/>
          <a:lstStyle/>
          <a:p>
            <a:pPr algn="ctr" indent="0" marL="0">
              <a:buNone/>
            </a:pPr>
            <a:r>
              <a:rPr lang="en-US" sz="850" dirty="0">
                <a:solidFill>
                  <a:srgbClr val="5B6770"/>
                </a:solidFill>
              </a:rPr>
              <a:t>yes share</a:t>
            </a:r>
            <a:endParaRPr lang="en-US" sz="850" dirty="0"/>
          </a:p>
        </p:txBody>
      </p:sp>
      <p:sp>
        <p:nvSpPr>
          <p:cNvPr id="19" name="Shape 17"/>
          <p:cNvSpPr/>
          <p:nvPr/>
        </p:nvSpPr>
        <p:spPr>
          <a:xfrm>
            <a:off x="640080" y="2240280"/>
            <a:ext cx="5257800" cy="2834640"/>
          </a:xfrm>
          <a:prstGeom prst="roundRect">
            <a:avLst>
              <a:gd name="adj" fmla="val 1935"/>
            </a:avLst>
          </a:prstGeom>
          <a:solidFill>
            <a:srgbClr val="FFFFFF"/>
          </a:solidFill>
          <a:ln w="12700">
            <a:solidFill>
              <a:srgbClr val="D8DEE6">
                <a:alpha val="85000"/>
              </a:srgbClr>
            </a:solidFill>
            <a:prstDash val="solid"/>
          </a:ln>
        </p:spPr>
      </p:sp>
      <p:sp>
        <p:nvSpPr>
          <p:cNvPr id="20" name="Text 18"/>
          <p:cNvSpPr/>
          <p:nvPr/>
        </p:nvSpPr>
        <p:spPr>
          <a:xfrm>
            <a:off x="749808" y="2322576"/>
            <a:ext cx="5038344" cy="164592"/>
          </a:xfrm>
          <a:prstGeom prst="rect">
            <a:avLst/>
          </a:prstGeom>
          <a:noFill/>
          <a:ln/>
        </p:spPr>
        <p:txBody>
          <a:bodyPr wrap="square" lIns="0" tIns="0" rIns="0" bIns="0" rtlCol="0" anchor="ctr"/>
          <a:lstStyle/>
          <a:p>
            <a:pPr indent="0" marL="0">
              <a:buNone/>
            </a:pPr>
            <a:r>
              <a:rPr lang="en-US" sz="1020" b="1" dirty="0">
                <a:solidFill>
                  <a:srgbClr val="12385B"/>
                </a:solidFill>
              </a:rPr>
              <a:t>Target distribution</a:t>
            </a:r>
            <a:endParaRPr lang="en-US" sz="1020" dirty="0"/>
          </a:p>
        </p:txBody>
      </p:sp>
      <p:pic>
        <p:nvPicPr>
          <p:cNvPr id="21" name="Image 0" descr="/mnt/data/key_extracted_plots/02_target_distribution_count.png">    </p:cNvPr>
          <p:cNvPicPr>
            <a:picLocks noChangeAspect="1"/>
          </p:cNvPicPr>
          <p:nvPr/>
        </p:nvPicPr>
        <p:blipFill>
          <a:blip r:embed="rId1"/>
          <a:stretch>
            <a:fillRect/>
          </a:stretch>
        </p:blipFill>
        <p:spPr>
          <a:xfrm>
            <a:off x="1635871" y="2542032"/>
            <a:ext cx="3266218" cy="2423160"/>
          </a:xfrm>
          <a:prstGeom prst="rect">
            <a:avLst/>
          </a:prstGeom>
        </p:spPr>
      </p:pic>
      <p:sp>
        <p:nvSpPr>
          <p:cNvPr id="22" name="Shape 19"/>
          <p:cNvSpPr/>
          <p:nvPr/>
        </p:nvSpPr>
        <p:spPr>
          <a:xfrm>
            <a:off x="6263640" y="1234440"/>
            <a:ext cx="5257800" cy="2240280"/>
          </a:xfrm>
          <a:prstGeom prst="roundRect">
            <a:avLst>
              <a:gd name="adj" fmla="val 2449"/>
            </a:avLst>
          </a:prstGeom>
          <a:solidFill>
            <a:srgbClr val="FFFFFF"/>
          </a:solidFill>
          <a:ln w="12700">
            <a:solidFill>
              <a:srgbClr val="D8DEE6">
                <a:alpha val="85000"/>
              </a:srgbClr>
            </a:solidFill>
            <a:prstDash val="solid"/>
          </a:ln>
        </p:spPr>
      </p:sp>
      <p:sp>
        <p:nvSpPr>
          <p:cNvPr id="23" name="Text 20"/>
          <p:cNvSpPr/>
          <p:nvPr/>
        </p:nvSpPr>
        <p:spPr>
          <a:xfrm>
            <a:off x="6373368" y="1316736"/>
            <a:ext cx="5038344" cy="164592"/>
          </a:xfrm>
          <a:prstGeom prst="rect">
            <a:avLst/>
          </a:prstGeom>
          <a:noFill/>
          <a:ln/>
        </p:spPr>
        <p:txBody>
          <a:bodyPr wrap="square" lIns="0" tIns="0" rIns="0" bIns="0" rtlCol="0" anchor="ctr"/>
          <a:lstStyle/>
          <a:p>
            <a:pPr indent="0" marL="0">
              <a:buNone/>
            </a:pPr>
            <a:r>
              <a:rPr lang="en-US" sz="1020" b="1" dirty="0">
                <a:solidFill>
                  <a:srgbClr val="12385B"/>
                </a:solidFill>
              </a:rPr>
              <a:t>Subscription by month</a:t>
            </a:r>
            <a:endParaRPr lang="en-US" sz="1020" dirty="0"/>
          </a:p>
        </p:txBody>
      </p:sp>
      <p:pic>
        <p:nvPicPr>
          <p:cNvPr id="24" name="Image 1" descr="/mnt/data/key_extracted_plots/05_subscription_by_month.png">    </p:cNvPr>
          <p:cNvPicPr>
            <a:picLocks noChangeAspect="1"/>
          </p:cNvPicPr>
          <p:nvPr/>
        </p:nvPicPr>
        <p:blipFill>
          <a:blip r:embed="rId2"/>
          <a:stretch>
            <a:fillRect/>
          </a:stretch>
        </p:blipFill>
        <p:spPr>
          <a:xfrm>
            <a:off x="6966585" y="1536192"/>
            <a:ext cx="3851910" cy="1828800"/>
          </a:xfrm>
          <a:prstGeom prst="rect">
            <a:avLst/>
          </a:prstGeom>
        </p:spPr>
      </p:pic>
      <p:sp>
        <p:nvSpPr>
          <p:cNvPr id="25" name="Shape 21"/>
          <p:cNvSpPr/>
          <p:nvPr/>
        </p:nvSpPr>
        <p:spPr>
          <a:xfrm>
            <a:off x="6263640" y="3703320"/>
            <a:ext cx="5257800" cy="2057400"/>
          </a:xfrm>
          <a:prstGeom prst="roundRect">
            <a:avLst>
              <a:gd name="adj" fmla="val 2667"/>
            </a:avLst>
          </a:prstGeom>
          <a:solidFill>
            <a:srgbClr val="FFFFFF"/>
          </a:solidFill>
          <a:ln w="12700">
            <a:solidFill>
              <a:srgbClr val="D8DEE6">
                <a:alpha val="85000"/>
              </a:srgbClr>
            </a:solidFill>
            <a:prstDash val="solid"/>
          </a:ln>
        </p:spPr>
      </p:sp>
      <p:sp>
        <p:nvSpPr>
          <p:cNvPr id="26" name="Text 22"/>
          <p:cNvSpPr/>
          <p:nvPr/>
        </p:nvSpPr>
        <p:spPr>
          <a:xfrm>
            <a:off x="6373368" y="3785616"/>
            <a:ext cx="5038344" cy="164592"/>
          </a:xfrm>
          <a:prstGeom prst="rect">
            <a:avLst/>
          </a:prstGeom>
          <a:noFill/>
          <a:ln/>
        </p:spPr>
        <p:txBody>
          <a:bodyPr wrap="square" lIns="0" tIns="0" rIns="0" bIns="0" rtlCol="0" anchor="ctr"/>
          <a:lstStyle/>
          <a:p>
            <a:pPr indent="0" marL="0">
              <a:buNone/>
            </a:pPr>
            <a:r>
              <a:rPr lang="en-US" sz="1020" b="1" dirty="0">
                <a:solidFill>
                  <a:srgbClr val="12385B"/>
                </a:solidFill>
              </a:rPr>
              <a:t>Subscription by previous outcome</a:t>
            </a:r>
            <a:endParaRPr lang="en-US" sz="1020" dirty="0"/>
          </a:p>
        </p:txBody>
      </p:sp>
      <p:pic>
        <p:nvPicPr>
          <p:cNvPr id="27" name="Image 2" descr="/mnt/data/key_extracted_plots/07_subscription_by_poutcome.png">    </p:cNvPr>
          <p:cNvPicPr>
            <a:picLocks noChangeAspect="1"/>
          </p:cNvPicPr>
          <p:nvPr/>
        </p:nvPicPr>
        <p:blipFill>
          <a:blip r:embed="rId3"/>
          <a:stretch>
            <a:fillRect/>
          </a:stretch>
        </p:blipFill>
        <p:spPr>
          <a:xfrm>
            <a:off x="7304730" y="4005072"/>
            <a:ext cx="3175620" cy="1645920"/>
          </a:xfrm>
          <a:prstGeom prst="rect">
            <a:avLst/>
          </a:prstGeom>
        </p:spPr>
      </p:pic>
      <p:sp>
        <p:nvSpPr>
          <p:cNvPr id="28" name="Text 23"/>
          <p:cNvSpPr/>
          <p:nvPr/>
        </p:nvSpPr>
        <p:spPr>
          <a:xfrm>
            <a:off x="731520" y="5486400"/>
            <a:ext cx="5029200" cy="292608"/>
          </a:xfrm>
          <a:prstGeom prst="rect">
            <a:avLst/>
          </a:prstGeom>
          <a:noFill/>
          <a:ln/>
        </p:spPr>
        <p:txBody>
          <a:bodyPr wrap="square" lIns="0" tIns="0" rIns="0" bIns="0" rtlCol="0" anchor="ctr">
            <a:normAutofit/>
          </a:bodyPr>
          <a:lstStyle/>
          <a:p>
            <a:pPr indent="0" marL="0">
              <a:buNone/>
            </a:pPr>
            <a:r>
              <a:rPr lang="en-US" sz="1200" b="1" dirty="0">
                <a:solidFill>
                  <a:srgbClr val="D64545"/>
                </a:solidFill>
              </a:rPr>
              <a:t>Implication: accuracy can be misleading, because a model can look strong by mostly predicting “no”.</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49C7E"/>
          </a:solidFill>
          <a:ln w="12700">
            <a:solidFill>
              <a:srgbClr val="149C7E"/>
            </a:solidFill>
            <a:prstDash val="solid"/>
          </a:ln>
        </p:spPr>
      </p:sp>
      <p:sp>
        <p:nvSpPr>
          <p:cNvPr id="3" name="Text 1"/>
          <p:cNvSpPr/>
          <p:nvPr/>
        </p:nvSpPr>
        <p:spPr>
          <a:xfrm>
            <a:off x="502920" y="310896"/>
            <a:ext cx="8138160" cy="384048"/>
          </a:xfrm>
          <a:prstGeom prst="rect">
            <a:avLst/>
          </a:prstGeom>
          <a:noFill/>
          <a:ln/>
        </p:spPr>
        <p:txBody>
          <a:bodyPr wrap="square" lIns="0" tIns="0" rIns="0" bIns="0" rtlCol="0" anchor="ctr"/>
          <a:lstStyle/>
          <a:p>
            <a:pPr indent="0" marL="0">
              <a:buNone/>
            </a:pPr>
            <a:r>
              <a:rPr lang="en-US" sz="2600" b="1" dirty="0">
                <a:solidFill>
                  <a:srgbClr val="12385B"/>
                </a:solidFill>
                <a:latin typeface="Aptos Display" pitchFamily="34" charset="0"/>
                <a:ea typeface="Aptos Display" pitchFamily="34" charset="-122"/>
                <a:cs typeface="Aptos Display" pitchFamily="34" charset="-120"/>
              </a:rPr>
              <a:t>Methodology Overview</a:t>
            </a:r>
            <a:endParaRPr lang="en-US" sz="2600" dirty="0"/>
          </a:p>
        </p:txBody>
      </p:sp>
      <p:sp>
        <p:nvSpPr>
          <p:cNvPr id="4" name="Text 2"/>
          <p:cNvSpPr/>
          <p:nvPr/>
        </p:nvSpPr>
        <p:spPr>
          <a:xfrm>
            <a:off x="521208" y="749808"/>
            <a:ext cx="10789920" cy="237744"/>
          </a:xfrm>
          <a:prstGeom prst="rect">
            <a:avLst/>
          </a:prstGeom>
          <a:noFill/>
          <a:ln/>
        </p:spPr>
        <p:txBody>
          <a:bodyPr wrap="square" lIns="0" tIns="0" rIns="0" bIns="0" rtlCol="0" anchor="ctr"/>
          <a:lstStyle/>
          <a:p>
            <a:pPr indent="0" marL="0">
              <a:buNone/>
            </a:pPr>
            <a:r>
              <a:rPr lang="en-US" sz="1050" dirty="0">
                <a:solidFill>
                  <a:srgbClr val="5B6770"/>
                </a:solidFill>
              </a:rPr>
              <a:t>A reproducible machine-learning workflow from EDA to explainable business recommendations.</a:t>
            </a:r>
            <a:endParaRPr lang="en-US" sz="1050" dirty="0"/>
          </a:p>
        </p:txBody>
      </p:sp>
      <p:sp>
        <p:nvSpPr>
          <p:cNvPr id="5" name="Text 3"/>
          <p:cNvSpPr/>
          <p:nvPr/>
        </p:nvSpPr>
        <p:spPr>
          <a:xfrm>
            <a:off x="502920" y="6483096"/>
            <a:ext cx="4572000" cy="164592"/>
          </a:xfrm>
          <a:prstGeom prst="rect">
            <a:avLst/>
          </a:prstGeom>
          <a:noFill/>
          <a:ln/>
        </p:spPr>
        <p:txBody>
          <a:bodyPr wrap="square" lIns="0" tIns="0" rIns="0" bIns="0" rtlCol="0" anchor="ctr"/>
          <a:lstStyle/>
          <a:p>
            <a:pPr indent="0" marL="0">
              <a:buNone/>
            </a:pPr>
            <a:r>
              <a:rPr lang="en-US" sz="800" dirty="0">
                <a:solidFill>
                  <a:srgbClr val="7B8794"/>
                </a:solidFill>
              </a:rPr>
              <a:t>Bank Marketing Subscription Prediction</a:t>
            </a:r>
            <a:endParaRPr lang="en-US" sz="800" dirty="0"/>
          </a:p>
        </p:txBody>
      </p:sp>
      <p:sp>
        <p:nvSpPr>
          <p:cNvPr id="6" name="Text 4"/>
          <p:cNvSpPr/>
          <p:nvPr/>
        </p:nvSpPr>
        <p:spPr>
          <a:xfrm>
            <a:off x="11384280" y="6464808"/>
            <a:ext cx="320040" cy="164592"/>
          </a:xfrm>
          <a:prstGeom prst="rect">
            <a:avLst/>
          </a:prstGeom>
          <a:noFill/>
          <a:ln/>
        </p:spPr>
        <p:txBody>
          <a:bodyPr wrap="square" lIns="0" tIns="0" rIns="0" bIns="0" rtlCol="0" anchor="ctr"/>
          <a:lstStyle/>
          <a:p>
            <a:pPr algn="r" indent="0" marL="0">
              <a:buNone/>
            </a:pPr>
            <a:r>
              <a:rPr lang="en-US" sz="800" dirty="0">
                <a:solidFill>
                  <a:srgbClr val="7B8794"/>
                </a:solidFill>
              </a:rPr>
              <a:t>04</a:t>
            </a:r>
            <a:endParaRPr lang="en-US" sz="800" dirty="0"/>
          </a:p>
        </p:txBody>
      </p:sp>
      <p:sp>
        <p:nvSpPr>
          <p:cNvPr id="7" name="Shape 5"/>
          <p:cNvSpPr/>
          <p:nvPr/>
        </p:nvSpPr>
        <p:spPr>
          <a:xfrm>
            <a:off x="594360" y="1508760"/>
            <a:ext cx="2057400" cy="1920240"/>
          </a:xfrm>
          <a:prstGeom prst="roundRect">
            <a:avLst>
              <a:gd name="adj" fmla="val 3810"/>
            </a:avLst>
          </a:prstGeom>
          <a:solidFill>
            <a:srgbClr val="E7F6F2"/>
          </a:solidFill>
          <a:ln w="12700">
            <a:solidFill>
              <a:srgbClr val="D8DEE6">
                <a:alpha val="75000"/>
              </a:srgbClr>
            </a:solidFill>
            <a:prstDash val="solid"/>
          </a:ln>
        </p:spPr>
      </p:sp>
      <p:sp>
        <p:nvSpPr>
          <p:cNvPr id="8" name="Text 6"/>
          <p:cNvSpPr/>
          <p:nvPr/>
        </p:nvSpPr>
        <p:spPr>
          <a:xfrm>
            <a:off x="731520" y="1700784"/>
            <a:ext cx="329184" cy="274320"/>
          </a:xfrm>
          <a:prstGeom prst="rect">
            <a:avLst/>
          </a:prstGeom>
          <a:noFill/>
          <a:ln/>
        </p:spPr>
        <p:txBody>
          <a:bodyPr wrap="square" lIns="0" tIns="0" rIns="0" bIns="0" rtlCol="0" anchor="ctr"/>
          <a:lstStyle/>
          <a:p>
            <a:pPr indent="0" marL="0">
              <a:buNone/>
            </a:pPr>
            <a:r>
              <a:rPr lang="en-US" sz="1800" b="1" dirty="0">
                <a:solidFill>
                  <a:srgbClr val="149C7E"/>
                </a:solidFill>
              </a:rPr>
              <a:t>1</a:t>
            </a:r>
            <a:endParaRPr lang="en-US" sz="1800" dirty="0"/>
          </a:p>
        </p:txBody>
      </p:sp>
      <p:sp>
        <p:nvSpPr>
          <p:cNvPr id="9" name="Text 7"/>
          <p:cNvSpPr/>
          <p:nvPr/>
        </p:nvSpPr>
        <p:spPr>
          <a:xfrm>
            <a:off x="850392" y="2157984"/>
            <a:ext cx="1554480" cy="237744"/>
          </a:xfrm>
          <a:prstGeom prst="rect">
            <a:avLst/>
          </a:prstGeom>
          <a:noFill/>
          <a:ln/>
        </p:spPr>
        <p:txBody>
          <a:bodyPr wrap="square" lIns="0" tIns="0" rIns="0" bIns="0" rtlCol="0" anchor="ctr"/>
          <a:lstStyle/>
          <a:p>
            <a:pPr algn="ctr" indent="0" marL="0">
              <a:buNone/>
            </a:pPr>
            <a:r>
              <a:rPr lang="en-US" sz="1500" b="1" dirty="0">
                <a:solidFill>
                  <a:srgbClr val="12385B"/>
                </a:solidFill>
              </a:rPr>
              <a:t>EDA</a:t>
            </a:r>
            <a:endParaRPr lang="en-US" sz="1500" dirty="0"/>
          </a:p>
        </p:txBody>
      </p:sp>
      <p:sp>
        <p:nvSpPr>
          <p:cNvPr id="10" name="Text 8"/>
          <p:cNvSpPr/>
          <p:nvPr/>
        </p:nvSpPr>
        <p:spPr>
          <a:xfrm>
            <a:off x="795528" y="2670048"/>
            <a:ext cx="1645920" cy="457200"/>
          </a:xfrm>
          <a:prstGeom prst="rect">
            <a:avLst/>
          </a:prstGeom>
          <a:noFill/>
          <a:ln/>
        </p:spPr>
        <p:txBody>
          <a:bodyPr wrap="square" lIns="0" tIns="0" rIns="0" bIns="0" rtlCol="0" anchor="ctr">
            <a:normAutofit/>
          </a:bodyPr>
          <a:lstStyle/>
          <a:p>
            <a:pPr algn="ctr" indent="0" marL="0">
              <a:buNone/>
            </a:pPr>
            <a:r>
              <a:rPr lang="en-US" sz="970" dirty="0">
                <a:solidFill>
                  <a:srgbClr val="5B6770"/>
                </a:solidFill>
              </a:rPr>
              <a:t>Distributions, imbalance, categorical patterns</a:t>
            </a:r>
            <a:endParaRPr lang="en-US" sz="970" dirty="0"/>
          </a:p>
        </p:txBody>
      </p:sp>
      <p:sp>
        <p:nvSpPr>
          <p:cNvPr id="11" name="Shape 9"/>
          <p:cNvSpPr/>
          <p:nvPr/>
        </p:nvSpPr>
        <p:spPr>
          <a:xfrm>
            <a:off x="2679192" y="2468880"/>
            <a:ext cx="228600" cy="0"/>
          </a:xfrm>
          <a:prstGeom prst="line">
            <a:avLst/>
          </a:prstGeom>
          <a:noFill/>
          <a:ln w="25400">
            <a:solidFill>
              <a:srgbClr val="149C7E"/>
            </a:solidFill>
            <a:prstDash val="solid"/>
            <a:tailEnd type="triangle"/>
          </a:ln>
        </p:spPr>
      </p:sp>
      <p:sp>
        <p:nvSpPr>
          <p:cNvPr id="12" name="Shape 10"/>
          <p:cNvSpPr/>
          <p:nvPr/>
        </p:nvSpPr>
        <p:spPr>
          <a:xfrm>
            <a:off x="2862072" y="1508760"/>
            <a:ext cx="2057400" cy="1920240"/>
          </a:xfrm>
          <a:prstGeom prst="roundRect">
            <a:avLst>
              <a:gd name="adj" fmla="val 3810"/>
            </a:avLst>
          </a:prstGeom>
          <a:solidFill>
            <a:srgbClr val="EAF3FA"/>
          </a:solidFill>
          <a:ln w="12700">
            <a:solidFill>
              <a:srgbClr val="D8DEE6">
                <a:alpha val="75000"/>
              </a:srgbClr>
            </a:solidFill>
            <a:prstDash val="solid"/>
          </a:ln>
        </p:spPr>
      </p:sp>
      <p:sp>
        <p:nvSpPr>
          <p:cNvPr id="13" name="Text 11"/>
          <p:cNvSpPr/>
          <p:nvPr/>
        </p:nvSpPr>
        <p:spPr>
          <a:xfrm>
            <a:off x="2999232" y="1700784"/>
            <a:ext cx="329184" cy="274320"/>
          </a:xfrm>
          <a:prstGeom prst="rect">
            <a:avLst/>
          </a:prstGeom>
          <a:noFill/>
          <a:ln/>
        </p:spPr>
        <p:txBody>
          <a:bodyPr wrap="square" lIns="0" tIns="0" rIns="0" bIns="0" rtlCol="0" anchor="ctr"/>
          <a:lstStyle/>
          <a:p>
            <a:pPr indent="0" marL="0">
              <a:buNone/>
            </a:pPr>
            <a:r>
              <a:rPr lang="en-US" sz="1800" b="1" dirty="0">
                <a:solidFill>
                  <a:srgbClr val="1F77B4"/>
                </a:solidFill>
              </a:rPr>
              <a:t>2</a:t>
            </a:r>
            <a:endParaRPr lang="en-US" sz="1800" dirty="0"/>
          </a:p>
        </p:txBody>
      </p:sp>
      <p:sp>
        <p:nvSpPr>
          <p:cNvPr id="14" name="Text 12"/>
          <p:cNvSpPr/>
          <p:nvPr/>
        </p:nvSpPr>
        <p:spPr>
          <a:xfrm>
            <a:off x="3118104" y="2157984"/>
            <a:ext cx="1554480" cy="237744"/>
          </a:xfrm>
          <a:prstGeom prst="rect">
            <a:avLst/>
          </a:prstGeom>
          <a:noFill/>
          <a:ln/>
        </p:spPr>
        <p:txBody>
          <a:bodyPr wrap="square" lIns="0" tIns="0" rIns="0" bIns="0" rtlCol="0" anchor="ctr"/>
          <a:lstStyle/>
          <a:p>
            <a:pPr algn="ctr" indent="0" marL="0">
              <a:buNone/>
            </a:pPr>
            <a:r>
              <a:rPr lang="en-US" sz="1500" b="1" dirty="0">
                <a:solidFill>
                  <a:srgbClr val="12385B"/>
                </a:solidFill>
              </a:rPr>
              <a:t>Split</a:t>
            </a:r>
            <a:endParaRPr lang="en-US" sz="1500" dirty="0"/>
          </a:p>
        </p:txBody>
      </p:sp>
      <p:sp>
        <p:nvSpPr>
          <p:cNvPr id="15" name="Text 13"/>
          <p:cNvSpPr/>
          <p:nvPr/>
        </p:nvSpPr>
        <p:spPr>
          <a:xfrm>
            <a:off x="3063240" y="2670048"/>
            <a:ext cx="1645920" cy="457200"/>
          </a:xfrm>
          <a:prstGeom prst="rect">
            <a:avLst/>
          </a:prstGeom>
          <a:noFill/>
          <a:ln/>
        </p:spPr>
        <p:txBody>
          <a:bodyPr wrap="square" lIns="0" tIns="0" rIns="0" bIns="0" rtlCol="0" anchor="ctr">
            <a:normAutofit/>
          </a:bodyPr>
          <a:lstStyle/>
          <a:p>
            <a:pPr algn="ctr" indent="0" marL="0">
              <a:buNone/>
            </a:pPr>
            <a:r>
              <a:rPr lang="en-US" sz="970" dirty="0">
                <a:solidFill>
                  <a:srgbClr val="5B6770"/>
                </a:solidFill>
              </a:rPr>
              <a:t>60/20/20 train-validation-test with stratification</a:t>
            </a:r>
            <a:endParaRPr lang="en-US" sz="970" dirty="0"/>
          </a:p>
        </p:txBody>
      </p:sp>
      <p:sp>
        <p:nvSpPr>
          <p:cNvPr id="16" name="Shape 14"/>
          <p:cNvSpPr/>
          <p:nvPr/>
        </p:nvSpPr>
        <p:spPr>
          <a:xfrm>
            <a:off x="4946904" y="2468880"/>
            <a:ext cx="228600" cy="0"/>
          </a:xfrm>
          <a:prstGeom prst="line">
            <a:avLst/>
          </a:prstGeom>
          <a:noFill/>
          <a:ln w="25400">
            <a:solidFill>
              <a:srgbClr val="149C7E"/>
            </a:solidFill>
            <a:prstDash val="solid"/>
            <a:tailEnd type="triangle"/>
          </a:ln>
        </p:spPr>
      </p:sp>
      <p:sp>
        <p:nvSpPr>
          <p:cNvPr id="17" name="Shape 15"/>
          <p:cNvSpPr/>
          <p:nvPr/>
        </p:nvSpPr>
        <p:spPr>
          <a:xfrm>
            <a:off x="5129784" y="1508760"/>
            <a:ext cx="2057400" cy="1920240"/>
          </a:xfrm>
          <a:prstGeom prst="roundRect">
            <a:avLst>
              <a:gd name="adj" fmla="val 3810"/>
            </a:avLst>
          </a:prstGeom>
          <a:solidFill>
            <a:srgbClr val="E7F6F2"/>
          </a:solidFill>
          <a:ln w="12700">
            <a:solidFill>
              <a:srgbClr val="D8DEE6">
                <a:alpha val="75000"/>
              </a:srgbClr>
            </a:solidFill>
            <a:prstDash val="solid"/>
          </a:ln>
        </p:spPr>
      </p:sp>
      <p:sp>
        <p:nvSpPr>
          <p:cNvPr id="18" name="Text 16"/>
          <p:cNvSpPr/>
          <p:nvPr/>
        </p:nvSpPr>
        <p:spPr>
          <a:xfrm>
            <a:off x="5266944" y="1700784"/>
            <a:ext cx="329184" cy="274320"/>
          </a:xfrm>
          <a:prstGeom prst="rect">
            <a:avLst/>
          </a:prstGeom>
          <a:noFill/>
          <a:ln/>
        </p:spPr>
        <p:txBody>
          <a:bodyPr wrap="square" lIns="0" tIns="0" rIns="0" bIns="0" rtlCol="0" anchor="ctr"/>
          <a:lstStyle/>
          <a:p>
            <a:pPr indent="0" marL="0">
              <a:buNone/>
            </a:pPr>
            <a:r>
              <a:rPr lang="en-US" sz="1800" b="1" dirty="0">
                <a:solidFill>
                  <a:srgbClr val="149C7E"/>
                </a:solidFill>
              </a:rPr>
              <a:t>3</a:t>
            </a:r>
            <a:endParaRPr lang="en-US" sz="1800" dirty="0"/>
          </a:p>
        </p:txBody>
      </p:sp>
      <p:sp>
        <p:nvSpPr>
          <p:cNvPr id="19" name="Text 17"/>
          <p:cNvSpPr/>
          <p:nvPr/>
        </p:nvSpPr>
        <p:spPr>
          <a:xfrm>
            <a:off x="5385816" y="2157984"/>
            <a:ext cx="1554480" cy="237744"/>
          </a:xfrm>
          <a:prstGeom prst="rect">
            <a:avLst/>
          </a:prstGeom>
          <a:noFill/>
          <a:ln/>
        </p:spPr>
        <p:txBody>
          <a:bodyPr wrap="square" lIns="0" tIns="0" rIns="0" bIns="0" rtlCol="0" anchor="ctr"/>
          <a:lstStyle/>
          <a:p>
            <a:pPr algn="ctr" indent="0" marL="0">
              <a:buNone/>
            </a:pPr>
            <a:r>
              <a:rPr lang="en-US" sz="1500" b="1" dirty="0">
                <a:solidFill>
                  <a:srgbClr val="12385B"/>
                </a:solidFill>
              </a:rPr>
              <a:t>Pipelines</a:t>
            </a:r>
            <a:endParaRPr lang="en-US" sz="1500" dirty="0"/>
          </a:p>
        </p:txBody>
      </p:sp>
      <p:sp>
        <p:nvSpPr>
          <p:cNvPr id="20" name="Text 18"/>
          <p:cNvSpPr/>
          <p:nvPr/>
        </p:nvSpPr>
        <p:spPr>
          <a:xfrm>
            <a:off x="5330952" y="2670048"/>
            <a:ext cx="1645920" cy="457200"/>
          </a:xfrm>
          <a:prstGeom prst="rect">
            <a:avLst/>
          </a:prstGeom>
          <a:noFill/>
          <a:ln/>
        </p:spPr>
        <p:txBody>
          <a:bodyPr wrap="square" lIns="0" tIns="0" rIns="0" bIns="0" rtlCol="0" anchor="ctr">
            <a:normAutofit/>
          </a:bodyPr>
          <a:lstStyle/>
          <a:p>
            <a:pPr algn="ctr" indent="0" marL="0">
              <a:buNone/>
            </a:pPr>
            <a:r>
              <a:rPr lang="en-US" sz="970" dirty="0">
                <a:solidFill>
                  <a:srgbClr val="5B6770"/>
                </a:solidFill>
              </a:rPr>
              <a:t>Model-specific preprocessing to avoid leakage</a:t>
            </a:r>
            <a:endParaRPr lang="en-US" sz="970" dirty="0"/>
          </a:p>
        </p:txBody>
      </p:sp>
      <p:sp>
        <p:nvSpPr>
          <p:cNvPr id="21" name="Shape 19"/>
          <p:cNvSpPr/>
          <p:nvPr/>
        </p:nvSpPr>
        <p:spPr>
          <a:xfrm>
            <a:off x="7214616" y="2468880"/>
            <a:ext cx="228600" cy="0"/>
          </a:xfrm>
          <a:prstGeom prst="line">
            <a:avLst/>
          </a:prstGeom>
          <a:noFill/>
          <a:ln w="25400">
            <a:solidFill>
              <a:srgbClr val="149C7E"/>
            </a:solidFill>
            <a:prstDash val="solid"/>
            <a:tailEnd type="triangle"/>
          </a:ln>
        </p:spPr>
      </p:sp>
      <p:sp>
        <p:nvSpPr>
          <p:cNvPr id="22" name="Shape 20"/>
          <p:cNvSpPr/>
          <p:nvPr/>
        </p:nvSpPr>
        <p:spPr>
          <a:xfrm>
            <a:off x="7397496" y="1508760"/>
            <a:ext cx="2057400" cy="1920240"/>
          </a:xfrm>
          <a:prstGeom prst="roundRect">
            <a:avLst>
              <a:gd name="adj" fmla="val 3810"/>
            </a:avLst>
          </a:prstGeom>
          <a:solidFill>
            <a:srgbClr val="EAF3FA"/>
          </a:solidFill>
          <a:ln w="12700">
            <a:solidFill>
              <a:srgbClr val="D8DEE6">
                <a:alpha val="75000"/>
              </a:srgbClr>
            </a:solidFill>
            <a:prstDash val="solid"/>
          </a:ln>
        </p:spPr>
      </p:sp>
      <p:sp>
        <p:nvSpPr>
          <p:cNvPr id="23" name="Text 21"/>
          <p:cNvSpPr/>
          <p:nvPr/>
        </p:nvSpPr>
        <p:spPr>
          <a:xfrm>
            <a:off x="7534656" y="1700784"/>
            <a:ext cx="329184" cy="274320"/>
          </a:xfrm>
          <a:prstGeom prst="rect">
            <a:avLst/>
          </a:prstGeom>
          <a:noFill/>
          <a:ln/>
        </p:spPr>
        <p:txBody>
          <a:bodyPr wrap="square" lIns="0" tIns="0" rIns="0" bIns="0" rtlCol="0" anchor="ctr"/>
          <a:lstStyle/>
          <a:p>
            <a:pPr indent="0" marL="0">
              <a:buNone/>
            </a:pPr>
            <a:r>
              <a:rPr lang="en-US" sz="1800" b="1" dirty="0">
                <a:solidFill>
                  <a:srgbClr val="1F77B4"/>
                </a:solidFill>
              </a:rPr>
              <a:t>4</a:t>
            </a:r>
            <a:endParaRPr lang="en-US" sz="1800" dirty="0"/>
          </a:p>
        </p:txBody>
      </p:sp>
      <p:sp>
        <p:nvSpPr>
          <p:cNvPr id="24" name="Text 22"/>
          <p:cNvSpPr/>
          <p:nvPr/>
        </p:nvSpPr>
        <p:spPr>
          <a:xfrm>
            <a:off x="7653528" y="2157984"/>
            <a:ext cx="1554480" cy="237744"/>
          </a:xfrm>
          <a:prstGeom prst="rect">
            <a:avLst/>
          </a:prstGeom>
          <a:noFill/>
          <a:ln/>
        </p:spPr>
        <p:txBody>
          <a:bodyPr wrap="square" lIns="0" tIns="0" rIns="0" bIns="0" rtlCol="0" anchor="ctr"/>
          <a:lstStyle/>
          <a:p>
            <a:pPr algn="ctr" indent="0" marL="0">
              <a:buNone/>
            </a:pPr>
            <a:r>
              <a:rPr lang="en-US" sz="1500" b="1" dirty="0">
                <a:solidFill>
                  <a:srgbClr val="12385B"/>
                </a:solidFill>
              </a:rPr>
              <a:t>Models</a:t>
            </a:r>
            <a:endParaRPr lang="en-US" sz="1500" dirty="0"/>
          </a:p>
        </p:txBody>
      </p:sp>
      <p:sp>
        <p:nvSpPr>
          <p:cNvPr id="25" name="Text 23"/>
          <p:cNvSpPr/>
          <p:nvPr/>
        </p:nvSpPr>
        <p:spPr>
          <a:xfrm>
            <a:off x="7598664" y="2670048"/>
            <a:ext cx="1645920" cy="457200"/>
          </a:xfrm>
          <a:prstGeom prst="rect">
            <a:avLst/>
          </a:prstGeom>
          <a:noFill/>
          <a:ln/>
        </p:spPr>
        <p:txBody>
          <a:bodyPr wrap="square" lIns="0" tIns="0" rIns="0" bIns="0" rtlCol="0" anchor="ctr">
            <a:normAutofit/>
          </a:bodyPr>
          <a:lstStyle/>
          <a:p>
            <a:pPr algn="ctr" indent="0" marL="0">
              <a:buNone/>
            </a:pPr>
            <a:r>
              <a:rPr lang="en-US" sz="970" dirty="0">
                <a:solidFill>
                  <a:srgbClr val="5B6770"/>
                </a:solidFill>
              </a:rPr>
              <a:t>Baseline, Logistic Regression, Random Forest</a:t>
            </a:r>
            <a:endParaRPr lang="en-US" sz="970" dirty="0"/>
          </a:p>
        </p:txBody>
      </p:sp>
      <p:sp>
        <p:nvSpPr>
          <p:cNvPr id="26" name="Shape 24"/>
          <p:cNvSpPr/>
          <p:nvPr/>
        </p:nvSpPr>
        <p:spPr>
          <a:xfrm>
            <a:off x="9482328" y="2468880"/>
            <a:ext cx="228600" cy="0"/>
          </a:xfrm>
          <a:prstGeom prst="line">
            <a:avLst/>
          </a:prstGeom>
          <a:noFill/>
          <a:ln w="25400">
            <a:solidFill>
              <a:srgbClr val="149C7E"/>
            </a:solidFill>
            <a:prstDash val="solid"/>
            <a:tailEnd type="triangle"/>
          </a:ln>
        </p:spPr>
      </p:sp>
      <p:sp>
        <p:nvSpPr>
          <p:cNvPr id="27" name="Shape 25"/>
          <p:cNvSpPr/>
          <p:nvPr/>
        </p:nvSpPr>
        <p:spPr>
          <a:xfrm>
            <a:off x="9665208" y="1508760"/>
            <a:ext cx="2057400" cy="1920240"/>
          </a:xfrm>
          <a:prstGeom prst="roundRect">
            <a:avLst>
              <a:gd name="adj" fmla="val 3810"/>
            </a:avLst>
          </a:prstGeom>
          <a:solidFill>
            <a:srgbClr val="E7F6F2"/>
          </a:solidFill>
          <a:ln w="12700">
            <a:solidFill>
              <a:srgbClr val="D8DEE6">
                <a:alpha val="75000"/>
              </a:srgbClr>
            </a:solidFill>
            <a:prstDash val="solid"/>
          </a:ln>
        </p:spPr>
      </p:sp>
      <p:sp>
        <p:nvSpPr>
          <p:cNvPr id="28" name="Text 26"/>
          <p:cNvSpPr/>
          <p:nvPr/>
        </p:nvSpPr>
        <p:spPr>
          <a:xfrm>
            <a:off x="9802368" y="1700784"/>
            <a:ext cx="329184" cy="274320"/>
          </a:xfrm>
          <a:prstGeom prst="rect">
            <a:avLst/>
          </a:prstGeom>
          <a:noFill/>
          <a:ln/>
        </p:spPr>
        <p:txBody>
          <a:bodyPr wrap="square" lIns="0" tIns="0" rIns="0" bIns="0" rtlCol="0" anchor="ctr"/>
          <a:lstStyle/>
          <a:p>
            <a:pPr indent="0" marL="0">
              <a:buNone/>
            </a:pPr>
            <a:r>
              <a:rPr lang="en-US" sz="1800" b="1" dirty="0">
                <a:solidFill>
                  <a:srgbClr val="149C7E"/>
                </a:solidFill>
              </a:rPr>
              <a:t>5</a:t>
            </a:r>
            <a:endParaRPr lang="en-US" sz="1800" dirty="0"/>
          </a:p>
        </p:txBody>
      </p:sp>
      <p:sp>
        <p:nvSpPr>
          <p:cNvPr id="29" name="Text 27"/>
          <p:cNvSpPr/>
          <p:nvPr/>
        </p:nvSpPr>
        <p:spPr>
          <a:xfrm>
            <a:off x="9921240" y="2157984"/>
            <a:ext cx="1554480" cy="237744"/>
          </a:xfrm>
          <a:prstGeom prst="rect">
            <a:avLst/>
          </a:prstGeom>
          <a:noFill/>
          <a:ln/>
        </p:spPr>
        <p:txBody>
          <a:bodyPr wrap="square" lIns="0" tIns="0" rIns="0" bIns="0" rtlCol="0" anchor="ctr"/>
          <a:lstStyle/>
          <a:p>
            <a:pPr algn="ctr" indent="0" marL="0">
              <a:buNone/>
            </a:pPr>
            <a:r>
              <a:rPr lang="en-US" sz="1500" b="1" dirty="0">
                <a:solidFill>
                  <a:srgbClr val="12385B"/>
                </a:solidFill>
              </a:rPr>
              <a:t>Interpret</a:t>
            </a:r>
            <a:endParaRPr lang="en-US" sz="1500" dirty="0"/>
          </a:p>
        </p:txBody>
      </p:sp>
      <p:sp>
        <p:nvSpPr>
          <p:cNvPr id="30" name="Text 28"/>
          <p:cNvSpPr/>
          <p:nvPr/>
        </p:nvSpPr>
        <p:spPr>
          <a:xfrm>
            <a:off x="9866376" y="2670048"/>
            <a:ext cx="1645920" cy="457200"/>
          </a:xfrm>
          <a:prstGeom prst="rect">
            <a:avLst/>
          </a:prstGeom>
          <a:noFill/>
          <a:ln/>
        </p:spPr>
        <p:txBody>
          <a:bodyPr wrap="square" lIns="0" tIns="0" rIns="0" bIns="0" rtlCol="0" anchor="ctr">
            <a:normAutofit/>
          </a:bodyPr>
          <a:lstStyle/>
          <a:p>
            <a:pPr algn="ctr" indent="0" marL="0">
              <a:buNone/>
            </a:pPr>
            <a:r>
              <a:rPr lang="en-US" sz="970" dirty="0">
                <a:solidFill>
                  <a:srgbClr val="5B6770"/>
                </a:solidFill>
              </a:rPr>
              <a:t>Feature selection, permutation importance, SHAP</a:t>
            </a:r>
            <a:endParaRPr lang="en-US" sz="970" dirty="0"/>
          </a:p>
        </p:txBody>
      </p:sp>
      <p:sp>
        <p:nvSpPr>
          <p:cNvPr id="31" name="Text 29"/>
          <p:cNvSpPr/>
          <p:nvPr/>
        </p:nvSpPr>
        <p:spPr>
          <a:xfrm>
            <a:off x="777240" y="4251960"/>
            <a:ext cx="2560320" cy="228600"/>
          </a:xfrm>
          <a:prstGeom prst="rect">
            <a:avLst/>
          </a:prstGeom>
          <a:noFill/>
          <a:ln/>
        </p:spPr>
        <p:txBody>
          <a:bodyPr wrap="square" lIns="0" tIns="0" rIns="0" bIns="0" rtlCol="0" anchor="ctr"/>
          <a:lstStyle/>
          <a:p>
            <a:pPr indent="0" marL="0">
              <a:buNone/>
            </a:pPr>
            <a:r>
              <a:rPr lang="en-US" sz="1400" b="1" dirty="0">
                <a:solidFill>
                  <a:srgbClr val="12385B"/>
                </a:solidFill>
              </a:rPr>
              <a:t>Evaluation metrics used</a:t>
            </a:r>
            <a:endParaRPr lang="en-US" sz="1400" dirty="0"/>
          </a:p>
        </p:txBody>
      </p:sp>
      <p:sp>
        <p:nvSpPr>
          <p:cNvPr id="32" name="Text 30"/>
          <p:cNvSpPr/>
          <p:nvPr/>
        </p:nvSpPr>
        <p:spPr>
          <a:xfrm>
            <a:off x="777240" y="4663440"/>
            <a:ext cx="4983480" cy="502920"/>
          </a:xfrm>
          <a:prstGeom prst="rect">
            <a:avLst/>
          </a:prstGeom>
          <a:noFill/>
          <a:ln/>
        </p:spPr>
        <p:txBody>
          <a:bodyPr wrap="square" lIns="0" tIns="0" rIns="0" bIns="0" rtlCol="0" anchor="ctr">
            <a:normAutofit/>
          </a:bodyPr>
          <a:lstStyle/>
          <a:p>
            <a:pPr indent="0" marL="0">
              <a:buNone/>
            </a:pPr>
            <a:r>
              <a:rPr lang="en-US" sz="1500" b="1" dirty="0">
                <a:solidFill>
                  <a:srgbClr val="12385B"/>
                </a:solidFill>
              </a:rPr>
              <a:t>Accuracy · Balanced accuracy · Precision · Recall · F1-score · ROC-AUC · PR-AUC</a:t>
            </a:r>
            <a:endParaRPr lang="en-US" sz="1500" dirty="0"/>
          </a:p>
        </p:txBody>
      </p:sp>
      <p:sp>
        <p:nvSpPr>
          <p:cNvPr id="33" name="Shape 31"/>
          <p:cNvSpPr/>
          <p:nvPr/>
        </p:nvSpPr>
        <p:spPr>
          <a:xfrm>
            <a:off x="6537960" y="4069080"/>
            <a:ext cx="4892040" cy="1143000"/>
          </a:xfrm>
          <a:prstGeom prst="roundRect">
            <a:avLst>
              <a:gd name="adj" fmla="val 6400"/>
            </a:avLst>
          </a:prstGeom>
          <a:solidFill>
            <a:srgbClr val="F5F7FA"/>
          </a:solidFill>
          <a:ln w="12700">
            <a:solidFill>
              <a:srgbClr val="D8DEE6">
                <a:alpha val="80000"/>
              </a:srgbClr>
            </a:solidFill>
            <a:prstDash val="solid"/>
          </a:ln>
        </p:spPr>
      </p:sp>
      <p:sp>
        <p:nvSpPr>
          <p:cNvPr id="34" name="Text 32"/>
          <p:cNvSpPr/>
          <p:nvPr/>
        </p:nvSpPr>
        <p:spPr>
          <a:xfrm>
            <a:off x="6812280" y="4279392"/>
            <a:ext cx="2834640" cy="182880"/>
          </a:xfrm>
          <a:prstGeom prst="rect">
            <a:avLst/>
          </a:prstGeom>
          <a:noFill/>
          <a:ln/>
        </p:spPr>
        <p:txBody>
          <a:bodyPr wrap="square" lIns="0" tIns="0" rIns="0" bIns="0" rtlCol="0" anchor="ctr"/>
          <a:lstStyle/>
          <a:p>
            <a:pPr indent="0" marL="0">
              <a:buNone/>
            </a:pPr>
            <a:r>
              <a:rPr lang="en-US" sz="1200" b="1" dirty="0">
                <a:solidFill>
                  <a:srgbClr val="149C7E"/>
                </a:solidFill>
              </a:rPr>
              <a:t>Key principle</a:t>
            </a:r>
            <a:endParaRPr lang="en-US" sz="1200" dirty="0"/>
          </a:p>
        </p:txBody>
      </p:sp>
      <p:sp>
        <p:nvSpPr>
          <p:cNvPr id="35" name="Text 33"/>
          <p:cNvSpPr/>
          <p:nvPr/>
        </p:nvSpPr>
        <p:spPr>
          <a:xfrm>
            <a:off x="6812280" y="4590288"/>
            <a:ext cx="4160520" cy="411480"/>
          </a:xfrm>
          <a:prstGeom prst="rect">
            <a:avLst/>
          </a:prstGeom>
          <a:noFill/>
          <a:ln/>
        </p:spPr>
        <p:txBody>
          <a:bodyPr wrap="square" lIns="0" tIns="0" rIns="0" bIns="0" rtlCol="0" anchor="ctr">
            <a:normAutofit/>
          </a:bodyPr>
          <a:lstStyle/>
          <a:p>
            <a:pPr indent="0" marL="0">
              <a:buNone/>
            </a:pPr>
            <a:r>
              <a:rPr lang="en-US" sz="1150" dirty="0">
                <a:solidFill>
                  <a:srgbClr val="1F2933"/>
                </a:solidFill>
              </a:rPr>
              <a:t>Fit preprocessing only on training data; compare models on validation; report final performance on the held-out test set.</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49C7E"/>
          </a:solidFill>
          <a:ln w="12700">
            <a:solidFill>
              <a:srgbClr val="149C7E"/>
            </a:solidFill>
            <a:prstDash val="solid"/>
          </a:ln>
        </p:spPr>
      </p:sp>
      <p:sp>
        <p:nvSpPr>
          <p:cNvPr id="3" name="Text 1"/>
          <p:cNvSpPr/>
          <p:nvPr/>
        </p:nvSpPr>
        <p:spPr>
          <a:xfrm>
            <a:off x="502920" y="310896"/>
            <a:ext cx="8138160" cy="384048"/>
          </a:xfrm>
          <a:prstGeom prst="rect">
            <a:avLst/>
          </a:prstGeom>
          <a:noFill/>
          <a:ln/>
        </p:spPr>
        <p:txBody>
          <a:bodyPr wrap="square" lIns="0" tIns="0" rIns="0" bIns="0" rtlCol="0" anchor="ctr"/>
          <a:lstStyle/>
          <a:p>
            <a:pPr indent="0" marL="0">
              <a:buNone/>
            </a:pPr>
            <a:r>
              <a:rPr lang="en-US" sz="2600" b="1" dirty="0">
                <a:solidFill>
                  <a:srgbClr val="12385B"/>
                </a:solidFill>
                <a:latin typeface="Aptos Display" pitchFamily="34" charset="0"/>
                <a:ea typeface="Aptos Display" pitchFamily="34" charset="-122"/>
                <a:cs typeface="Aptos Display" pitchFamily="34" charset="-120"/>
              </a:rPr>
              <a:t>Preprocessing and Architectural Decisions</a:t>
            </a:r>
            <a:endParaRPr lang="en-US" sz="2600" dirty="0"/>
          </a:p>
        </p:txBody>
      </p:sp>
      <p:sp>
        <p:nvSpPr>
          <p:cNvPr id="4" name="Text 2"/>
          <p:cNvSpPr/>
          <p:nvPr/>
        </p:nvSpPr>
        <p:spPr>
          <a:xfrm>
            <a:off x="521208" y="749808"/>
            <a:ext cx="10789920" cy="237744"/>
          </a:xfrm>
          <a:prstGeom prst="rect">
            <a:avLst/>
          </a:prstGeom>
          <a:noFill/>
          <a:ln/>
        </p:spPr>
        <p:txBody>
          <a:bodyPr wrap="square" lIns="0" tIns="0" rIns="0" bIns="0" rtlCol="0" anchor="ctr"/>
          <a:lstStyle/>
          <a:p>
            <a:pPr indent="0" marL="0">
              <a:buNone/>
            </a:pPr>
            <a:r>
              <a:rPr lang="en-US" sz="1050" dirty="0">
                <a:solidFill>
                  <a:srgbClr val="5B6770"/>
                </a:solidFill>
              </a:rPr>
              <a:t>Separate pipelines were built because Logistic Regression and Random Forest need different transformations.</a:t>
            </a:r>
            <a:endParaRPr lang="en-US" sz="1050" dirty="0"/>
          </a:p>
        </p:txBody>
      </p:sp>
      <p:sp>
        <p:nvSpPr>
          <p:cNvPr id="5" name="Text 3"/>
          <p:cNvSpPr/>
          <p:nvPr/>
        </p:nvSpPr>
        <p:spPr>
          <a:xfrm>
            <a:off x="502920" y="6483096"/>
            <a:ext cx="4572000" cy="164592"/>
          </a:xfrm>
          <a:prstGeom prst="rect">
            <a:avLst/>
          </a:prstGeom>
          <a:noFill/>
          <a:ln/>
        </p:spPr>
        <p:txBody>
          <a:bodyPr wrap="square" lIns="0" tIns="0" rIns="0" bIns="0" rtlCol="0" anchor="ctr"/>
          <a:lstStyle/>
          <a:p>
            <a:pPr indent="0" marL="0">
              <a:buNone/>
            </a:pPr>
            <a:r>
              <a:rPr lang="en-US" sz="800" dirty="0">
                <a:solidFill>
                  <a:srgbClr val="7B8794"/>
                </a:solidFill>
              </a:rPr>
              <a:t>Bank Marketing Subscription Prediction</a:t>
            </a:r>
            <a:endParaRPr lang="en-US" sz="800" dirty="0"/>
          </a:p>
        </p:txBody>
      </p:sp>
      <p:sp>
        <p:nvSpPr>
          <p:cNvPr id="6" name="Text 4"/>
          <p:cNvSpPr/>
          <p:nvPr/>
        </p:nvSpPr>
        <p:spPr>
          <a:xfrm>
            <a:off x="11384280" y="6464808"/>
            <a:ext cx="320040" cy="164592"/>
          </a:xfrm>
          <a:prstGeom prst="rect">
            <a:avLst/>
          </a:prstGeom>
          <a:noFill/>
          <a:ln/>
        </p:spPr>
        <p:txBody>
          <a:bodyPr wrap="square" lIns="0" tIns="0" rIns="0" bIns="0" rtlCol="0" anchor="ctr"/>
          <a:lstStyle/>
          <a:p>
            <a:pPr algn="r" indent="0" marL="0">
              <a:buNone/>
            </a:pPr>
            <a:r>
              <a:rPr lang="en-US" sz="800" dirty="0">
                <a:solidFill>
                  <a:srgbClr val="7B8794"/>
                </a:solidFill>
              </a:rPr>
              <a:t>05</a:t>
            </a:r>
            <a:endParaRPr lang="en-US" sz="800" dirty="0"/>
          </a:p>
        </p:txBody>
      </p:sp>
      <p:sp>
        <p:nvSpPr>
          <p:cNvPr id="7" name="Shape 5"/>
          <p:cNvSpPr/>
          <p:nvPr/>
        </p:nvSpPr>
        <p:spPr>
          <a:xfrm>
            <a:off x="640080" y="1188720"/>
            <a:ext cx="3337560" cy="4206240"/>
          </a:xfrm>
          <a:prstGeom prst="roundRect">
            <a:avLst>
              <a:gd name="adj" fmla="val 2192"/>
            </a:avLst>
          </a:prstGeom>
          <a:solidFill>
            <a:srgbClr val="E7F6F2"/>
          </a:solidFill>
          <a:ln w="12700">
            <a:solidFill>
              <a:srgbClr val="D8DEE6">
                <a:alpha val="65000"/>
              </a:srgbClr>
            </a:solidFill>
            <a:prstDash val="solid"/>
          </a:ln>
        </p:spPr>
      </p:sp>
      <p:sp>
        <p:nvSpPr>
          <p:cNvPr id="8" name="Text 6"/>
          <p:cNvSpPr/>
          <p:nvPr/>
        </p:nvSpPr>
        <p:spPr>
          <a:xfrm>
            <a:off x="914400" y="1572768"/>
            <a:ext cx="1828800" cy="228600"/>
          </a:xfrm>
          <a:prstGeom prst="rect">
            <a:avLst/>
          </a:prstGeom>
          <a:noFill/>
          <a:ln/>
        </p:spPr>
        <p:txBody>
          <a:bodyPr wrap="square" lIns="0" tIns="0" rIns="0" bIns="0" rtlCol="0" anchor="ctr"/>
          <a:lstStyle/>
          <a:p>
            <a:pPr indent="0" marL="0">
              <a:buNone/>
            </a:pPr>
            <a:r>
              <a:rPr lang="en-US" sz="1400" b="1" dirty="0">
                <a:solidFill>
                  <a:srgbClr val="12385B"/>
                </a:solidFill>
              </a:rPr>
              <a:t>Data split</a:t>
            </a:r>
            <a:endParaRPr lang="en-US" sz="1400" dirty="0"/>
          </a:p>
        </p:txBody>
      </p:sp>
      <p:sp>
        <p:nvSpPr>
          <p:cNvPr id="9" name="Text 7"/>
          <p:cNvSpPr/>
          <p:nvPr/>
        </p:nvSpPr>
        <p:spPr>
          <a:xfrm>
            <a:off x="914400" y="2057400"/>
            <a:ext cx="2606040" cy="1417320"/>
          </a:xfrm>
          <a:prstGeom prst="rect">
            <a:avLst/>
          </a:prstGeom>
          <a:noFill/>
          <a:ln/>
        </p:spPr>
        <p:txBody>
          <a:bodyPr wrap="square" lIns="254" tIns="254" rIns="254" bIns="254" rtlCol="0" anchor="t">
            <a:normAutofit/>
          </a:bodyPr>
          <a:lstStyle/>
          <a:p>
            <a:pPr indent="0" marL="0">
              <a:buNone/>
            </a:pPr>
            <a:r>
              <a:rPr lang="en-US" sz="1250" dirty="0">
                <a:solidFill>
                  <a:srgbClr val="1F2933"/>
                </a:solidFill>
              </a:rPr>
              <a:t>• Training: 60%</a:t>
            </a:r>
            <a:endParaRPr lang="en-US" sz="1250" dirty="0"/>
          </a:p>
          <a:p>
            <a:pPr indent="0" marL="0">
              <a:buNone/>
            </a:pPr>
            <a:r>
              <a:rPr lang="en-US" sz="1250" dirty="0">
                <a:solidFill>
                  <a:srgbClr val="1F2933"/>
                </a:solidFill>
              </a:rPr>
              <a:t>• Validation: 20%</a:t>
            </a:r>
            <a:endParaRPr lang="en-US" sz="1250" dirty="0"/>
          </a:p>
          <a:p>
            <a:pPr indent="0" marL="0">
              <a:buNone/>
            </a:pPr>
            <a:r>
              <a:rPr lang="en-US" sz="1250" dirty="0">
                <a:solidFill>
                  <a:srgbClr val="1F2933"/>
                </a:solidFill>
              </a:rPr>
              <a:t>• Test: 20%</a:t>
            </a:r>
            <a:endParaRPr lang="en-US" sz="1250" dirty="0"/>
          </a:p>
          <a:p>
            <a:pPr indent="0" marL="0">
              <a:buNone/>
            </a:pPr>
            <a:r>
              <a:rPr lang="en-US" sz="1250" dirty="0">
                <a:solidFill>
                  <a:srgbClr val="1F2933"/>
                </a:solidFill>
              </a:rPr>
              <a:t>• Stratified by target class</a:t>
            </a:r>
            <a:endParaRPr lang="en-US" sz="1250" dirty="0"/>
          </a:p>
        </p:txBody>
      </p:sp>
      <p:sp>
        <p:nvSpPr>
          <p:cNvPr id="10" name="Shape 8"/>
          <p:cNvSpPr/>
          <p:nvPr/>
        </p:nvSpPr>
        <p:spPr>
          <a:xfrm>
            <a:off x="960120" y="4069080"/>
            <a:ext cx="2148840" cy="777240"/>
          </a:xfrm>
          <a:prstGeom prst="roundRect">
            <a:avLst>
              <a:gd name="adj" fmla="val 7059"/>
            </a:avLst>
          </a:prstGeom>
          <a:solidFill>
            <a:srgbClr val="FFFFFF"/>
          </a:solidFill>
          <a:ln w="12700">
            <a:solidFill>
              <a:srgbClr val="D8DEE6">
                <a:alpha val="80000"/>
              </a:srgbClr>
            </a:solidFill>
            <a:prstDash val="solid"/>
          </a:ln>
        </p:spPr>
      </p:sp>
      <p:sp>
        <p:nvSpPr>
          <p:cNvPr id="11" name="Shape 9"/>
          <p:cNvSpPr/>
          <p:nvPr/>
        </p:nvSpPr>
        <p:spPr>
          <a:xfrm>
            <a:off x="960120" y="4069080"/>
            <a:ext cx="54864" cy="777240"/>
          </a:xfrm>
          <a:prstGeom prst="rect">
            <a:avLst/>
          </a:prstGeom>
          <a:solidFill>
            <a:srgbClr val="149C7E"/>
          </a:solidFill>
          <a:ln w="12700">
            <a:solidFill>
              <a:srgbClr val="149C7E"/>
            </a:solidFill>
            <a:prstDash val="solid"/>
          </a:ln>
        </p:spPr>
      </p:sp>
      <p:sp>
        <p:nvSpPr>
          <p:cNvPr id="12" name="Text 10"/>
          <p:cNvSpPr/>
          <p:nvPr/>
        </p:nvSpPr>
        <p:spPr>
          <a:xfrm>
            <a:off x="1106424" y="4197096"/>
            <a:ext cx="1947672" cy="256032"/>
          </a:xfrm>
          <a:prstGeom prst="rect">
            <a:avLst/>
          </a:prstGeom>
          <a:noFill/>
          <a:ln/>
        </p:spPr>
        <p:txBody>
          <a:bodyPr wrap="square" lIns="0" tIns="0" rIns="0" bIns="0" rtlCol="0" anchor="ctr"/>
          <a:lstStyle/>
          <a:p>
            <a:pPr algn="ctr" indent="0" marL="0">
              <a:buNone/>
            </a:pPr>
            <a:r>
              <a:rPr lang="en-US" sz="1800" b="1" dirty="0">
                <a:solidFill>
                  <a:srgbClr val="149C7E"/>
                </a:solidFill>
              </a:rPr>
              <a:t>≈11.7%</a:t>
            </a:r>
            <a:endParaRPr lang="en-US" sz="1800" dirty="0"/>
          </a:p>
        </p:txBody>
      </p:sp>
      <p:sp>
        <p:nvSpPr>
          <p:cNvPr id="13" name="Text 11"/>
          <p:cNvSpPr/>
          <p:nvPr/>
        </p:nvSpPr>
        <p:spPr>
          <a:xfrm>
            <a:off x="1069848" y="4507992"/>
            <a:ext cx="1965960" cy="164592"/>
          </a:xfrm>
          <a:prstGeom prst="rect">
            <a:avLst/>
          </a:prstGeom>
          <a:noFill/>
          <a:ln/>
        </p:spPr>
        <p:txBody>
          <a:bodyPr wrap="square" lIns="0" tIns="0" rIns="0" bIns="0" rtlCol="0" anchor="ctr"/>
          <a:lstStyle/>
          <a:p>
            <a:pPr algn="ctr" indent="0" marL="0">
              <a:buNone/>
            </a:pPr>
            <a:r>
              <a:rPr lang="en-US" sz="850" dirty="0">
                <a:solidFill>
                  <a:srgbClr val="5B6770"/>
                </a:solidFill>
              </a:rPr>
              <a:t>positive rate retained</a:t>
            </a:r>
            <a:endParaRPr lang="en-US" sz="850" dirty="0"/>
          </a:p>
        </p:txBody>
      </p:sp>
      <p:sp>
        <p:nvSpPr>
          <p:cNvPr id="14" name="Shape 12"/>
          <p:cNvSpPr/>
          <p:nvPr/>
        </p:nvSpPr>
        <p:spPr>
          <a:xfrm>
            <a:off x="4343400" y="1188720"/>
            <a:ext cx="3337560" cy="4206240"/>
          </a:xfrm>
          <a:prstGeom prst="roundRect">
            <a:avLst>
              <a:gd name="adj" fmla="val 2192"/>
            </a:avLst>
          </a:prstGeom>
          <a:solidFill>
            <a:srgbClr val="EAF3FA"/>
          </a:solidFill>
          <a:ln w="12700">
            <a:solidFill>
              <a:srgbClr val="D8DEE6">
                <a:alpha val="65000"/>
              </a:srgbClr>
            </a:solidFill>
            <a:prstDash val="solid"/>
          </a:ln>
        </p:spPr>
      </p:sp>
      <p:sp>
        <p:nvSpPr>
          <p:cNvPr id="15" name="Text 13"/>
          <p:cNvSpPr/>
          <p:nvPr/>
        </p:nvSpPr>
        <p:spPr>
          <a:xfrm>
            <a:off x="4617720" y="1572768"/>
            <a:ext cx="2286000" cy="228600"/>
          </a:xfrm>
          <a:prstGeom prst="rect">
            <a:avLst/>
          </a:prstGeom>
          <a:noFill/>
          <a:ln/>
        </p:spPr>
        <p:txBody>
          <a:bodyPr wrap="square" lIns="0" tIns="0" rIns="0" bIns="0" rtlCol="0" anchor="ctr"/>
          <a:lstStyle/>
          <a:p>
            <a:pPr indent="0" marL="0">
              <a:buNone/>
            </a:pPr>
            <a:r>
              <a:rPr lang="en-US" sz="1400" b="1" dirty="0">
                <a:solidFill>
                  <a:srgbClr val="12385B"/>
                </a:solidFill>
              </a:rPr>
              <a:t>Logistic Regression</a:t>
            </a:r>
            <a:endParaRPr lang="en-US" sz="1400" dirty="0"/>
          </a:p>
        </p:txBody>
      </p:sp>
      <p:sp>
        <p:nvSpPr>
          <p:cNvPr id="16" name="Text 14"/>
          <p:cNvSpPr/>
          <p:nvPr/>
        </p:nvSpPr>
        <p:spPr>
          <a:xfrm>
            <a:off x="4617720" y="2057400"/>
            <a:ext cx="2606040" cy="1280160"/>
          </a:xfrm>
          <a:prstGeom prst="rect">
            <a:avLst/>
          </a:prstGeom>
          <a:noFill/>
          <a:ln/>
        </p:spPr>
        <p:txBody>
          <a:bodyPr wrap="square" lIns="254" tIns="254" rIns="254" bIns="254" rtlCol="0" anchor="t">
            <a:normAutofit/>
          </a:bodyPr>
          <a:lstStyle/>
          <a:p>
            <a:pPr indent="0" marL="0">
              <a:buNone/>
            </a:pPr>
            <a:r>
              <a:rPr lang="en-US" sz="1250" dirty="0">
                <a:solidFill>
                  <a:srgbClr val="1F2933"/>
                </a:solidFill>
              </a:rPr>
              <a:t>• StandardScaler for numerical features</a:t>
            </a:r>
            <a:endParaRPr lang="en-US" sz="1250" dirty="0"/>
          </a:p>
          <a:p>
            <a:pPr indent="0" marL="0">
              <a:buNone/>
            </a:pPr>
            <a:r>
              <a:rPr lang="en-US" sz="1250" dirty="0">
                <a:solidFill>
                  <a:srgbClr val="1F2933"/>
                </a:solidFill>
              </a:rPr>
              <a:t>• OneHotEncoder for categorical features</a:t>
            </a:r>
            <a:endParaRPr lang="en-US" sz="1250" dirty="0"/>
          </a:p>
          <a:p>
            <a:pPr indent="0" marL="0">
              <a:buNone/>
            </a:pPr>
            <a:r>
              <a:rPr lang="en-US" sz="1250" dirty="0">
                <a:solidFill>
                  <a:srgbClr val="1F2933"/>
                </a:solidFill>
              </a:rPr>
              <a:t>• Simple, interpretable benchmark</a:t>
            </a:r>
            <a:endParaRPr lang="en-US" sz="1250" dirty="0"/>
          </a:p>
        </p:txBody>
      </p:sp>
      <p:sp>
        <p:nvSpPr>
          <p:cNvPr id="17" name="Shape 15"/>
          <p:cNvSpPr/>
          <p:nvPr/>
        </p:nvSpPr>
        <p:spPr>
          <a:xfrm>
            <a:off x="4663440" y="4069080"/>
            <a:ext cx="2148840" cy="777240"/>
          </a:xfrm>
          <a:prstGeom prst="roundRect">
            <a:avLst>
              <a:gd name="adj" fmla="val 7059"/>
            </a:avLst>
          </a:prstGeom>
          <a:solidFill>
            <a:srgbClr val="FFFFFF"/>
          </a:solidFill>
          <a:ln w="12700">
            <a:solidFill>
              <a:srgbClr val="D8DEE6">
                <a:alpha val="80000"/>
              </a:srgbClr>
            </a:solidFill>
            <a:prstDash val="solid"/>
          </a:ln>
        </p:spPr>
      </p:sp>
      <p:sp>
        <p:nvSpPr>
          <p:cNvPr id="18" name="Shape 16"/>
          <p:cNvSpPr/>
          <p:nvPr/>
        </p:nvSpPr>
        <p:spPr>
          <a:xfrm>
            <a:off x="4663440" y="4069080"/>
            <a:ext cx="54864" cy="777240"/>
          </a:xfrm>
          <a:prstGeom prst="rect">
            <a:avLst/>
          </a:prstGeom>
          <a:solidFill>
            <a:srgbClr val="1F77B4"/>
          </a:solidFill>
          <a:ln w="12700">
            <a:solidFill>
              <a:srgbClr val="1F77B4"/>
            </a:solidFill>
            <a:prstDash val="solid"/>
          </a:ln>
        </p:spPr>
      </p:sp>
      <p:sp>
        <p:nvSpPr>
          <p:cNvPr id="19" name="Text 17"/>
          <p:cNvSpPr/>
          <p:nvPr/>
        </p:nvSpPr>
        <p:spPr>
          <a:xfrm>
            <a:off x="4809744" y="4197096"/>
            <a:ext cx="1947672" cy="256032"/>
          </a:xfrm>
          <a:prstGeom prst="rect">
            <a:avLst/>
          </a:prstGeom>
          <a:noFill/>
          <a:ln/>
        </p:spPr>
        <p:txBody>
          <a:bodyPr wrap="square" lIns="0" tIns="0" rIns="0" bIns="0" rtlCol="0" anchor="ctr"/>
          <a:lstStyle/>
          <a:p>
            <a:pPr algn="ctr" indent="0" marL="0">
              <a:buNone/>
            </a:pPr>
            <a:r>
              <a:rPr lang="en-US" sz="1800" b="1" dirty="0">
                <a:solidFill>
                  <a:srgbClr val="1F77B4"/>
                </a:solidFill>
              </a:rPr>
              <a:t>0.907</a:t>
            </a:r>
            <a:endParaRPr lang="en-US" sz="1800" dirty="0"/>
          </a:p>
        </p:txBody>
      </p:sp>
      <p:sp>
        <p:nvSpPr>
          <p:cNvPr id="20" name="Text 18"/>
          <p:cNvSpPr/>
          <p:nvPr/>
        </p:nvSpPr>
        <p:spPr>
          <a:xfrm>
            <a:off x="4773168" y="4507992"/>
            <a:ext cx="1965960" cy="164592"/>
          </a:xfrm>
          <a:prstGeom prst="rect">
            <a:avLst/>
          </a:prstGeom>
          <a:noFill/>
          <a:ln/>
        </p:spPr>
        <p:txBody>
          <a:bodyPr wrap="square" lIns="0" tIns="0" rIns="0" bIns="0" rtlCol="0" anchor="ctr"/>
          <a:lstStyle/>
          <a:p>
            <a:pPr algn="ctr" indent="0" marL="0">
              <a:buNone/>
            </a:pPr>
            <a:r>
              <a:rPr lang="en-US" sz="850" dirty="0">
                <a:solidFill>
                  <a:srgbClr val="5B6770"/>
                </a:solidFill>
              </a:rPr>
              <a:t>validation ROC-AUC</a:t>
            </a:r>
            <a:endParaRPr lang="en-US" sz="850" dirty="0"/>
          </a:p>
        </p:txBody>
      </p:sp>
      <p:sp>
        <p:nvSpPr>
          <p:cNvPr id="21" name="Shape 19"/>
          <p:cNvSpPr/>
          <p:nvPr/>
        </p:nvSpPr>
        <p:spPr>
          <a:xfrm>
            <a:off x="8046720" y="1188720"/>
            <a:ext cx="3429000" cy="4206240"/>
          </a:xfrm>
          <a:prstGeom prst="roundRect">
            <a:avLst>
              <a:gd name="adj" fmla="val 2133"/>
            </a:avLst>
          </a:prstGeom>
          <a:solidFill>
            <a:srgbClr val="F5F7FA"/>
          </a:solidFill>
          <a:ln w="12700">
            <a:solidFill>
              <a:srgbClr val="D8DEE6">
                <a:alpha val="65000"/>
              </a:srgbClr>
            </a:solidFill>
            <a:prstDash val="solid"/>
          </a:ln>
        </p:spPr>
      </p:sp>
      <p:sp>
        <p:nvSpPr>
          <p:cNvPr id="22" name="Text 20"/>
          <p:cNvSpPr/>
          <p:nvPr/>
        </p:nvSpPr>
        <p:spPr>
          <a:xfrm>
            <a:off x="8321040" y="1572768"/>
            <a:ext cx="2103120" cy="228600"/>
          </a:xfrm>
          <a:prstGeom prst="rect">
            <a:avLst/>
          </a:prstGeom>
          <a:noFill/>
          <a:ln/>
        </p:spPr>
        <p:txBody>
          <a:bodyPr wrap="square" lIns="0" tIns="0" rIns="0" bIns="0" rtlCol="0" anchor="ctr"/>
          <a:lstStyle/>
          <a:p>
            <a:pPr indent="0" marL="0">
              <a:buNone/>
            </a:pPr>
            <a:r>
              <a:rPr lang="en-US" sz="1400" b="1" dirty="0">
                <a:solidFill>
                  <a:srgbClr val="12385B"/>
                </a:solidFill>
              </a:rPr>
              <a:t>Random Forest</a:t>
            </a:r>
            <a:endParaRPr lang="en-US" sz="1400" dirty="0"/>
          </a:p>
        </p:txBody>
      </p:sp>
      <p:sp>
        <p:nvSpPr>
          <p:cNvPr id="23" name="Text 21"/>
          <p:cNvSpPr/>
          <p:nvPr/>
        </p:nvSpPr>
        <p:spPr>
          <a:xfrm>
            <a:off x="8321040" y="2057400"/>
            <a:ext cx="2697480" cy="1280160"/>
          </a:xfrm>
          <a:prstGeom prst="rect">
            <a:avLst/>
          </a:prstGeom>
          <a:noFill/>
          <a:ln/>
        </p:spPr>
        <p:txBody>
          <a:bodyPr wrap="square" lIns="254" tIns="254" rIns="254" bIns="254" rtlCol="0" anchor="t">
            <a:normAutofit/>
          </a:bodyPr>
          <a:lstStyle/>
          <a:p>
            <a:pPr indent="0" marL="0">
              <a:buNone/>
            </a:pPr>
            <a:r>
              <a:rPr lang="en-US" sz="1250" dirty="0">
                <a:solidFill>
                  <a:srgbClr val="1F2933"/>
                </a:solidFill>
              </a:rPr>
              <a:t>• Numerical features passed through</a:t>
            </a:r>
            <a:endParaRPr lang="en-US" sz="1250" dirty="0"/>
          </a:p>
          <a:p>
            <a:pPr indent="0" marL="0">
              <a:buNone/>
            </a:pPr>
            <a:r>
              <a:rPr lang="en-US" sz="1250" dirty="0">
                <a:solidFill>
                  <a:srgbClr val="1F2933"/>
                </a:solidFill>
              </a:rPr>
              <a:t>• OneHotEncoder for categorical features</a:t>
            </a:r>
            <a:endParaRPr lang="en-US" sz="1250" dirty="0"/>
          </a:p>
          <a:p>
            <a:pPr indent="0" marL="0">
              <a:buNone/>
            </a:pPr>
            <a:r>
              <a:rPr lang="en-US" sz="1250" dirty="0">
                <a:solidFill>
                  <a:srgbClr val="1F2933"/>
                </a:solidFill>
              </a:rPr>
              <a:t>• Captures nonlinear effects and interactions</a:t>
            </a:r>
            <a:endParaRPr lang="en-US" sz="1250" dirty="0"/>
          </a:p>
        </p:txBody>
      </p:sp>
      <p:sp>
        <p:nvSpPr>
          <p:cNvPr id="24" name="Shape 22"/>
          <p:cNvSpPr/>
          <p:nvPr/>
        </p:nvSpPr>
        <p:spPr>
          <a:xfrm>
            <a:off x="8366760" y="4069080"/>
            <a:ext cx="2148840" cy="777240"/>
          </a:xfrm>
          <a:prstGeom prst="roundRect">
            <a:avLst>
              <a:gd name="adj" fmla="val 7059"/>
            </a:avLst>
          </a:prstGeom>
          <a:solidFill>
            <a:srgbClr val="FFFFFF"/>
          </a:solidFill>
          <a:ln w="12700">
            <a:solidFill>
              <a:srgbClr val="D8DEE6">
                <a:alpha val="80000"/>
              </a:srgbClr>
            </a:solidFill>
            <a:prstDash val="solid"/>
          </a:ln>
        </p:spPr>
      </p:sp>
      <p:sp>
        <p:nvSpPr>
          <p:cNvPr id="25" name="Shape 23"/>
          <p:cNvSpPr/>
          <p:nvPr/>
        </p:nvSpPr>
        <p:spPr>
          <a:xfrm>
            <a:off x="8366760" y="4069080"/>
            <a:ext cx="54864" cy="777240"/>
          </a:xfrm>
          <a:prstGeom prst="rect">
            <a:avLst/>
          </a:prstGeom>
          <a:solidFill>
            <a:srgbClr val="149C7E"/>
          </a:solidFill>
          <a:ln w="12700">
            <a:solidFill>
              <a:srgbClr val="149C7E"/>
            </a:solidFill>
            <a:prstDash val="solid"/>
          </a:ln>
        </p:spPr>
      </p:sp>
      <p:sp>
        <p:nvSpPr>
          <p:cNvPr id="26" name="Text 24"/>
          <p:cNvSpPr/>
          <p:nvPr/>
        </p:nvSpPr>
        <p:spPr>
          <a:xfrm>
            <a:off x="8513064" y="4197096"/>
            <a:ext cx="1947672" cy="256032"/>
          </a:xfrm>
          <a:prstGeom prst="rect">
            <a:avLst/>
          </a:prstGeom>
          <a:noFill/>
          <a:ln/>
        </p:spPr>
        <p:txBody>
          <a:bodyPr wrap="square" lIns="0" tIns="0" rIns="0" bIns="0" rtlCol="0" anchor="ctr"/>
          <a:lstStyle/>
          <a:p>
            <a:pPr algn="ctr" indent="0" marL="0">
              <a:buNone/>
            </a:pPr>
            <a:r>
              <a:rPr lang="en-US" sz="1800" b="1" dirty="0">
                <a:solidFill>
                  <a:srgbClr val="149C7E"/>
                </a:solidFill>
              </a:rPr>
              <a:t>0.929</a:t>
            </a:r>
            <a:endParaRPr lang="en-US" sz="1800" dirty="0"/>
          </a:p>
        </p:txBody>
      </p:sp>
      <p:sp>
        <p:nvSpPr>
          <p:cNvPr id="27" name="Text 25"/>
          <p:cNvSpPr/>
          <p:nvPr/>
        </p:nvSpPr>
        <p:spPr>
          <a:xfrm>
            <a:off x="8476488" y="4507992"/>
            <a:ext cx="1965960" cy="164592"/>
          </a:xfrm>
          <a:prstGeom prst="rect">
            <a:avLst/>
          </a:prstGeom>
          <a:noFill/>
          <a:ln/>
        </p:spPr>
        <p:txBody>
          <a:bodyPr wrap="square" lIns="0" tIns="0" rIns="0" bIns="0" rtlCol="0" anchor="ctr"/>
          <a:lstStyle/>
          <a:p>
            <a:pPr algn="ctr" indent="0" marL="0">
              <a:buNone/>
            </a:pPr>
            <a:r>
              <a:rPr lang="en-US" sz="850" dirty="0">
                <a:solidFill>
                  <a:srgbClr val="5B6770"/>
                </a:solidFill>
              </a:rPr>
              <a:t>validation ROC-AUC</a:t>
            </a:r>
            <a:endParaRPr lang="en-US" sz="850" dirty="0"/>
          </a:p>
        </p:txBody>
      </p:sp>
      <p:sp>
        <p:nvSpPr>
          <p:cNvPr id="28" name="Text 26"/>
          <p:cNvSpPr/>
          <p:nvPr/>
        </p:nvSpPr>
        <p:spPr>
          <a:xfrm>
            <a:off x="960120" y="5806440"/>
            <a:ext cx="10241280" cy="256032"/>
          </a:xfrm>
          <a:prstGeom prst="rect">
            <a:avLst/>
          </a:prstGeom>
          <a:noFill/>
          <a:ln/>
        </p:spPr>
        <p:txBody>
          <a:bodyPr wrap="square" lIns="0" tIns="0" rIns="0" bIns="0" rtlCol="0" anchor="ctr"/>
          <a:lstStyle/>
          <a:p>
            <a:pPr algn="ctr" indent="0" marL="0">
              <a:buNone/>
            </a:pPr>
            <a:r>
              <a:rPr lang="en-US" sz="1300" b="1" dirty="0">
                <a:solidFill>
                  <a:srgbClr val="12385B"/>
                </a:solidFill>
              </a:rPr>
              <a:t>Pipelines keep preprocessing and modeling reproducible and reduce the risk of data leakage.</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49C7E"/>
          </a:solidFill>
          <a:ln w="12700">
            <a:solidFill>
              <a:srgbClr val="149C7E"/>
            </a:solidFill>
            <a:prstDash val="solid"/>
          </a:ln>
        </p:spPr>
      </p:sp>
      <p:sp>
        <p:nvSpPr>
          <p:cNvPr id="3" name="Text 1"/>
          <p:cNvSpPr/>
          <p:nvPr/>
        </p:nvSpPr>
        <p:spPr>
          <a:xfrm>
            <a:off x="502920" y="310896"/>
            <a:ext cx="8138160" cy="384048"/>
          </a:xfrm>
          <a:prstGeom prst="rect">
            <a:avLst/>
          </a:prstGeom>
          <a:noFill/>
          <a:ln/>
        </p:spPr>
        <p:txBody>
          <a:bodyPr wrap="square" lIns="0" tIns="0" rIns="0" bIns="0" rtlCol="0" anchor="ctr"/>
          <a:lstStyle/>
          <a:p>
            <a:pPr indent="0" marL="0">
              <a:buNone/>
            </a:pPr>
            <a:r>
              <a:rPr lang="en-US" sz="2600" b="1" dirty="0">
                <a:solidFill>
                  <a:srgbClr val="12385B"/>
                </a:solidFill>
                <a:latin typeface="Aptos Display" pitchFamily="34" charset="0"/>
                <a:ea typeface="Aptos Display" pitchFamily="34" charset="-122"/>
                <a:cs typeface="Aptos Display" pitchFamily="34" charset="-120"/>
              </a:rPr>
              <a:t>Models Compared</a:t>
            </a:r>
            <a:endParaRPr lang="en-US" sz="2600" dirty="0"/>
          </a:p>
        </p:txBody>
      </p:sp>
      <p:sp>
        <p:nvSpPr>
          <p:cNvPr id="4" name="Text 2"/>
          <p:cNvSpPr/>
          <p:nvPr/>
        </p:nvSpPr>
        <p:spPr>
          <a:xfrm>
            <a:off x="521208" y="749808"/>
            <a:ext cx="10789920" cy="237744"/>
          </a:xfrm>
          <a:prstGeom prst="rect">
            <a:avLst/>
          </a:prstGeom>
          <a:noFill/>
          <a:ln/>
        </p:spPr>
        <p:txBody>
          <a:bodyPr wrap="square" lIns="0" tIns="0" rIns="0" bIns="0" rtlCol="0" anchor="ctr"/>
          <a:lstStyle/>
          <a:p>
            <a:pPr indent="0" marL="0">
              <a:buNone/>
            </a:pPr>
            <a:r>
              <a:rPr lang="en-US" sz="1050" dirty="0">
                <a:solidFill>
                  <a:srgbClr val="5B6770"/>
                </a:solidFill>
              </a:rPr>
              <a:t>The baseline exposes the limits of accuracy; the Random Forest is the strongest predictive model.</a:t>
            </a:r>
            <a:endParaRPr lang="en-US" sz="1050" dirty="0"/>
          </a:p>
        </p:txBody>
      </p:sp>
      <p:sp>
        <p:nvSpPr>
          <p:cNvPr id="5" name="Text 3"/>
          <p:cNvSpPr/>
          <p:nvPr/>
        </p:nvSpPr>
        <p:spPr>
          <a:xfrm>
            <a:off x="502920" y="6483096"/>
            <a:ext cx="4572000" cy="164592"/>
          </a:xfrm>
          <a:prstGeom prst="rect">
            <a:avLst/>
          </a:prstGeom>
          <a:noFill/>
          <a:ln/>
        </p:spPr>
        <p:txBody>
          <a:bodyPr wrap="square" lIns="0" tIns="0" rIns="0" bIns="0" rtlCol="0" anchor="ctr"/>
          <a:lstStyle/>
          <a:p>
            <a:pPr indent="0" marL="0">
              <a:buNone/>
            </a:pPr>
            <a:r>
              <a:rPr lang="en-US" sz="800" dirty="0">
                <a:solidFill>
                  <a:srgbClr val="7B8794"/>
                </a:solidFill>
              </a:rPr>
              <a:t>Bank Marketing Subscription Prediction</a:t>
            </a:r>
            <a:endParaRPr lang="en-US" sz="800" dirty="0"/>
          </a:p>
        </p:txBody>
      </p:sp>
      <p:sp>
        <p:nvSpPr>
          <p:cNvPr id="6" name="Text 4"/>
          <p:cNvSpPr/>
          <p:nvPr/>
        </p:nvSpPr>
        <p:spPr>
          <a:xfrm>
            <a:off x="11384280" y="6464808"/>
            <a:ext cx="320040" cy="164592"/>
          </a:xfrm>
          <a:prstGeom prst="rect">
            <a:avLst/>
          </a:prstGeom>
          <a:noFill/>
          <a:ln/>
        </p:spPr>
        <p:txBody>
          <a:bodyPr wrap="square" lIns="0" tIns="0" rIns="0" bIns="0" rtlCol="0" anchor="ctr"/>
          <a:lstStyle/>
          <a:p>
            <a:pPr algn="r" indent="0" marL="0">
              <a:buNone/>
            </a:pPr>
            <a:r>
              <a:rPr lang="en-US" sz="800" dirty="0">
                <a:solidFill>
                  <a:srgbClr val="7B8794"/>
                </a:solidFill>
              </a:rPr>
              <a:t>06</a:t>
            </a:r>
            <a:endParaRPr lang="en-US" sz="800" dirty="0"/>
          </a:p>
        </p:txBody>
      </p:sp>
      <p:sp>
        <p:nvSpPr>
          <p:cNvPr id="7" name="Shape 5"/>
          <p:cNvSpPr/>
          <p:nvPr/>
        </p:nvSpPr>
        <p:spPr>
          <a:xfrm>
            <a:off x="594360" y="1298448"/>
            <a:ext cx="1645920" cy="438912"/>
          </a:xfrm>
          <a:prstGeom prst="rect">
            <a:avLst/>
          </a:prstGeom>
          <a:solidFill>
            <a:srgbClr val="12385B"/>
          </a:solidFill>
          <a:ln w="12700">
            <a:solidFill>
              <a:srgbClr val="12385B"/>
            </a:solidFill>
            <a:prstDash val="solid"/>
          </a:ln>
        </p:spPr>
      </p:sp>
      <p:sp>
        <p:nvSpPr>
          <p:cNvPr id="8" name="Text 6"/>
          <p:cNvSpPr/>
          <p:nvPr/>
        </p:nvSpPr>
        <p:spPr>
          <a:xfrm>
            <a:off x="630936" y="1380744"/>
            <a:ext cx="1572768" cy="128016"/>
          </a:xfrm>
          <a:prstGeom prst="rect">
            <a:avLst/>
          </a:prstGeom>
          <a:noFill/>
          <a:ln/>
        </p:spPr>
        <p:txBody>
          <a:bodyPr wrap="square" lIns="0" tIns="0" rIns="0" bIns="0" rtlCol="0" anchor="ctr"/>
          <a:lstStyle/>
          <a:p>
            <a:pPr algn="ctr" indent="0" marL="0">
              <a:buNone/>
            </a:pPr>
            <a:r>
              <a:rPr lang="en-US" sz="850" b="1" dirty="0">
                <a:solidFill>
                  <a:srgbClr val="FFFFFF"/>
                </a:solidFill>
              </a:rPr>
              <a:t>Model</a:t>
            </a:r>
            <a:endParaRPr lang="en-US" sz="850" dirty="0"/>
          </a:p>
        </p:txBody>
      </p:sp>
      <p:sp>
        <p:nvSpPr>
          <p:cNvPr id="9" name="Shape 7"/>
          <p:cNvSpPr/>
          <p:nvPr/>
        </p:nvSpPr>
        <p:spPr>
          <a:xfrm>
            <a:off x="2240280" y="1298448"/>
            <a:ext cx="1005840" cy="438912"/>
          </a:xfrm>
          <a:prstGeom prst="rect">
            <a:avLst/>
          </a:prstGeom>
          <a:solidFill>
            <a:srgbClr val="12385B"/>
          </a:solidFill>
          <a:ln w="12700">
            <a:solidFill>
              <a:srgbClr val="12385B"/>
            </a:solidFill>
            <a:prstDash val="solid"/>
          </a:ln>
        </p:spPr>
      </p:sp>
      <p:sp>
        <p:nvSpPr>
          <p:cNvPr id="10" name="Text 8"/>
          <p:cNvSpPr/>
          <p:nvPr/>
        </p:nvSpPr>
        <p:spPr>
          <a:xfrm>
            <a:off x="2276856" y="1380744"/>
            <a:ext cx="932688" cy="128016"/>
          </a:xfrm>
          <a:prstGeom prst="rect">
            <a:avLst/>
          </a:prstGeom>
          <a:noFill/>
          <a:ln/>
        </p:spPr>
        <p:txBody>
          <a:bodyPr wrap="square" lIns="0" tIns="0" rIns="0" bIns="0" rtlCol="0" anchor="ctr"/>
          <a:lstStyle/>
          <a:p>
            <a:pPr algn="ctr" indent="0" marL="0">
              <a:buNone/>
            </a:pPr>
            <a:r>
              <a:rPr lang="en-US" sz="850" b="1" dirty="0">
                <a:solidFill>
                  <a:srgbClr val="FFFFFF"/>
                </a:solidFill>
              </a:rPr>
              <a:t>Accuracy</a:t>
            </a:r>
            <a:endParaRPr lang="en-US" sz="850" dirty="0"/>
          </a:p>
        </p:txBody>
      </p:sp>
      <p:sp>
        <p:nvSpPr>
          <p:cNvPr id="11" name="Shape 9"/>
          <p:cNvSpPr/>
          <p:nvPr/>
        </p:nvSpPr>
        <p:spPr>
          <a:xfrm>
            <a:off x="3246120" y="1298448"/>
            <a:ext cx="1234440" cy="438912"/>
          </a:xfrm>
          <a:prstGeom prst="rect">
            <a:avLst/>
          </a:prstGeom>
          <a:solidFill>
            <a:srgbClr val="12385B"/>
          </a:solidFill>
          <a:ln w="12700">
            <a:solidFill>
              <a:srgbClr val="12385B"/>
            </a:solidFill>
            <a:prstDash val="solid"/>
          </a:ln>
        </p:spPr>
      </p:sp>
      <p:sp>
        <p:nvSpPr>
          <p:cNvPr id="12" name="Text 10"/>
          <p:cNvSpPr/>
          <p:nvPr/>
        </p:nvSpPr>
        <p:spPr>
          <a:xfrm>
            <a:off x="3282696" y="1380744"/>
            <a:ext cx="1161288" cy="128016"/>
          </a:xfrm>
          <a:prstGeom prst="rect">
            <a:avLst/>
          </a:prstGeom>
          <a:noFill/>
          <a:ln/>
        </p:spPr>
        <p:txBody>
          <a:bodyPr wrap="square" lIns="0" tIns="0" rIns="0" bIns="0" rtlCol="0" anchor="ctr"/>
          <a:lstStyle/>
          <a:p>
            <a:pPr algn="ctr" indent="0" marL="0">
              <a:buNone/>
            </a:pPr>
            <a:r>
              <a:rPr lang="en-US" sz="850" b="1" dirty="0">
                <a:solidFill>
                  <a:srgbClr val="FFFFFF"/>
                </a:solidFill>
              </a:rPr>
              <a:t>Balanced Acc.</a:t>
            </a:r>
            <a:endParaRPr lang="en-US" sz="850" dirty="0"/>
          </a:p>
        </p:txBody>
      </p:sp>
      <p:sp>
        <p:nvSpPr>
          <p:cNvPr id="13" name="Shape 11"/>
          <p:cNvSpPr/>
          <p:nvPr/>
        </p:nvSpPr>
        <p:spPr>
          <a:xfrm>
            <a:off x="4480560" y="1298448"/>
            <a:ext cx="1143000" cy="438912"/>
          </a:xfrm>
          <a:prstGeom prst="rect">
            <a:avLst/>
          </a:prstGeom>
          <a:solidFill>
            <a:srgbClr val="12385B"/>
          </a:solidFill>
          <a:ln w="12700">
            <a:solidFill>
              <a:srgbClr val="12385B"/>
            </a:solidFill>
            <a:prstDash val="solid"/>
          </a:ln>
        </p:spPr>
      </p:sp>
      <p:sp>
        <p:nvSpPr>
          <p:cNvPr id="14" name="Text 12"/>
          <p:cNvSpPr/>
          <p:nvPr/>
        </p:nvSpPr>
        <p:spPr>
          <a:xfrm>
            <a:off x="4517136" y="1380744"/>
            <a:ext cx="1069848" cy="128016"/>
          </a:xfrm>
          <a:prstGeom prst="rect">
            <a:avLst/>
          </a:prstGeom>
          <a:noFill/>
          <a:ln/>
        </p:spPr>
        <p:txBody>
          <a:bodyPr wrap="square" lIns="0" tIns="0" rIns="0" bIns="0" rtlCol="0" anchor="ctr"/>
          <a:lstStyle/>
          <a:p>
            <a:pPr algn="ctr" indent="0" marL="0">
              <a:buNone/>
            </a:pPr>
            <a:r>
              <a:rPr lang="en-US" sz="850" b="1" dirty="0">
                <a:solidFill>
                  <a:srgbClr val="FFFFFF"/>
                </a:solidFill>
              </a:rPr>
              <a:t>Precision</a:t>
            </a:r>
            <a:endParaRPr lang="en-US" sz="850" dirty="0"/>
          </a:p>
        </p:txBody>
      </p:sp>
      <p:sp>
        <p:nvSpPr>
          <p:cNvPr id="15" name="Shape 13"/>
          <p:cNvSpPr/>
          <p:nvPr/>
        </p:nvSpPr>
        <p:spPr>
          <a:xfrm>
            <a:off x="5623560" y="1298448"/>
            <a:ext cx="914400" cy="438912"/>
          </a:xfrm>
          <a:prstGeom prst="rect">
            <a:avLst/>
          </a:prstGeom>
          <a:solidFill>
            <a:srgbClr val="12385B"/>
          </a:solidFill>
          <a:ln w="12700">
            <a:solidFill>
              <a:srgbClr val="12385B"/>
            </a:solidFill>
            <a:prstDash val="solid"/>
          </a:ln>
        </p:spPr>
      </p:sp>
      <p:sp>
        <p:nvSpPr>
          <p:cNvPr id="16" name="Text 14"/>
          <p:cNvSpPr/>
          <p:nvPr/>
        </p:nvSpPr>
        <p:spPr>
          <a:xfrm>
            <a:off x="5660136" y="1380744"/>
            <a:ext cx="841248" cy="128016"/>
          </a:xfrm>
          <a:prstGeom prst="rect">
            <a:avLst/>
          </a:prstGeom>
          <a:noFill/>
          <a:ln/>
        </p:spPr>
        <p:txBody>
          <a:bodyPr wrap="square" lIns="0" tIns="0" rIns="0" bIns="0" rtlCol="0" anchor="ctr"/>
          <a:lstStyle/>
          <a:p>
            <a:pPr algn="ctr" indent="0" marL="0">
              <a:buNone/>
            </a:pPr>
            <a:r>
              <a:rPr lang="en-US" sz="850" b="1" dirty="0">
                <a:solidFill>
                  <a:srgbClr val="FFFFFF"/>
                </a:solidFill>
              </a:rPr>
              <a:t>Recall</a:t>
            </a:r>
            <a:endParaRPr lang="en-US" sz="850" dirty="0"/>
          </a:p>
        </p:txBody>
      </p:sp>
      <p:sp>
        <p:nvSpPr>
          <p:cNvPr id="17" name="Shape 15"/>
          <p:cNvSpPr/>
          <p:nvPr/>
        </p:nvSpPr>
        <p:spPr>
          <a:xfrm>
            <a:off x="6537960" y="1298448"/>
            <a:ext cx="777240" cy="438912"/>
          </a:xfrm>
          <a:prstGeom prst="rect">
            <a:avLst/>
          </a:prstGeom>
          <a:solidFill>
            <a:srgbClr val="12385B"/>
          </a:solidFill>
          <a:ln w="12700">
            <a:solidFill>
              <a:srgbClr val="12385B"/>
            </a:solidFill>
            <a:prstDash val="solid"/>
          </a:ln>
        </p:spPr>
      </p:sp>
      <p:sp>
        <p:nvSpPr>
          <p:cNvPr id="18" name="Text 16"/>
          <p:cNvSpPr/>
          <p:nvPr/>
        </p:nvSpPr>
        <p:spPr>
          <a:xfrm>
            <a:off x="6574536" y="1380744"/>
            <a:ext cx="704088" cy="128016"/>
          </a:xfrm>
          <a:prstGeom prst="rect">
            <a:avLst/>
          </a:prstGeom>
          <a:noFill/>
          <a:ln/>
        </p:spPr>
        <p:txBody>
          <a:bodyPr wrap="square" lIns="0" tIns="0" rIns="0" bIns="0" rtlCol="0" anchor="ctr"/>
          <a:lstStyle/>
          <a:p>
            <a:pPr algn="ctr" indent="0" marL="0">
              <a:buNone/>
            </a:pPr>
            <a:r>
              <a:rPr lang="en-US" sz="850" b="1" dirty="0">
                <a:solidFill>
                  <a:srgbClr val="FFFFFF"/>
                </a:solidFill>
              </a:rPr>
              <a:t>F1</a:t>
            </a:r>
            <a:endParaRPr lang="en-US" sz="850" dirty="0"/>
          </a:p>
        </p:txBody>
      </p:sp>
      <p:sp>
        <p:nvSpPr>
          <p:cNvPr id="19" name="Shape 17"/>
          <p:cNvSpPr/>
          <p:nvPr/>
        </p:nvSpPr>
        <p:spPr>
          <a:xfrm>
            <a:off x="7315200" y="1298448"/>
            <a:ext cx="1143000" cy="438912"/>
          </a:xfrm>
          <a:prstGeom prst="rect">
            <a:avLst/>
          </a:prstGeom>
          <a:solidFill>
            <a:srgbClr val="12385B"/>
          </a:solidFill>
          <a:ln w="12700">
            <a:solidFill>
              <a:srgbClr val="12385B"/>
            </a:solidFill>
            <a:prstDash val="solid"/>
          </a:ln>
        </p:spPr>
      </p:sp>
      <p:sp>
        <p:nvSpPr>
          <p:cNvPr id="20" name="Text 18"/>
          <p:cNvSpPr/>
          <p:nvPr/>
        </p:nvSpPr>
        <p:spPr>
          <a:xfrm>
            <a:off x="7351776" y="1380744"/>
            <a:ext cx="1069848" cy="128016"/>
          </a:xfrm>
          <a:prstGeom prst="rect">
            <a:avLst/>
          </a:prstGeom>
          <a:noFill/>
          <a:ln/>
        </p:spPr>
        <p:txBody>
          <a:bodyPr wrap="square" lIns="0" tIns="0" rIns="0" bIns="0" rtlCol="0" anchor="ctr"/>
          <a:lstStyle/>
          <a:p>
            <a:pPr algn="ctr" indent="0" marL="0">
              <a:buNone/>
            </a:pPr>
            <a:r>
              <a:rPr lang="en-US" sz="850" b="1" dirty="0">
                <a:solidFill>
                  <a:srgbClr val="FFFFFF"/>
                </a:solidFill>
              </a:rPr>
              <a:t>ROC-AUC</a:t>
            </a:r>
            <a:endParaRPr lang="en-US" sz="850" dirty="0"/>
          </a:p>
        </p:txBody>
      </p:sp>
      <p:sp>
        <p:nvSpPr>
          <p:cNvPr id="21" name="Shape 19"/>
          <p:cNvSpPr/>
          <p:nvPr/>
        </p:nvSpPr>
        <p:spPr>
          <a:xfrm>
            <a:off x="8458200" y="1298448"/>
            <a:ext cx="1097280" cy="438912"/>
          </a:xfrm>
          <a:prstGeom prst="rect">
            <a:avLst/>
          </a:prstGeom>
          <a:solidFill>
            <a:srgbClr val="12385B"/>
          </a:solidFill>
          <a:ln w="12700">
            <a:solidFill>
              <a:srgbClr val="12385B"/>
            </a:solidFill>
            <a:prstDash val="solid"/>
          </a:ln>
        </p:spPr>
      </p:sp>
      <p:sp>
        <p:nvSpPr>
          <p:cNvPr id="22" name="Text 20"/>
          <p:cNvSpPr/>
          <p:nvPr/>
        </p:nvSpPr>
        <p:spPr>
          <a:xfrm>
            <a:off x="8494776" y="1380744"/>
            <a:ext cx="1024128" cy="128016"/>
          </a:xfrm>
          <a:prstGeom prst="rect">
            <a:avLst/>
          </a:prstGeom>
          <a:noFill/>
          <a:ln/>
        </p:spPr>
        <p:txBody>
          <a:bodyPr wrap="square" lIns="0" tIns="0" rIns="0" bIns="0" rtlCol="0" anchor="ctr"/>
          <a:lstStyle/>
          <a:p>
            <a:pPr algn="ctr" indent="0" marL="0">
              <a:buNone/>
            </a:pPr>
            <a:r>
              <a:rPr lang="en-US" sz="850" b="1" dirty="0">
                <a:solidFill>
                  <a:srgbClr val="FFFFFF"/>
                </a:solidFill>
              </a:rPr>
              <a:t>PR-AUC</a:t>
            </a:r>
            <a:endParaRPr lang="en-US" sz="850" dirty="0"/>
          </a:p>
        </p:txBody>
      </p:sp>
      <p:sp>
        <p:nvSpPr>
          <p:cNvPr id="23" name="Shape 21"/>
          <p:cNvSpPr/>
          <p:nvPr/>
        </p:nvSpPr>
        <p:spPr>
          <a:xfrm>
            <a:off x="594360" y="1737360"/>
            <a:ext cx="1645920" cy="438912"/>
          </a:xfrm>
          <a:prstGeom prst="rect">
            <a:avLst/>
          </a:prstGeom>
          <a:solidFill>
            <a:srgbClr val="F5F7FA"/>
          </a:solidFill>
          <a:ln w="12700">
            <a:solidFill>
              <a:srgbClr val="D8DEE6">
                <a:alpha val="90000"/>
              </a:srgbClr>
            </a:solidFill>
            <a:prstDash val="solid"/>
          </a:ln>
        </p:spPr>
      </p:sp>
      <p:sp>
        <p:nvSpPr>
          <p:cNvPr id="24" name="Text 22"/>
          <p:cNvSpPr/>
          <p:nvPr/>
        </p:nvSpPr>
        <p:spPr>
          <a:xfrm>
            <a:off x="630936" y="1819656"/>
            <a:ext cx="1572768" cy="128016"/>
          </a:xfrm>
          <a:prstGeom prst="rect">
            <a:avLst/>
          </a:prstGeom>
          <a:noFill/>
          <a:ln/>
        </p:spPr>
        <p:txBody>
          <a:bodyPr wrap="square" lIns="0" tIns="0" rIns="0" bIns="0" rtlCol="0" anchor="ctr">
            <a:normAutofit/>
          </a:bodyPr>
          <a:lstStyle/>
          <a:p>
            <a:pPr algn="l" indent="0" marL="0">
              <a:buNone/>
            </a:pPr>
            <a:r>
              <a:rPr lang="en-US" sz="820" b="1" dirty="0">
                <a:solidFill>
                  <a:srgbClr val="12385B"/>
                </a:solidFill>
              </a:rPr>
              <a:t>Baseline</a:t>
            </a:r>
            <a:endParaRPr lang="en-US" sz="820" dirty="0"/>
          </a:p>
        </p:txBody>
      </p:sp>
      <p:sp>
        <p:nvSpPr>
          <p:cNvPr id="25" name="Shape 23"/>
          <p:cNvSpPr/>
          <p:nvPr/>
        </p:nvSpPr>
        <p:spPr>
          <a:xfrm>
            <a:off x="2240280" y="1737360"/>
            <a:ext cx="1005840" cy="438912"/>
          </a:xfrm>
          <a:prstGeom prst="rect">
            <a:avLst/>
          </a:prstGeom>
          <a:solidFill>
            <a:srgbClr val="F5F7FA"/>
          </a:solidFill>
          <a:ln w="12700">
            <a:solidFill>
              <a:srgbClr val="D8DEE6">
                <a:alpha val="90000"/>
              </a:srgbClr>
            </a:solidFill>
            <a:prstDash val="solid"/>
          </a:ln>
        </p:spPr>
      </p:sp>
      <p:sp>
        <p:nvSpPr>
          <p:cNvPr id="26" name="Text 24"/>
          <p:cNvSpPr/>
          <p:nvPr/>
        </p:nvSpPr>
        <p:spPr>
          <a:xfrm>
            <a:off x="2276856" y="1819656"/>
            <a:ext cx="932688" cy="128016"/>
          </a:xfrm>
          <a:prstGeom prst="rect">
            <a:avLst/>
          </a:prstGeom>
          <a:noFill/>
          <a:ln/>
        </p:spPr>
        <p:txBody>
          <a:bodyPr wrap="square" lIns="0" tIns="0" rIns="0" bIns="0" rtlCol="0" anchor="ctr">
            <a:normAutofit/>
          </a:bodyPr>
          <a:lstStyle/>
          <a:p>
            <a:pPr algn="ctr" indent="0" marL="0">
              <a:buNone/>
            </a:pPr>
            <a:r>
              <a:rPr lang="en-US" sz="820" dirty="0">
                <a:solidFill>
                  <a:srgbClr val="1F2933"/>
                </a:solidFill>
              </a:rPr>
              <a:t>0.883</a:t>
            </a:r>
            <a:endParaRPr lang="en-US" sz="820" dirty="0"/>
          </a:p>
        </p:txBody>
      </p:sp>
      <p:sp>
        <p:nvSpPr>
          <p:cNvPr id="27" name="Shape 25"/>
          <p:cNvSpPr/>
          <p:nvPr/>
        </p:nvSpPr>
        <p:spPr>
          <a:xfrm>
            <a:off x="3246120" y="1737360"/>
            <a:ext cx="1234440" cy="438912"/>
          </a:xfrm>
          <a:prstGeom prst="rect">
            <a:avLst/>
          </a:prstGeom>
          <a:solidFill>
            <a:srgbClr val="F5F7FA"/>
          </a:solidFill>
          <a:ln w="12700">
            <a:solidFill>
              <a:srgbClr val="D8DEE6">
                <a:alpha val="90000"/>
              </a:srgbClr>
            </a:solidFill>
            <a:prstDash val="solid"/>
          </a:ln>
        </p:spPr>
      </p:sp>
      <p:sp>
        <p:nvSpPr>
          <p:cNvPr id="28" name="Text 26"/>
          <p:cNvSpPr/>
          <p:nvPr/>
        </p:nvSpPr>
        <p:spPr>
          <a:xfrm>
            <a:off x="3282696" y="1819656"/>
            <a:ext cx="1161288" cy="128016"/>
          </a:xfrm>
          <a:prstGeom prst="rect">
            <a:avLst/>
          </a:prstGeom>
          <a:noFill/>
          <a:ln/>
        </p:spPr>
        <p:txBody>
          <a:bodyPr wrap="square" lIns="0" tIns="0" rIns="0" bIns="0" rtlCol="0" anchor="ctr">
            <a:normAutofit/>
          </a:bodyPr>
          <a:lstStyle/>
          <a:p>
            <a:pPr algn="ctr" indent="0" marL="0">
              <a:buNone/>
            </a:pPr>
            <a:r>
              <a:rPr lang="en-US" sz="820" dirty="0">
                <a:solidFill>
                  <a:srgbClr val="1F2933"/>
                </a:solidFill>
              </a:rPr>
              <a:t>0.500</a:t>
            </a:r>
            <a:endParaRPr lang="en-US" sz="820" dirty="0"/>
          </a:p>
        </p:txBody>
      </p:sp>
      <p:sp>
        <p:nvSpPr>
          <p:cNvPr id="29" name="Shape 27"/>
          <p:cNvSpPr/>
          <p:nvPr/>
        </p:nvSpPr>
        <p:spPr>
          <a:xfrm>
            <a:off x="4480560" y="1737360"/>
            <a:ext cx="1143000" cy="438912"/>
          </a:xfrm>
          <a:prstGeom prst="rect">
            <a:avLst/>
          </a:prstGeom>
          <a:solidFill>
            <a:srgbClr val="F5F7FA"/>
          </a:solidFill>
          <a:ln w="12700">
            <a:solidFill>
              <a:srgbClr val="D8DEE6">
                <a:alpha val="90000"/>
              </a:srgbClr>
            </a:solidFill>
            <a:prstDash val="solid"/>
          </a:ln>
        </p:spPr>
      </p:sp>
      <p:sp>
        <p:nvSpPr>
          <p:cNvPr id="30" name="Text 28"/>
          <p:cNvSpPr/>
          <p:nvPr/>
        </p:nvSpPr>
        <p:spPr>
          <a:xfrm>
            <a:off x="4517136" y="1819656"/>
            <a:ext cx="1069848" cy="128016"/>
          </a:xfrm>
          <a:prstGeom prst="rect">
            <a:avLst/>
          </a:prstGeom>
          <a:noFill/>
          <a:ln/>
        </p:spPr>
        <p:txBody>
          <a:bodyPr wrap="square" lIns="0" tIns="0" rIns="0" bIns="0" rtlCol="0" anchor="ctr">
            <a:normAutofit/>
          </a:bodyPr>
          <a:lstStyle/>
          <a:p>
            <a:pPr algn="ctr" indent="0" marL="0">
              <a:buNone/>
            </a:pPr>
            <a:r>
              <a:rPr lang="en-US" sz="820" dirty="0">
                <a:solidFill>
                  <a:srgbClr val="1F2933"/>
                </a:solidFill>
              </a:rPr>
              <a:t>0.000</a:t>
            </a:r>
            <a:endParaRPr lang="en-US" sz="820" dirty="0"/>
          </a:p>
        </p:txBody>
      </p:sp>
      <p:sp>
        <p:nvSpPr>
          <p:cNvPr id="31" name="Shape 29"/>
          <p:cNvSpPr/>
          <p:nvPr/>
        </p:nvSpPr>
        <p:spPr>
          <a:xfrm>
            <a:off x="5623560" y="1737360"/>
            <a:ext cx="914400" cy="438912"/>
          </a:xfrm>
          <a:prstGeom prst="rect">
            <a:avLst/>
          </a:prstGeom>
          <a:solidFill>
            <a:srgbClr val="F5F7FA"/>
          </a:solidFill>
          <a:ln w="12700">
            <a:solidFill>
              <a:srgbClr val="D8DEE6">
                <a:alpha val="90000"/>
              </a:srgbClr>
            </a:solidFill>
            <a:prstDash val="solid"/>
          </a:ln>
        </p:spPr>
      </p:sp>
      <p:sp>
        <p:nvSpPr>
          <p:cNvPr id="32" name="Text 30"/>
          <p:cNvSpPr/>
          <p:nvPr/>
        </p:nvSpPr>
        <p:spPr>
          <a:xfrm>
            <a:off x="5660136" y="1819656"/>
            <a:ext cx="841248" cy="128016"/>
          </a:xfrm>
          <a:prstGeom prst="rect">
            <a:avLst/>
          </a:prstGeom>
          <a:noFill/>
          <a:ln/>
        </p:spPr>
        <p:txBody>
          <a:bodyPr wrap="square" lIns="0" tIns="0" rIns="0" bIns="0" rtlCol="0" anchor="ctr">
            <a:normAutofit/>
          </a:bodyPr>
          <a:lstStyle/>
          <a:p>
            <a:pPr algn="ctr" indent="0" marL="0">
              <a:buNone/>
            </a:pPr>
            <a:r>
              <a:rPr lang="en-US" sz="820" dirty="0">
                <a:solidFill>
                  <a:srgbClr val="1F2933"/>
                </a:solidFill>
              </a:rPr>
              <a:t>0.000</a:t>
            </a:r>
            <a:endParaRPr lang="en-US" sz="820" dirty="0"/>
          </a:p>
        </p:txBody>
      </p:sp>
      <p:sp>
        <p:nvSpPr>
          <p:cNvPr id="33" name="Shape 31"/>
          <p:cNvSpPr/>
          <p:nvPr/>
        </p:nvSpPr>
        <p:spPr>
          <a:xfrm>
            <a:off x="6537960" y="1737360"/>
            <a:ext cx="777240" cy="438912"/>
          </a:xfrm>
          <a:prstGeom prst="rect">
            <a:avLst/>
          </a:prstGeom>
          <a:solidFill>
            <a:srgbClr val="F5F7FA"/>
          </a:solidFill>
          <a:ln w="12700">
            <a:solidFill>
              <a:srgbClr val="D8DEE6">
                <a:alpha val="90000"/>
              </a:srgbClr>
            </a:solidFill>
            <a:prstDash val="solid"/>
          </a:ln>
        </p:spPr>
      </p:sp>
      <p:sp>
        <p:nvSpPr>
          <p:cNvPr id="34" name="Text 32"/>
          <p:cNvSpPr/>
          <p:nvPr/>
        </p:nvSpPr>
        <p:spPr>
          <a:xfrm>
            <a:off x="6574536" y="1819656"/>
            <a:ext cx="704088" cy="128016"/>
          </a:xfrm>
          <a:prstGeom prst="rect">
            <a:avLst/>
          </a:prstGeom>
          <a:noFill/>
          <a:ln/>
        </p:spPr>
        <p:txBody>
          <a:bodyPr wrap="square" lIns="0" tIns="0" rIns="0" bIns="0" rtlCol="0" anchor="ctr">
            <a:normAutofit/>
          </a:bodyPr>
          <a:lstStyle/>
          <a:p>
            <a:pPr algn="ctr" indent="0" marL="0">
              <a:buNone/>
            </a:pPr>
            <a:r>
              <a:rPr lang="en-US" sz="820" dirty="0">
                <a:solidFill>
                  <a:srgbClr val="1F2933"/>
                </a:solidFill>
              </a:rPr>
              <a:t>0.000</a:t>
            </a:r>
            <a:endParaRPr lang="en-US" sz="820" dirty="0"/>
          </a:p>
        </p:txBody>
      </p:sp>
      <p:sp>
        <p:nvSpPr>
          <p:cNvPr id="35" name="Shape 33"/>
          <p:cNvSpPr/>
          <p:nvPr/>
        </p:nvSpPr>
        <p:spPr>
          <a:xfrm>
            <a:off x="7315200" y="1737360"/>
            <a:ext cx="1143000" cy="438912"/>
          </a:xfrm>
          <a:prstGeom prst="rect">
            <a:avLst/>
          </a:prstGeom>
          <a:solidFill>
            <a:srgbClr val="F5F7FA"/>
          </a:solidFill>
          <a:ln w="12700">
            <a:solidFill>
              <a:srgbClr val="D8DEE6">
                <a:alpha val="90000"/>
              </a:srgbClr>
            </a:solidFill>
            <a:prstDash val="solid"/>
          </a:ln>
        </p:spPr>
      </p:sp>
      <p:sp>
        <p:nvSpPr>
          <p:cNvPr id="36" name="Text 34"/>
          <p:cNvSpPr/>
          <p:nvPr/>
        </p:nvSpPr>
        <p:spPr>
          <a:xfrm>
            <a:off x="7351776" y="1819656"/>
            <a:ext cx="1069848" cy="128016"/>
          </a:xfrm>
          <a:prstGeom prst="rect">
            <a:avLst/>
          </a:prstGeom>
          <a:noFill/>
          <a:ln/>
        </p:spPr>
        <p:txBody>
          <a:bodyPr wrap="square" lIns="0" tIns="0" rIns="0" bIns="0" rtlCol="0" anchor="ctr">
            <a:normAutofit/>
          </a:bodyPr>
          <a:lstStyle/>
          <a:p>
            <a:pPr algn="ctr" indent="0" marL="0">
              <a:buNone/>
            </a:pPr>
            <a:r>
              <a:rPr lang="en-US" sz="820" dirty="0">
                <a:solidFill>
                  <a:srgbClr val="1F2933"/>
                </a:solidFill>
              </a:rPr>
              <a:t>0.500</a:t>
            </a:r>
            <a:endParaRPr lang="en-US" sz="820" dirty="0"/>
          </a:p>
        </p:txBody>
      </p:sp>
      <p:sp>
        <p:nvSpPr>
          <p:cNvPr id="37" name="Shape 35"/>
          <p:cNvSpPr/>
          <p:nvPr/>
        </p:nvSpPr>
        <p:spPr>
          <a:xfrm>
            <a:off x="8458200" y="1737360"/>
            <a:ext cx="1097280" cy="438912"/>
          </a:xfrm>
          <a:prstGeom prst="rect">
            <a:avLst/>
          </a:prstGeom>
          <a:solidFill>
            <a:srgbClr val="F5F7FA"/>
          </a:solidFill>
          <a:ln w="12700">
            <a:solidFill>
              <a:srgbClr val="D8DEE6">
                <a:alpha val="90000"/>
              </a:srgbClr>
            </a:solidFill>
            <a:prstDash val="solid"/>
          </a:ln>
        </p:spPr>
      </p:sp>
      <p:sp>
        <p:nvSpPr>
          <p:cNvPr id="38" name="Text 36"/>
          <p:cNvSpPr/>
          <p:nvPr/>
        </p:nvSpPr>
        <p:spPr>
          <a:xfrm>
            <a:off x="8494776" y="1819656"/>
            <a:ext cx="1024128" cy="128016"/>
          </a:xfrm>
          <a:prstGeom prst="rect">
            <a:avLst/>
          </a:prstGeom>
          <a:noFill/>
          <a:ln/>
        </p:spPr>
        <p:txBody>
          <a:bodyPr wrap="square" lIns="0" tIns="0" rIns="0" bIns="0" rtlCol="0" anchor="ctr">
            <a:normAutofit/>
          </a:bodyPr>
          <a:lstStyle/>
          <a:p>
            <a:pPr algn="ctr" indent="0" marL="0">
              <a:buNone/>
            </a:pPr>
            <a:r>
              <a:rPr lang="en-US" sz="820" dirty="0">
                <a:solidFill>
                  <a:srgbClr val="1F2933"/>
                </a:solidFill>
              </a:rPr>
              <a:t>0.117</a:t>
            </a:r>
            <a:endParaRPr lang="en-US" sz="820" dirty="0"/>
          </a:p>
        </p:txBody>
      </p:sp>
      <p:sp>
        <p:nvSpPr>
          <p:cNvPr id="39" name="Shape 37"/>
          <p:cNvSpPr/>
          <p:nvPr/>
        </p:nvSpPr>
        <p:spPr>
          <a:xfrm>
            <a:off x="594360" y="2176272"/>
            <a:ext cx="1645920" cy="438912"/>
          </a:xfrm>
          <a:prstGeom prst="rect">
            <a:avLst/>
          </a:prstGeom>
          <a:solidFill>
            <a:srgbClr val="FFFFFF"/>
          </a:solidFill>
          <a:ln w="12700">
            <a:solidFill>
              <a:srgbClr val="D8DEE6">
                <a:alpha val="90000"/>
              </a:srgbClr>
            </a:solidFill>
            <a:prstDash val="solid"/>
          </a:ln>
        </p:spPr>
      </p:sp>
      <p:sp>
        <p:nvSpPr>
          <p:cNvPr id="40" name="Text 38"/>
          <p:cNvSpPr/>
          <p:nvPr/>
        </p:nvSpPr>
        <p:spPr>
          <a:xfrm>
            <a:off x="630936" y="2258568"/>
            <a:ext cx="1572768" cy="128016"/>
          </a:xfrm>
          <a:prstGeom prst="rect">
            <a:avLst/>
          </a:prstGeom>
          <a:noFill/>
          <a:ln/>
        </p:spPr>
        <p:txBody>
          <a:bodyPr wrap="square" lIns="0" tIns="0" rIns="0" bIns="0" rtlCol="0" anchor="ctr">
            <a:normAutofit/>
          </a:bodyPr>
          <a:lstStyle/>
          <a:p>
            <a:pPr algn="l" indent="0" marL="0">
              <a:buNone/>
            </a:pPr>
            <a:r>
              <a:rPr lang="en-US" sz="820" b="1" dirty="0">
                <a:solidFill>
                  <a:srgbClr val="12385B"/>
                </a:solidFill>
              </a:rPr>
              <a:t>Logistic Reg.</a:t>
            </a:r>
            <a:endParaRPr lang="en-US" sz="820" dirty="0"/>
          </a:p>
        </p:txBody>
      </p:sp>
      <p:sp>
        <p:nvSpPr>
          <p:cNvPr id="41" name="Shape 39"/>
          <p:cNvSpPr/>
          <p:nvPr/>
        </p:nvSpPr>
        <p:spPr>
          <a:xfrm>
            <a:off x="2240280" y="2176272"/>
            <a:ext cx="1005840" cy="438912"/>
          </a:xfrm>
          <a:prstGeom prst="rect">
            <a:avLst/>
          </a:prstGeom>
          <a:solidFill>
            <a:srgbClr val="FFFFFF"/>
          </a:solidFill>
          <a:ln w="12700">
            <a:solidFill>
              <a:srgbClr val="D8DEE6">
                <a:alpha val="90000"/>
              </a:srgbClr>
            </a:solidFill>
            <a:prstDash val="solid"/>
          </a:ln>
        </p:spPr>
      </p:sp>
      <p:sp>
        <p:nvSpPr>
          <p:cNvPr id="42" name="Text 40"/>
          <p:cNvSpPr/>
          <p:nvPr/>
        </p:nvSpPr>
        <p:spPr>
          <a:xfrm>
            <a:off x="2276856" y="2258568"/>
            <a:ext cx="932688" cy="128016"/>
          </a:xfrm>
          <a:prstGeom prst="rect">
            <a:avLst/>
          </a:prstGeom>
          <a:noFill/>
          <a:ln/>
        </p:spPr>
        <p:txBody>
          <a:bodyPr wrap="square" lIns="0" tIns="0" rIns="0" bIns="0" rtlCol="0" anchor="ctr">
            <a:normAutofit/>
          </a:bodyPr>
          <a:lstStyle/>
          <a:p>
            <a:pPr algn="ctr" indent="0" marL="0">
              <a:buNone/>
            </a:pPr>
            <a:r>
              <a:rPr lang="en-US" sz="820" dirty="0">
                <a:solidFill>
                  <a:srgbClr val="1F2933"/>
                </a:solidFill>
              </a:rPr>
              <a:t>0.844</a:t>
            </a:r>
            <a:endParaRPr lang="en-US" sz="820" dirty="0"/>
          </a:p>
        </p:txBody>
      </p:sp>
      <p:sp>
        <p:nvSpPr>
          <p:cNvPr id="43" name="Shape 41"/>
          <p:cNvSpPr/>
          <p:nvPr/>
        </p:nvSpPr>
        <p:spPr>
          <a:xfrm>
            <a:off x="3246120" y="2176272"/>
            <a:ext cx="1234440" cy="438912"/>
          </a:xfrm>
          <a:prstGeom prst="rect">
            <a:avLst/>
          </a:prstGeom>
          <a:solidFill>
            <a:srgbClr val="FFFFFF"/>
          </a:solidFill>
          <a:ln w="12700">
            <a:solidFill>
              <a:srgbClr val="D8DEE6">
                <a:alpha val="90000"/>
              </a:srgbClr>
            </a:solidFill>
            <a:prstDash val="solid"/>
          </a:ln>
        </p:spPr>
      </p:sp>
      <p:sp>
        <p:nvSpPr>
          <p:cNvPr id="44" name="Text 42"/>
          <p:cNvSpPr/>
          <p:nvPr/>
        </p:nvSpPr>
        <p:spPr>
          <a:xfrm>
            <a:off x="3282696" y="2258568"/>
            <a:ext cx="1161288" cy="128016"/>
          </a:xfrm>
          <a:prstGeom prst="rect">
            <a:avLst/>
          </a:prstGeom>
          <a:noFill/>
          <a:ln/>
        </p:spPr>
        <p:txBody>
          <a:bodyPr wrap="square" lIns="0" tIns="0" rIns="0" bIns="0" rtlCol="0" anchor="ctr">
            <a:normAutofit/>
          </a:bodyPr>
          <a:lstStyle/>
          <a:p>
            <a:pPr algn="ctr" indent="0" marL="0">
              <a:buNone/>
            </a:pPr>
            <a:r>
              <a:rPr lang="en-US" sz="820" dirty="0">
                <a:solidFill>
                  <a:srgbClr val="1F2933"/>
                </a:solidFill>
              </a:rPr>
              <a:t>0.832</a:t>
            </a:r>
            <a:endParaRPr lang="en-US" sz="820" dirty="0"/>
          </a:p>
        </p:txBody>
      </p:sp>
      <p:sp>
        <p:nvSpPr>
          <p:cNvPr id="45" name="Shape 43"/>
          <p:cNvSpPr/>
          <p:nvPr/>
        </p:nvSpPr>
        <p:spPr>
          <a:xfrm>
            <a:off x="4480560" y="2176272"/>
            <a:ext cx="1143000" cy="438912"/>
          </a:xfrm>
          <a:prstGeom prst="rect">
            <a:avLst/>
          </a:prstGeom>
          <a:solidFill>
            <a:srgbClr val="FFFFFF"/>
          </a:solidFill>
          <a:ln w="12700">
            <a:solidFill>
              <a:srgbClr val="D8DEE6">
                <a:alpha val="90000"/>
              </a:srgbClr>
            </a:solidFill>
            <a:prstDash val="solid"/>
          </a:ln>
        </p:spPr>
      </p:sp>
      <p:sp>
        <p:nvSpPr>
          <p:cNvPr id="46" name="Text 44"/>
          <p:cNvSpPr/>
          <p:nvPr/>
        </p:nvSpPr>
        <p:spPr>
          <a:xfrm>
            <a:off x="4517136" y="2258568"/>
            <a:ext cx="1069848" cy="128016"/>
          </a:xfrm>
          <a:prstGeom prst="rect">
            <a:avLst/>
          </a:prstGeom>
          <a:noFill/>
          <a:ln/>
        </p:spPr>
        <p:txBody>
          <a:bodyPr wrap="square" lIns="0" tIns="0" rIns="0" bIns="0" rtlCol="0" anchor="ctr">
            <a:normAutofit/>
          </a:bodyPr>
          <a:lstStyle/>
          <a:p>
            <a:pPr algn="ctr" indent="0" marL="0">
              <a:buNone/>
            </a:pPr>
            <a:r>
              <a:rPr lang="en-US" sz="820" dirty="0">
                <a:solidFill>
                  <a:srgbClr val="1F2933"/>
                </a:solidFill>
              </a:rPr>
              <a:t>0.414</a:t>
            </a:r>
            <a:endParaRPr lang="en-US" sz="820" dirty="0"/>
          </a:p>
        </p:txBody>
      </p:sp>
      <p:sp>
        <p:nvSpPr>
          <p:cNvPr id="47" name="Shape 45"/>
          <p:cNvSpPr/>
          <p:nvPr/>
        </p:nvSpPr>
        <p:spPr>
          <a:xfrm>
            <a:off x="5623560" y="2176272"/>
            <a:ext cx="914400" cy="438912"/>
          </a:xfrm>
          <a:prstGeom prst="rect">
            <a:avLst/>
          </a:prstGeom>
          <a:solidFill>
            <a:srgbClr val="FFFFFF"/>
          </a:solidFill>
          <a:ln w="12700">
            <a:solidFill>
              <a:srgbClr val="D8DEE6">
                <a:alpha val="90000"/>
              </a:srgbClr>
            </a:solidFill>
            <a:prstDash val="solid"/>
          </a:ln>
        </p:spPr>
      </p:sp>
      <p:sp>
        <p:nvSpPr>
          <p:cNvPr id="48" name="Text 46"/>
          <p:cNvSpPr/>
          <p:nvPr/>
        </p:nvSpPr>
        <p:spPr>
          <a:xfrm>
            <a:off x="5660136" y="2258568"/>
            <a:ext cx="841248" cy="128016"/>
          </a:xfrm>
          <a:prstGeom prst="rect">
            <a:avLst/>
          </a:prstGeom>
          <a:noFill/>
          <a:ln/>
        </p:spPr>
        <p:txBody>
          <a:bodyPr wrap="square" lIns="0" tIns="0" rIns="0" bIns="0" rtlCol="0" anchor="ctr">
            <a:normAutofit/>
          </a:bodyPr>
          <a:lstStyle/>
          <a:p>
            <a:pPr algn="ctr" indent="0" marL="0">
              <a:buNone/>
            </a:pPr>
            <a:r>
              <a:rPr lang="en-US" sz="820" dirty="0">
                <a:solidFill>
                  <a:srgbClr val="1F2933"/>
                </a:solidFill>
              </a:rPr>
              <a:t>0.817</a:t>
            </a:r>
            <a:endParaRPr lang="en-US" sz="820" dirty="0"/>
          </a:p>
        </p:txBody>
      </p:sp>
      <p:sp>
        <p:nvSpPr>
          <p:cNvPr id="49" name="Shape 47"/>
          <p:cNvSpPr/>
          <p:nvPr/>
        </p:nvSpPr>
        <p:spPr>
          <a:xfrm>
            <a:off x="6537960" y="2176272"/>
            <a:ext cx="777240" cy="438912"/>
          </a:xfrm>
          <a:prstGeom prst="rect">
            <a:avLst/>
          </a:prstGeom>
          <a:solidFill>
            <a:srgbClr val="FFFFFF"/>
          </a:solidFill>
          <a:ln w="12700">
            <a:solidFill>
              <a:srgbClr val="D8DEE6">
                <a:alpha val="90000"/>
              </a:srgbClr>
            </a:solidFill>
            <a:prstDash val="solid"/>
          </a:ln>
        </p:spPr>
      </p:sp>
      <p:sp>
        <p:nvSpPr>
          <p:cNvPr id="50" name="Text 48"/>
          <p:cNvSpPr/>
          <p:nvPr/>
        </p:nvSpPr>
        <p:spPr>
          <a:xfrm>
            <a:off x="6574536" y="2258568"/>
            <a:ext cx="704088" cy="128016"/>
          </a:xfrm>
          <a:prstGeom prst="rect">
            <a:avLst/>
          </a:prstGeom>
          <a:noFill/>
          <a:ln/>
        </p:spPr>
        <p:txBody>
          <a:bodyPr wrap="square" lIns="0" tIns="0" rIns="0" bIns="0" rtlCol="0" anchor="ctr">
            <a:normAutofit/>
          </a:bodyPr>
          <a:lstStyle/>
          <a:p>
            <a:pPr algn="ctr" indent="0" marL="0">
              <a:buNone/>
            </a:pPr>
            <a:r>
              <a:rPr lang="en-US" sz="820" dirty="0">
                <a:solidFill>
                  <a:srgbClr val="1F2933"/>
                </a:solidFill>
              </a:rPr>
              <a:t>0.550</a:t>
            </a:r>
            <a:endParaRPr lang="en-US" sz="820" dirty="0"/>
          </a:p>
        </p:txBody>
      </p:sp>
      <p:sp>
        <p:nvSpPr>
          <p:cNvPr id="51" name="Shape 49"/>
          <p:cNvSpPr/>
          <p:nvPr/>
        </p:nvSpPr>
        <p:spPr>
          <a:xfrm>
            <a:off x="7315200" y="2176272"/>
            <a:ext cx="1143000" cy="438912"/>
          </a:xfrm>
          <a:prstGeom prst="rect">
            <a:avLst/>
          </a:prstGeom>
          <a:solidFill>
            <a:srgbClr val="FFFFFF"/>
          </a:solidFill>
          <a:ln w="12700">
            <a:solidFill>
              <a:srgbClr val="D8DEE6">
                <a:alpha val="90000"/>
              </a:srgbClr>
            </a:solidFill>
            <a:prstDash val="solid"/>
          </a:ln>
        </p:spPr>
      </p:sp>
      <p:sp>
        <p:nvSpPr>
          <p:cNvPr id="52" name="Text 50"/>
          <p:cNvSpPr/>
          <p:nvPr/>
        </p:nvSpPr>
        <p:spPr>
          <a:xfrm>
            <a:off x="7351776" y="2258568"/>
            <a:ext cx="1069848" cy="128016"/>
          </a:xfrm>
          <a:prstGeom prst="rect">
            <a:avLst/>
          </a:prstGeom>
          <a:noFill/>
          <a:ln/>
        </p:spPr>
        <p:txBody>
          <a:bodyPr wrap="square" lIns="0" tIns="0" rIns="0" bIns="0" rtlCol="0" anchor="ctr">
            <a:normAutofit/>
          </a:bodyPr>
          <a:lstStyle/>
          <a:p>
            <a:pPr algn="ctr" indent="0" marL="0">
              <a:buNone/>
            </a:pPr>
            <a:r>
              <a:rPr lang="en-US" sz="820" dirty="0">
                <a:solidFill>
                  <a:srgbClr val="1F2933"/>
                </a:solidFill>
              </a:rPr>
              <a:t>0.907</a:t>
            </a:r>
            <a:endParaRPr lang="en-US" sz="820" dirty="0"/>
          </a:p>
        </p:txBody>
      </p:sp>
      <p:sp>
        <p:nvSpPr>
          <p:cNvPr id="53" name="Shape 51"/>
          <p:cNvSpPr/>
          <p:nvPr/>
        </p:nvSpPr>
        <p:spPr>
          <a:xfrm>
            <a:off x="8458200" y="2176272"/>
            <a:ext cx="1097280" cy="438912"/>
          </a:xfrm>
          <a:prstGeom prst="rect">
            <a:avLst/>
          </a:prstGeom>
          <a:solidFill>
            <a:srgbClr val="FFFFFF"/>
          </a:solidFill>
          <a:ln w="12700">
            <a:solidFill>
              <a:srgbClr val="D8DEE6">
                <a:alpha val="90000"/>
              </a:srgbClr>
            </a:solidFill>
            <a:prstDash val="solid"/>
          </a:ln>
        </p:spPr>
      </p:sp>
      <p:sp>
        <p:nvSpPr>
          <p:cNvPr id="54" name="Text 52"/>
          <p:cNvSpPr/>
          <p:nvPr/>
        </p:nvSpPr>
        <p:spPr>
          <a:xfrm>
            <a:off x="8494776" y="2258568"/>
            <a:ext cx="1024128" cy="128016"/>
          </a:xfrm>
          <a:prstGeom prst="rect">
            <a:avLst/>
          </a:prstGeom>
          <a:noFill/>
          <a:ln/>
        </p:spPr>
        <p:txBody>
          <a:bodyPr wrap="square" lIns="0" tIns="0" rIns="0" bIns="0" rtlCol="0" anchor="ctr">
            <a:normAutofit/>
          </a:bodyPr>
          <a:lstStyle/>
          <a:p>
            <a:pPr algn="ctr" indent="0" marL="0">
              <a:buNone/>
            </a:pPr>
            <a:r>
              <a:rPr lang="en-US" sz="820" dirty="0">
                <a:solidFill>
                  <a:srgbClr val="1F2933"/>
                </a:solidFill>
              </a:rPr>
              <a:t>0.544</a:t>
            </a:r>
            <a:endParaRPr lang="en-US" sz="820" dirty="0"/>
          </a:p>
        </p:txBody>
      </p:sp>
      <p:sp>
        <p:nvSpPr>
          <p:cNvPr id="55" name="Shape 53"/>
          <p:cNvSpPr/>
          <p:nvPr/>
        </p:nvSpPr>
        <p:spPr>
          <a:xfrm>
            <a:off x="594360" y="2615184"/>
            <a:ext cx="1645920" cy="438912"/>
          </a:xfrm>
          <a:prstGeom prst="rect">
            <a:avLst/>
          </a:prstGeom>
          <a:solidFill>
            <a:srgbClr val="F5F7FA"/>
          </a:solidFill>
          <a:ln w="12700">
            <a:solidFill>
              <a:srgbClr val="D8DEE6">
                <a:alpha val="90000"/>
              </a:srgbClr>
            </a:solidFill>
            <a:prstDash val="solid"/>
          </a:ln>
        </p:spPr>
      </p:sp>
      <p:sp>
        <p:nvSpPr>
          <p:cNvPr id="56" name="Text 54"/>
          <p:cNvSpPr/>
          <p:nvPr/>
        </p:nvSpPr>
        <p:spPr>
          <a:xfrm>
            <a:off x="630936" y="2697480"/>
            <a:ext cx="1572768" cy="128016"/>
          </a:xfrm>
          <a:prstGeom prst="rect">
            <a:avLst/>
          </a:prstGeom>
          <a:noFill/>
          <a:ln/>
        </p:spPr>
        <p:txBody>
          <a:bodyPr wrap="square" lIns="0" tIns="0" rIns="0" bIns="0" rtlCol="0" anchor="ctr">
            <a:normAutofit/>
          </a:bodyPr>
          <a:lstStyle/>
          <a:p>
            <a:pPr algn="l" indent="0" marL="0">
              <a:buNone/>
            </a:pPr>
            <a:r>
              <a:rPr lang="en-US" sz="820" b="1" dirty="0">
                <a:solidFill>
                  <a:srgbClr val="12385B"/>
                </a:solidFill>
              </a:rPr>
              <a:t>Random Forest</a:t>
            </a:r>
            <a:endParaRPr lang="en-US" sz="820" dirty="0"/>
          </a:p>
        </p:txBody>
      </p:sp>
      <p:sp>
        <p:nvSpPr>
          <p:cNvPr id="57" name="Shape 55"/>
          <p:cNvSpPr/>
          <p:nvPr/>
        </p:nvSpPr>
        <p:spPr>
          <a:xfrm>
            <a:off x="2240280" y="2615184"/>
            <a:ext cx="1005840" cy="438912"/>
          </a:xfrm>
          <a:prstGeom prst="rect">
            <a:avLst/>
          </a:prstGeom>
          <a:solidFill>
            <a:srgbClr val="F5F7FA"/>
          </a:solidFill>
          <a:ln w="12700">
            <a:solidFill>
              <a:srgbClr val="D8DEE6">
                <a:alpha val="90000"/>
              </a:srgbClr>
            </a:solidFill>
            <a:prstDash val="solid"/>
          </a:ln>
        </p:spPr>
      </p:sp>
      <p:sp>
        <p:nvSpPr>
          <p:cNvPr id="58" name="Text 56"/>
          <p:cNvSpPr/>
          <p:nvPr/>
        </p:nvSpPr>
        <p:spPr>
          <a:xfrm>
            <a:off x="2276856" y="2697480"/>
            <a:ext cx="932688" cy="128016"/>
          </a:xfrm>
          <a:prstGeom prst="rect">
            <a:avLst/>
          </a:prstGeom>
          <a:noFill/>
          <a:ln/>
        </p:spPr>
        <p:txBody>
          <a:bodyPr wrap="square" lIns="0" tIns="0" rIns="0" bIns="0" rtlCol="0" anchor="ctr">
            <a:normAutofit/>
          </a:bodyPr>
          <a:lstStyle/>
          <a:p>
            <a:pPr algn="ctr" indent="0" marL="0">
              <a:buNone/>
            </a:pPr>
            <a:r>
              <a:rPr lang="en-US" sz="820" dirty="0">
                <a:solidFill>
                  <a:srgbClr val="1F2933"/>
                </a:solidFill>
              </a:rPr>
              <a:t>0.903</a:t>
            </a:r>
            <a:endParaRPr lang="en-US" sz="820" dirty="0"/>
          </a:p>
        </p:txBody>
      </p:sp>
      <p:sp>
        <p:nvSpPr>
          <p:cNvPr id="59" name="Shape 57"/>
          <p:cNvSpPr/>
          <p:nvPr/>
        </p:nvSpPr>
        <p:spPr>
          <a:xfrm>
            <a:off x="3246120" y="2615184"/>
            <a:ext cx="1234440" cy="438912"/>
          </a:xfrm>
          <a:prstGeom prst="rect">
            <a:avLst/>
          </a:prstGeom>
          <a:solidFill>
            <a:srgbClr val="F5F7FA"/>
          </a:solidFill>
          <a:ln w="12700">
            <a:solidFill>
              <a:srgbClr val="D8DEE6">
                <a:alpha val="90000"/>
              </a:srgbClr>
            </a:solidFill>
            <a:prstDash val="solid"/>
          </a:ln>
        </p:spPr>
      </p:sp>
      <p:sp>
        <p:nvSpPr>
          <p:cNvPr id="60" name="Text 58"/>
          <p:cNvSpPr/>
          <p:nvPr/>
        </p:nvSpPr>
        <p:spPr>
          <a:xfrm>
            <a:off x="3282696" y="2697480"/>
            <a:ext cx="1161288" cy="128016"/>
          </a:xfrm>
          <a:prstGeom prst="rect">
            <a:avLst/>
          </a:prstGeom>
          <a:noFill/>
          <a:ln/>
        </p:spPr>
        <p:txBody>
          <a:bodyPr wrap="square" lIns="0" tIns="0" rIns="0" bIns="0" rtlCol="0" anchor="ctr">
            <a:normAutofit/>
          </a:bodyPr>
          <a:lstStyle/>
          <a:p>
            <a:pPr algn="ctr" indent="0" marL="0">
              <a:buNone/>
            </a:pPr>
            <a:r>
              <a:rPr lang="en-US" sz="820" dirty="0">
                <a:solidFill>
                  <a:srgbClr val="1F2933"/>
                </a:solidFill>
              </a:rPr>
              <a:t>0.776</a:t>
            </a:r>
            <a:endParaRPr lang="en-US" sz="820" dirty="0"/>
          </a:p>
        </p:txBody>
      </p:sp>
      <p:sp>
        <p:nvSpPr>
          <p:cNvPr id="61" name="Shape 59"/>
          <p:cNvSpPr/>
          <p:nvPr/>
        </p:nvSpPr>
        <p:spPr>
          <a:xfrm>
            <a:off x="4480560" y="2615184"/>
            <a:ext cx="1143000" cy="438912"/>
          </a:xfrm>
          <a:prstGeom prst="rect">
            <a:avLst/>
          </a:prstGeom>
          <a:solidFill>
            <a:srgbClr val="F5F7FA"/>
          </a:solidFill>
          <a:ln w="12700">
            <a:solidFill>
              <a:srgbClr val="D8DEE6">
                <a:alpha val="90000"/>
              </a:srgbClr>
            </a:solidFill>
            <a:prstDash val="solid"/>
          </a:ln>
        </p:spPr>
      </p:sp>
      <p:sp>
        <p:nvSpPr>
          <p:cNvPr id="62" name="Text 60"/>
          <p:cNvSpPr/>
          <p:nvPr/>
        </p:nvSpPr>
        <p:spPr>
          <a:xfrm>
            <a:off x="4517136" y="2697480"/>
            <a:ext cx="1069848" cy="128016"/>
          </a:xfrm>
          <a:prstGeom prst="rect">
            <a:avLst/>
          </a:prstGeom>
          <a:noFill/>
          <a:ln/>
        </p:spPr>
        <p:txBody>
          <a:bodyPr wrap="square" lIns="0" tIns="0" rIns="0" bIns="0" rtlCol="0" anchor="ctr">
            <a:normAutofit/>
          </a:bodyPr>
          <a:lstStyle/>
          <a:p>
            <a:pPr algn="ctr" indent="0" marL="0">
              <a:buNone/>
            </a:pPr>
            <a:r>
              <a:rPr lang="en-US" sz="820" dirty="0">
                <a:solidFill>
                  <a:srgbClr val="1F2933"/>
                </a:solidFill>
              </a:rPr>
              <a:t>0.580</a:t>
            </a:r>
            <a:endParaRPr lang="en-US" sz="820" dirty="0"/>
          </a:p>
        </p:txBody>
      </p:sp>
      <p:sp>
        <p:nvSpPr>
          <p:cNvPr id="63" name="Shape 61"/>
          <p:cNvSpPr/>
          <p:nvPr/>
        </p:nvSpPr>
        <p:spPr>
          <a:xfrm>
            <a:off x="5623560" y="2615184"/>
            <a:ext cx="914400" cy="438912"/>
          </a:xfrm>
          <a:prstGeom prst="rect">
            <a:avLst/>
          </a:prstGeom>
          <a:solidFill>
            <a:srgbClr val="F5F7FA"/>
          </a:solidFill>
          <a:ln w="12700">
            <a:solidFill>
              <a:srgbClr val="D8DEE6">
                <a:alpha val="90000"/>
              </a:srgbClr>
            </a:solidFill>
            <a:prstDash val="solid"/>
          </a:ln>
        </p:spPr>
      </p:sp>
      <p:sp>
        <p:nvSpPr>
          <p:cNvPr id="64" name="Text 62"/>
          <p:cNvSpPr/>
          <p:nvPr/>
        </p:nvSpPr>
        <p:spPr>
          <a:xfrm>
            <a:off x="5660136" y="2697480"/>
            <a:ext cx="841248" cy="128016"/>
          </a:xfrm>
          <a:prstGeom prst="rect">
            <a:avLst/>
          </a:prstGeom>
          <a:noFill/>
          <a:ln/>
        </p:spPr>
        <p:txBody>
          <a:bodyPr wrap="square" lIns="0" tIns="0" rIns="0" bIns="0" rtlCol="0" anchor="ctr">
            <a:normAutofit/>
          </a:bodyPr>
          <a:lstStyle/>
          <a:p>
            <a:pPr algn="ctr" indent="0" marL="0">
              <a:buNone/>
            </a:pPr>
            <a:r>
              <a:rPr lang="en-US" sz="820" dirty="0">
                <a:solidFill>
                  <a:srgbClr val="1F2933"/>
                </a:solidFill>
              </a:rPr>
              <a:t>0.610</a:t>
            </a:r>
            <a:endParaRPr lang="en-US" sz="820" dirty="0"/>
          </a:p>
        </p:txBody>
      </p:sp>
      <p:sp>
        <p:nvSpPr>
          <p:cNvPr id="65" name="Shape 63"/>
          <p:cNvSpPr/>
          <p:nvPr/>
        </p:nvSpPr>
        <p:spPr>
          <a:xfrm>
            <a:off x="6537960" y="2615184"/>
            <a:ext cx="777240" cy="438912"/>
          </a:xfrm>
          <a:prstGeom prst="rect">
            <a:avLst/>
          </a:prstGeom>
          <a:solidFill>
            <a:srgbClr val="F5F7FA"/>
          </a:solidFill>
          <a:ln w="12700">
            <a:solidFill>
              <a:srgbClr val="D8DEE6">
                <a:alpha val="90000"/>
              </a:srgbClr>
            </a:solidFill>
            <a:prstDash val="solid"/>
          </a:ln>
        </p:spPr>
      </p:sp>
      <p:sp>
        <p:nvSpPr>
          <p:cNvPr id="66" name="Text 64"/>
          <p:cNvSpPr/>
          <p:nvPr/>
        </p:nvSpPr>
        <p:spPr>
          <a:xfrm>
            <a:off x="6574536" y="2697480"/>
            <a:ext cx="704088" cy="128016"/>
          </a:xfrm>
          <a:prstGeom prst="rect">
            <a:avLst/>
          </a:prstGeom>
          <a:noFill/>
          <a:ln/>
        </p:spPr>
        <p:txBody>
          <a:bodyPr wrap="square" lIns="0" tIns="0" rIns="0" bIns="0" rtlCol="0" anchor="ctr">
            <a:normAutofit/>
          </a:bodyPr>
          <a:lstStyle/>
          <a:p>
            <a:pPr algn="ctr" indent="0" marL="0">
              <a:buNone/>
            </a:pPr>
            <a:r>
              <a:rPr lang="en-US" sz="820" dirty="0">
                <a:solidFill>
                  <a:srgbClr val="1F2933"/>
                </a:solidFill>
              </a:rPr>
              <a:t>0.594</a:t>
            </a:r>
            <a:endParaRPr lang="en-US" sz="820" dirty="0"/>
          </a:p>
        </p:txBody>
      </p:sp>
      <p:sp>
        <p:nvSpPr>
          <p:cNvPr id="67" name="Shape 65"/>
          <p:cNvSpPr/>
          <p:nvPr/>
        </p:nvSpPr>
        <p:spPr>
          <a:xfrm>
            <a:off x="7315200" y="2615184"/>
            <a:ext cx="1143000" cy="438912"/>
          </a:xfrm>
          <a:prstGeom prst="rect">
            <a:avLst/>
          </a:prstGeom>
          <a:solidFill>
            <a:srgbClr val="F5F7FA"/>
          </a:solidFill>
          <a:ln w="12700">
            <a:solidFill>
              <a:srgbClr val="D8DEE6">
                <a:alpha val="90000"/>
              </a:srgbClr>
            </a:solidFill>
            <a:prstDash val="solid"/>
          </a:ln>
        </p:spPr>
      </p:sp>
      <p:sp>
        <p:nvSpPr>
          <p:cNvPr id="68" name="Text 66"/>
          <p:cNvSpPr/>
          <p:nvPr/>
        </p:nvSpPr>
        <p:spPr>
          <a:xfrm>
            <a:off x="7351776" y="2697480"/>
            <a:ext cx="1069848" cy="128016"/>
          </a:xfrm>
          <a:prstGeom prst="rect">
            <a:avLst/>
          </a:prstGeom>
          <a:noFill/>
          <a:ln/>
        </p:spPr>
        <p:txBody>
          <a:bodyPr wrap="square" lIns="0" tIns="0" rIns="0" bIns="0" rtlCol="0" anchor="ctr">
            <a:normAutofit/>
          </a:bodyPr>
          <a:lstStyle/>
          <a:p>
            <a:pPr algn="ctr" indent="0" marL="0">
              <a:buNone/>
            </a:pPr>
            <a:r>
              <a:rPr lang="en-US" sz="820" dirty="0">
                <a:solidFill>
                  <a:srgbClr val="1F2933"/>
                </a:solidFill>
              </a:rPr>
              <a:t>0.929</a:t>
            </a:r>
            <a:endParaRPr lang="en-US" sz="820" dirty="0"/>
          </a:p>
        </p:txBody>
      </p:sp>
      <p:sp>
        <p:nvSpPr>
          <p:cNvPr id="69" name="Shape 67"/>
          <p:cNvSpPr/>
          <p:nvPr/>
        </p:nvSpPr>
        <p:spPr>
          <a:xfrm>
            <a:off x="8458200" y="2615184"/>
            <a:ext cx="1097280" cy="438912"/>
          </a:xfrm>
          <a:prstGeom prst="rect">
            <a:avLst/>
          </a:prstGeom>
          <a:solidFill>
            <a:srgbClr val="F5F7FA"/>
          </a:solidFill>
          <a:ln w="12700">
            <a:solidFill>
              <a:srgbClr val="D8DEE6">
                <a:alpha val="90000"/>
              </a:srgbClr>
            </a:solidFill>
            <a:prstDash val="solid"/>
          </a:ln>
        </p:spPr>
      </p:sp>
      <p:sp>
        <p:nvSpPr>
          <p:cNvPr id="70" name="Text 68"/>
          <p:cNvSpPr/>
          <p:nvPr/>
        </p:nvSpPr>
        <p:spPr>
          <a:xfrm>
            <a:off x="8494776" y="2697480"/>
            <a:ext cx="1024128" cy="128016"/>
          </a:xfrm>
          <a:prstGeom prst="rect">
            <a:avLst/>
          </a:prstGeom>
          <a:noFill/>
          <a:ln/>
        </p:spPr>
        <p:txBody>
          <a:bodyPr wrap="square" lIns="0" tIns="0" rIns="0" bIns="0" rtlCol="0" anchor="ctr">
            <a:normAutofit/>
          </a:bodyPr>
          <a:lstStyle/>
          <a:p>
            <a:pPr algn="ctr" indent="0" marL="0">
              <a:buNone/>
            </a:pPr>
            <a:r>
              <a:rPr lang="en-US" sz="820" dirty="0">
                <a:solidFill>
                  <a:srgbClr val="1F2933"/>
                </a:solidFill>
              </a:rPr>
              <a:t>0.615</a:t>
            </a:r>
            <a:endParaRPr lang="en-US" sz="820" dirty="0"/>
          </a:p>
        </p:txBody>
      </p:sp>
      <p:sp>
        <p:nvSpPr>
          <p:cNvPr id="71" name="Shape 69"/>
          <p:cNvSpPr/>
          <p:nvPr/>
        </p:nvSpPr>
        <p:spPr>
          <a:xfrm>
            <a:off x="640080" y="3154680"/>
            <a:ext cx="5166360" cy="2606040"/>
          </a:xfrm>
          <a:prstGeom prst="roundRect">
            <a:avLst>
              <a:gd name="adj" fmla="val 2105"/>
            </a:avLst>
          </a:prstGeom>
          <a:solidFill>
            <a:srgbClr val="FFFFFF"/>
          </a:solidFill>
          <a:ln w="12700">
            <a:solidFill>
              <a:srgbClr val="D8DEE6">
                <a:alpha val="85000"/>
              </a:srgbClr>
            </a:solidFill>
            <a:prstDash val="solid"/>
          </a:ln>
        </p:spPr>
      </p:sp>
      <p:sp>
        <p:nvSpPr>
          <p:cNvPr id="72" name="Text 70"/>
          <p:cNvSpPr/>
          <p:nvPr/>
        </p:nvSpPr>
        <p:spPr>
          <a:xfrm>
            <a:off x="749808" y="3236976"/>
            <a:ext cx="4946904" cy="164592"/>
          </a:xfrm>
          <a:prstGeom prst="rect">
            <a:avLst/>
          </a:prstGeom>
          <a:noFill/>
          <a:ln/>
        </p:spPr>
        <p:txBody>
          <a:bodyPr wrap="square" lIns="0" tIns="0" rIns="0" bIns="0" rtlCol="0" anchor="ctr"/>
          <a:lstStyle/>
          <a:p>
            <a:pPr indent="0" marL="0">
              <a:buNone/>
            </a:pPr>
            <a:r>
              <a:rPr lang="en-US" sz="1020" b="1" dirty="0">
                <a:solidFill>
                  <a:srgbClr val="12385B"/>
                </a:solidFill>
              </a:rPr>
              <a:t>Validation ROC curve</a:t>
            </a:r>
            <a:endParaRPr lang="en-US" sz="1020" dirty="0"/>
          </a:p>
        </p:txBody>
      </p:sp>
      <p:pic>
        <p:nvPicPr>
          <p:cNvPr id="73" name="Image 0" descr="/mnt/data/key_extracted_plots/11_roc_curve_validation.png">    </p:cNvPr>
          <p:cNvPicPr>
            <a:picLocks noChangeAspect="1"/>
          </p:cNvPicPr>
          <p:nvPr/>
        </p:nvPicPr>
        <p:blipFill>
          <a:blip r:embed="rId1"/>
          <a:stretch>
            <a:fillRect/>
          </a:stretch>
        </p:blipFill>
        <p:spPr>
          <a:xfrm>
            <a:off x="2139770" y="3456432"/>
            <a:ext cx="2166980" cy="2194560"/>
          </a:xfrm>
          <a:prstGeom prst="rect">
            <a:avLst/>
          </a:prstGeom>
        </p:spPr>
      </p:pic>
      <p:sp>
        <p:nvSpPr>
          <p:cNvPr id="74" name="Shape 71"/>
          <p:cNvSpPr/>
          <p:nvPr/>
        </p:nvSpPr>
        <p:spPr>
          <a:xfrm>
            <a:off x="6355080" y="3154680"/>
            <a:ext cx="5166360" cy="2606040"/>
          </a:xfrm>
          <a:prstGeom prst="roundRect">
            <a:avLst>
              <a:gd name="adj" fmla="val 2105"/>
            </a:avLst>
          </a:prstGeom>
          <a:solidFill>
            <a:srgbClr val="FFFFFF"/>
          </a:solidFill>
          <a:ln w="12700">
            <a:solidFill>
              <a:srgbClr val="D8DEE6">
                <a:alpha val="85000"/>
              </a:srgbClr>
            </a:solidFill>
            <a:prstDash val="solid"/>
          </a:ln>
        </p:spPr>
      </p:sp>
      <p:sp>
        <p:nvSpPr>
          <p:cNvPr id="75" name="Text 72"/>
          <p:cNvSpPr/>
          <p:nvPr/>
        </p:nvSpPr>
        <p:spPr>
          <a:xfrm>
            <a:off x="6464808" y="3236976"/>
            <a:ext cx="4946904" cy="164592"/>
          </a:xfrm>
          <a:prstGeom prst="rect">
            <a:avLst/>
          </a:prstGeom>
          <a:noFill/>
          <a:ln/>
        </p:spPr>
        <p:txBody>
          <a:bodyPr wrap="square" lIns="0" tIns="0" rIns="0" bIns="0" rtlCol="0" anchor="ctr"/>
          <a:lstStyle/>
          <a:p>
            <a:pPr indent="0" marL="0">
              <a:buNone/>
            </a:pPr>
            <a:r>
              <a:rPr lang="en-US" sz="1020" b="1" dirty="0">
                <a:solidFill>
                  <a:srgbClr val="12385B"/>
                </a:solidFill>
              </a:rPr>
              <a:t>Validation Precision-Recall curve</a:t>
            </a:r>
            <a:endParaRPr lang="en-US" sz="1020" dirty="0"/>
          </a:p>
        </p:txBody>
      </p:sp>
      <p:pic>
        <p:nvPicPr>
          <p:cNvPr id="76" name="Image 1" descr="/mnt/data/key_extracted_plots/12_precision_recall_curve_validation.png">    </p:cNvPr>
          <p:cNvPicPr>
            <a:picLocks noChangeAspect="1"/>
          </p:cNvPicPr>
          <p:nvPr/>
        </p:nvPicPr>
        <p:blipFill>
          <a:blip r:embed="rId2"/>
          <a:stretch>
            <a:fillRect/>
          </a:stretch>
        </p:blipFill>
        <p:spPr>
          <a:xfrm>
            <a:off x="7854770" y="3456432"/>
            <a:ext cx="2166980" cy="2194560"/>
          </a:xfrm>
          <a:prstGeom prst="rect">
            <a:avLst/>
          </a:prstGeom>
        </p:spPr>
      </p:pic>
      <p:sp>
        <p:nvSpPr>
          <p:cNvPr id="77" name="Text 73"/>
          <p:cNvSpPr/>
          <p:nvPr/>
        </p:nvSpPr>
        <p:spPr>
          <a:xfrm>
            <a:off x="777240" y="5989320"/>
            <a:ext cx="10241280" cy="219456"/>
          </a:xfrm>
          <a:prstGeom prst="rect">
            <a:avLst/>
          </a:prstGeom>
          <a:noFill/>
          <a:ln/>
        </p:spPr>
        <p:txBody>
          <a:bodyPr wrap="square" lIns="0" tIns="0" rIns="0" bIns="0" rtlCol="0" anchor="ctr"/>
          <a:lstStyle/>
          <a:p>
            <a:pPr algn="ctr" indent="0" marL="0">
              <a:buNone/>
            </a:pPr>
            <a:r>
              <a:rPr lang="en-US" sz="1150" b="1" dirty="0">
                <a:solidFill>
                  <a:srgbClr val="D64545"/>
                </a:solidFill>
              </a:rPr>
              <a:t>Why the baseline matters: it achieves high accuracy by predicting the majority class, but has zero recall for subscribers.</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49C7E"/>
          </a:solidFill>
          <a:ln w="12700">
            <a:solidFill>
              <a:srgbClr val="149C7E"/>
            </a:solidFill>
            <a:prstDash val="solid"/>
          </a:ln>
        </p:spPr>
      </p:sp>
      <p:sp>
        <p:nvSpPr>
          <p:cNvPr id="3" name="Text 1"/>
          <p:cNvSpPr/>
          <p:nvPr/>
        </p:nvSpPr>
        <p:spPr>
          <a:xfrm>
            <a:off x="502920" y="310896"/>
            <a:ext cx="8138160" cy="384048"/>
          </a:xfrm>
          <a:prstGeom prst="rect">
            <a:avLst/>
          </a:prstGeom>
          <a:noFill/>
          <a:ln/>
        </p:spPr>
        <p:txBody>
          <a:bodyPr wrap="square" lIns="0" tIns="0" rIns="0" bIns="0" rtlCol="0" anchor="ctr"/>
          <a:lstStyle/>
          <a:p>
            <a:pPr indent="0" marL="0">
              <a:buNone/>
            </a:pPr>
            <a:r>
              <a:rPr lang="en-US" sz="2600" b="1" dirty="0">
                <a:solidFill>
                  <a:srgbClr val="12385B"/>
                </a:solidFill>
                <a:latin typeface="Aptos Display" pitchFamily="34" charset="0"/>
                <a:ea typeface="Aptos Display" pitchFamily="34" charset="-122"/>
                <a:cs typeface="Aptos Display" pitchFamily="34" charset="-120"/>
              </a:rPr>
              <a:t>Final Evaluation and Preferred Model</a:t>
            </a:r>
            <a:endParaRPr lang="en-US" sz="2600" dirty="0"/>
          </a:p>
        </p:txBody>
      </p:sp>
      <p:sp>
        <p:nvSpPr>
          <p:cNvPr id="4" name="Text 2"/>
          <p:cNvSpPr/>
          <p:nvPr/>
        </p:nvSpPr>
        <p:spPr>
          <a:xfrm>
            <a:off x="521208" y="749808"/>
            <a:ext cx="10789920" cy="237744"/>
          </a:xfrm>
          <a:prstGeom prst="rect">
            <a:avLst/>
          </a:prstGeom>
          <a:noFill/>
          <a:ln/>
        </p:spPr>
        <p:txBody>
          <a:bodyPr wrap="square" lIns="0" tIns="0" rIns="0" bIns="0" rtlCol="0" anchor="ctr"/>
          <a:lstStyle/>
          <a:p>
            <a:pPr indent="0" marL="0">
              <a:buNone/>
            </a:pPr>
            <a:r>
              <a:rPr lang="en-US" sz="1050" dirty="0">
                <a:solidFill>
                  <a:srgbClr val="5B6770"/>
                </a:solidFill>
              </a:rPr>
              <a:t>The tuned Random Forest is selected and confirmed on the held-out test set.</a:t>
            </a:r>
            <a:endParaRPr lang="en-US" sz="1050" dirty="0"/>
          </a:p>
        </p:txBody>
      </p:sp>
      <p:sp>
        <p:nvSpPr>
          <p:cNvPr id="5" name="Text 3"/>
          <p:cNvSpPr/>
          <p:nvPr/>
        </p:nvSpPr>
        <p:spPr>
          <a:xfrm>
            <a:off x="502920" y="6483096"/>
            <a:ext cx="4572000" cy="164592"/>
          </a:xfrm>
          <a:prstGeom prst="rect">
            <a:avLst/>
          </a:prstGeom>
          <a:noFill/>
          <a:ln/>
        </p:spPr>
        <p:txBody>
          <a:bodyPr wrap="square" lIns="0" tIns="0" rIns="0" bIns="0" rtlCol="0" anchor="ctr"/>
          <a:lstStyle/>
          <a:p>
            <a:pPr indent="0" marL="0">
              <a:buNone/>
            </a:pPr>
            <a:r>
              <a:rPr lang="en-US" sz="800" dirty="0">
                <a:solidFill>
                  <a:srgbClr val="7B8794"/>
                </a:solidFill>
              </a:rPr>
              <a:t>Bank Marketing Subscription Prediction</a:t>
            </a:r>
            <a:endParaRPr lang="en-US" sz="800" dirty="0"/>
          </a:p>
        </p:txBody>
      </p:sp>
      <p:sp>
        <p:nvSpPr>
          <p:cNvPr id="6" name="Text 4"/>
          <p:cNvSpPr/>
          <p:nvPr/>
        </p:nvSpPr>
        <p:spPr>
          <a:xfrm>
            <a:off x="11384280" y="6464808"/>
            <a:ext cx="320040" cy="164592"/>
          </a:xfrm>
          <a:prstGeom prst="rect">
            <a:avLst/>
          </a:prstGeom>
          <a:noFill/>
          <a:ln/>
        </p:spPr>
        <p:txBody>
          <a:bodyPr wrap="square" lIns="0" tIns="0" rIns="0" bIns="0" rtlCol="0" anchor="ctr"/>
          <a:lstStyle/>
          <a:p>
            <a:pPr algn="r" indent="0" marL="0">
              <a:buNone/>
            </a:pPr>
            <a:r>
              <a:rPr lang="en-US" sz="800" dirty="0">
                <a:solidFill>
                  <a:srgbClr val="7B8794"/>
                </a:solidFill>
              </a:rPr>
              <a:t>07</a:t>
            </a:r>
            <a:endParaRPr lang="en-US" sz="800" dirty="0"/>
          </a:p>
        </p:txBody>
      </p:sp>
      <p:sp>
        <p:nvSpPr>
          <p:cNvPr id="7" name="Shape 5"/>
          <p:cNvSpPr/>
          <p:nvPr/>
        </p:nvSpPr>
        <p:spPr>
          <a:xfrm>
            <a:off x="685800" y="1170432"/>
            <a:ext cx="1554480" cy="777240"/>
          </a:xfrm>
          <a:prstGeom prst="roundRect">
            <a:avLst>
              <a:gd name="adj" fmla="val 7059"/>
            </a:avLst>
          </a:prstGeom>
          <a:solidFill>
            <a:srgbClr val="FFFFFF"/>
          </a:solidFill>
          <a:ln w="12700">
            <a:solidFill>
              <a:srgbClr val="D8DEE6">
                <a:alpha val="80000"/>
              </a:srgbClr>
            </a:solidFill>
            <a:prstDash val="solid"/>
          </a:ln>
        </p:spPr>
      </p:sp>
      <p:sp>
        <p:nvSpPr>
          <p:cNvPr id="8" name="Shape 6"/>
          <p:cNvSpPr/>
          <p:nvPr/>
        </p:nvSpPr>
        <p:spPr>
          <a:xfrm>
            <a:off x="685800" y="1170432"/>
            <a:ext cx="54864" cy="777240"/>
          </a:xfrm>
          <a:prstGeom prst="rect">
            <a:avLst/>
          </a:prstGeom>
          <a:solidFill>
            <a:srgbClr val="149C7E"/>
          </a:solidFill>
          <a:ln w="12700">
            <a:solidFill>
              <a:srgbClr val="149C7E"/>
            </a:solidFill>
            <a:prstDash val="solid"/>
          </a:ln>
        </p:spPr>
      </p:sp>
      <p:sp>
        <p:nvSpPr>
          <p:cNvPr id="9" name="Text 7"/>
          <p:cNvSpPr/>
          <p:nvPr/>
        </p:nvSpPr>
        <p:spPr>
          <a:xfrm>
            <a:off x="832104" y="1298448"/>
            <a:ext cx="1353312" cy="256032"/>
          </a:xfrm>
          <a:prstGeom prst="rect">
            <a:avLst/>
          </a:prstGeom>
          <a:noFill/>
          <a:ln/>
        </p:spPr>
        <p:txBody>
          <a:bodyPr wrap="square" lIns="0" tIns="0" rIns="0" bIns="0" rtlCol="0" anchor="ctr"/>
          <a:lstStyle/>
          <a:p>
            <a:pPr algn="ctr" indent="0" marL="0">
              <a:buNone/>
            </a:pPr>
            <a:r>
              <a:rPr lang="en-US" sz="1800" b="1" dirty="0">
                <a:solidFill>
                  <a:srgbClr val="149C7E"/>
                </a:solidFill>
              </a:rPr>
              <a:t>0.9328</a:t>
            </a:r>
            <a:endParaRPr lang="en-US" sz="1800" dirty="0"/>
          </a:p>
        </p:txBody>
      </p:sp>
      <p:sp>
        <p:nvSpPr>
          <p:cNvPr id="10" name="Text 8"/>
          <p:cNvSpPr/>
          <p:nvPr/>
        </p:nvSpPr>
        <p:spPr>
          <a:xfrm>
            <a:off x="795528" y="1609344"/>
            <a:ext cx="1371600" cy="164592"/>
          </a:xfrm>
          <a:prstGeom prst="rect">
            <a:avLst/>
          </a:prstGeom>
          <a:noFill/>
          <a:ln/>
        </p:spPr>
        <p:txBody>
          <a:bodyPr wrap="square" lIns="0" tIns="0" rIns="0" bIns="0" rtlCol="0" anchor="ctr"/>
          <a:lstStyle/>
          <a:p>
            <a:pPr algn="ctr" indent="0" marL="0">
              <a:buNone/>
            </a:pPr>
            <a:r>
              <a:rPr lang="en-US" sz="850" dirty="0">
                <a:solidFill>
                  <a:srgbClr val="5B6770"/>
                </a:solidFill>
              </a:rPr>
              <a:t>Test ROC-AUC</a:t>
            </a:r>
            <a:endParaRPr lang="en-US" sz="850" dirty="0"/>
          </a:p>
        </p:txBody>
      </p:sp>
      <p:sp>
        <p:nvSpPr>
          <p:cNvPr id="11" name="Shape 9"/>
          <p:cNvSpPr/>
          <p:nvPr/>
        </p:nvSpPr>
        <p:spPr>
          <a:xfrm>
            <a:off x="2423160" y="1170432"/>
            <a:ext cx="1554480" cy="777240"/>
          </a:xfrm>
          <a:prstGeom prst="roundRect">
            <a:avLst>
              <a:gd name="adj" fmla="val 7059"/>
            </a:avLst>
          </a:prstGeom>
          <a:solidFill>
            <a:srgbClr val="FFFFFF"/>
          </a:solidFill>
          <a:ln w="12700">
            <a:solidFill>
              <a:srgbClr val="D8DEE6">
                <a:alpha val="80000"/>
              </a:srgbClr>
            </a:solidFill>
            <a:prstDash val="solid"/>
          </a:ln>
        </p:spPr>
      </p:sp>
      <p:sp>
        <p:nvSpPr>
          <p:cNvPr id="12" name="Shape 10"/>
          <p:cNvSpPr/>
          <p:nvPr/>
        </p:nvSpPr>
        <p:spPr>
          <a:xfrm>
            <a:off x="2423160" y="1170432"/>
            <a:ext cx="54864" cy="777240"/>
          </a:xfrm>
          <a:prstGeom prst="rect">
            <a:avLst/>
          </a:prstGeom>
          <a:solidFill>
            <a:srgbClr val="149C7E"/>
          </a:solidFill>
          <a:ln w="12700">
            <a:solidFill>
              <a:srgbClr val="149C7E"/>
            </a:solidFill>
            <a:prstDash val="solid"/>
          </a:ln>
        </p:spPr>
      </p:sp>
      <p:sp>
        <p:nvSpPr>
          <p:cNvPr id="13" name="Text 11"/>
          <p:cNvSpPr/>
          <p:nvPr/>
        </p:nvSpPr>
        <p:spPr>
          <a:xfrm>
            <a:off x="2569464" y="1298448"/>
            <a:ext cx="1353312" cy="256032"/>
          </a:xfrm>
          <a:prstGeom prst="rect">
            <a:avLst/>
          </a:prstGeom>
          <a:noFill/>
          <a:ln/>
        </p:spPr>
        <p:txBody>
          <a:bodyPr wrap="square" lIns="0" tIns="0" rIns="0" bIns="0" rtlCol="0" anchor="ctr"/>
          <a:lstStyle/>
          <a:p>
            <a:pPr algn="ctr" indent="0" marL="0">
              <a:buNone/>
            </a:pPr>
            <a:r>
              <a:rPr lang="en-US" sz="1800" b="1" dirty="0">
                <a:solidFill>
                  <a:srgbClr val="149C7E"/>
                </a:solidFill>
              </a:rPr>
              <a:t>0.6339</a:t>
            </a:r>
            <a:endParaRPr lang="en-US" sz="1800" dirty="0"/>
          </a:p>
        </p:txBody>
      </p:sp>
      <p:sp>
        <p:nvSpPr>
          <p:cNvPr id="14" name="Text 12"/>
          <p:cNvSpPr/>
          <p:nvPr/>
        </p:nvSpPr>
        <p:spPr>
          <a:xfrm>
            <a:off x="2532888" y="1609344"/>
            <a:ext cx="1371600" cy="164592"/>
          </a:xfrm>
          <a:prstGeom prst="rect">
            <a:avLst/>
          </a:prstGeom>
          <a:noFill/>
          <a:ln/>
        </p:spPr>
        <p:txBody>
          <a:bodyPr wrap="square" lIns="0" tIns="0" rIns="0" bIns="0" rtlCol="0" anchor="ctr"/>
          <a:lstStyle/>
          <a:p>
            <a:pPr algn="ctr" indent="0" marL="0">
              <a:buNone/>
            </a:pPr>
            <a:r>
              <a:rPr lang="en-US" sz="850" dirty="0">
                <a:solidFill>
                  <a:srgbClr val="5B6770"/>
                </a:solidFill>
              </a:rPr>
              <a:t>Test PR-AUC</a:t>
            </a:r>
            <a:endParaRPr lang="en-US" sz="850" dirty="0"/>
          </a:p>
        </p:txBody>
      </p:sp>
      <p:sp>
        <p:nvSpPr>
          <p:cNvPr id="15" name="Shape 13"/>
          <p:cNvSpPr/>
          <p:nvPr/>
        </p:nvSpPr>
        <p:spPr>
          <a:xfrm>
            <a:off x="4160520" y="1170432"/>
            <a:ext cx="1325880" cy="777240"/>
          </a:xfrm>
          <a:prstGeom prst="roundRect">
            <a:avLst>
              <a:gd name="adj" fmla="val 7059"/>
            </a:avLst>
          </a:prstGeom>
          <a:solidFill>
            <a:srgbClr val="FFFFFF"/>
          </a:solidFill>
          <a:ln w="12700">
            <a:solidFill>
              <a:srgbClr val="D8DEE6">
                <a:alpha val="80000"/>
              </a:srgbClr>
            </a:solidFill>
            <a:prstDash val="solid"/>
          </a:ln>
        </p:spPr>
      </p:sp>
      <p:sp>
        <p:nvSpPr>
          <p:cNvPr id="16" name="Shape 14"/>
          <p:cNvSpPr/>
          <p:nvPr/>
        </p:nvSpPr>
        <p:spPr>
          <a:xfrm>
            <a:off x="4160520" y="1170432"/>
            <a:ext cx="54864" cy="777240"/>
          </a:xfrm>
          <a:prstGeom prst="rect">
            <a:avLst/>
          </a:prstGeom>
          <a:solidFill>
            <a:srgbClr val="1F77B4"/>
          </a:solidFill>
          <a:ln w="12700">
            <a:solidFill>
              <a:srgbClr val="1F77B4"/>
            </a:solidFill>
            <a:prstDash val="solid"/>
          </a:ln>
        </p:spPr>
      </p:sp>
      <p:sp>
        <p:nvSpPr>
          <p:cNvPr id="17" name="Text 15"/>
          <p:cNvSpPr/>
          <p:nvPr/>
        </p:nvSpPr>
        <p:spPr>
          <a:xfrm>
            <a:off x="4306824" y="1298448"/>
            <a:ext cx="1124712" cy="256032"/>
          </a:xfrm>
          <a:prstGeom prst="rect">
            <a:avLst/>
          </a:prstGeom>
          <a:noFill/>
          <a:ln/>
        </p:spPr>
        <p:txBody>
          <a:bodyPr wrap="square" lIns="0" tIns="0" rIns="0" bIns="0" rtlCol="0" anchor="ctr"/>
          <a:lstStyle/>
          <a:p>
            <a:pPr algn="ctr" indent="0" marL="0">
              <a:buNone/>
            </a:pPr>
            <a:r>
              <a:rPr lang="en-US" sz="1800" b="1" dirty="0">
                <a:solidFill>
                  <a:srgbClr val="1F77B4"/>
                </a:solidFill>
              </a:rPr>
              <a:t>0.6009</a:t>
            </a:r>
            <a:endParaRPr lang="en-US" sz="1800" dirty="0"/>
          </a:p>
        </p:txBody>
      </p:sp>
      <p:sp>
        <p:nvSpPr>
          <p:cNvPr id="18" name="Text 16"/>
          <p:cNvSpPr/>
          <p:nvPr/>
        </p:nvSpPr>
        <p:spPr>
          <a:xfrm>
            <a:off x="4270248" y="1609344"/>
            <a:ext cx="1143000" cy="164592"/>
          </a:xfrm>
          <a:prstGeom prst="rect">
            <a:avLst/>
          </a:prstGeom>
          <a:noFill/>
          <a:ln/>
        </p:spPr>
        <p:txBody>
          <a:bodyPr wrap="square" lIns="0" tIns="0" rIns="0" bIns="0" rtlCol="0" anchor="ctr"/>
          <a:lstStyle/>
          <a:p>
            <a:pPr algn="ctr" indent="0" marL="0">
              <a:buNone/>
            </a:pPr>
            <a:r>
              <a:rPr lang="en-US" sz="850" dirty="0">
                <a:solidFill>
                  <a:srgbClr val="5B6770"/>
                </a:solidFill>
              </a:rPr>
              <a:t>Test F1</a:t>
            </a:r>
            <a:endParaRPr lang="en-US" sz="850" dirty="0"/>
          </a:p>
        </p:txBody>
      </p:sp>
      <p:sp>
        <p:nvSpPr>
          <p:cNvPr id="19" name="Shape 17"/>
          <p:cNvSpPr/>
          <p:nvPr/>
        </p:nvSpPr>
        <p:spPr>
          <a:xfrm>
            <a:off x="5715000" y="1170432"/>
            <a:ext cx="1325880" cy="777240"/>
          </a:xfrm>
          <a:prstGeom prst="roundRect">
            <a:avLst>
              <a:gd name="adj" fmla="val 7059"/>
            </a:avLst>
          </a:prstGeom>
          <a:solidFill>
            <a:srgbClr val="FFFFFF"/>
          </a:solidFill>
          <a:ln w="12700">
            <a:solidFill>
              <a:srgbClr val="D8DEE6">
                <a:alpha val="80000"/>
              </a:srgbClr>
            </a:solidFill>
            <a:prstDash val="solid"/>
          </a:ln>
        </p:spPr>
      </p:sp>
      <p:sp>
        <p:nvSpPr>
          <p:cNvPr id="20" name="Shape 18"/>
          <p:cNvSpPr/>
          <p:nvPr/>
        </p:nvSpPr>
        <p:spPr>
          <a:xfrm>
            <a:off x="5715000" y="1170432"/>
            <a:ext cx="54864" cy="777240"/>
          </a:xfrm>
          <a:prstGeom prst="rect">
            <a:avLst/>
          </a:prstGeom>
          <a:solidFill>
            <a:srgbClr val="1F77B4"/>
          </a:solidFill>
          <a:ln w="12700">
            <a:solidFill>
              <a:srgbClr val="1F77B4"/>
            </a:solidFill>
            <a:prstDash val="solid"/>
          </a:ln>
        </p:spPr>
      </p:sp>
      <p:sp>
        <p:nvSpPr>
          <p:cNvPr id="21" name="Text 19"/>
          <p:cNvSpPr/>
          <p:nvPr/>
        </p:nvSpPr>
        <p:spPr>
          <a:xfrm>
            <a:off x="5861304" y="1298448"/>
            <a:ext cx="1124712" cy="256032"/>
          </a:xfrm>
          <a:prstGeom prst="rect">
            <a:avLst/>
          </a:prstGeom>
          <a:noFill/>
          <a:ln/>
        </p:spPr>
        <p:txBody>
          <a:bodyPr wrap="square" lIns="0" tIns="0" rIns="0" bIns="0" rtlCol="0" anchor="ctr"/>
          <a:lstStyle/>
          <a:p>
            <a:pPr algn="ctr" indent="0" marL="0">
              <a:buNone/>
            </a:pPr>
            <a:r>
              <a:rPr lang="en-US" sz="1800" b="1" dirty="0">
                <a:solidFill>
                  <a:srgbClr val="1F77B4"/>
                </a:solidFill>
              </a:rPr>
              <a:t>0.5916</a:t>
            </a:r>
            <a:endParaRPr lang="en-US" sz="1800" dirty="0"/>
          </a:p>
        </p:txBody>
      </p:sp>
      <p:sp>
        <p:nvSpPr>
          <p:cNvPr id="22" name="Text 20"/>
          <p:cNvSpPr/>
          <p:nvPr/>
        </p:nvSpPr>
        <p:spPr>
          <a:xfrm>
            <a:off x="5824728" y="1609344"/>
            <a:ext cx="1143000" cy="164592"/>
          </a:xfrm>
          <a:prstGeom prst="rect">
            <a:avLst/>
          </a:prstGeom>
          <a:noFill/>
          <a:ln/>
        </p:spPr>
        <p:txBody>
          <a:bodyPr wrap="square" lIns="0" tIns="0" rIns="0" bIns="0" rtlCol="0" anchor="ctr"/>
          <a:lstStyle/>
          <a:p>
            <a:pPr algn="ctr" indent="0" marL="0">
              <a:buNone/>
            </a:pPr>
            <a:r>
              <a:rPr lang="en-US" sz="850" dirty="0">
                <a:solidFill>
                  <a:srgbClr val="5B6770"/>
                </a:solidFill>
              </a:rPr>
              <a:t>Precision</a:t>
            </a:r>
            <a:endParaRPr lang="en-US" sz="850" dirty="0"/>
          </a:p>
        </p:txBody>
      </p:sp>
      <p:sp>
        <p:nvSpPr>
          <p:cNvPr id="23" name="Shape 21"/>
          <p:cNvSpPr/>
          <p:nvPr/>
        </p:nvSpPr>
        <p:spPr>
          <a:xfrm>
            <a:off x="7269480" y="1170432"/>
            <a:ext cx="1325880" cy="777240"/>
          </a:xfrm>
          <a:prstGeom prst="roundRect">
            <a:avLst>
              <a:gd name="adj" fmla="val 7059"/>
            </a:avLst>
          </a:prstGeom>
          <a:solidFill>
            <a:srgbClr val="FFFFFF"/>
          </a:solidFill>
          <a:ln w="12700">
            <a:solidFill>
              <a:srgbClr val="D8DEE6">
                <a:alpha val="80000"/>
              </a:srgbClr>
            </a:solidFill>
            <a:prstDash val="solid"/>
          </a:ln>
        </p:spPr>
      </p:sp>
      <p:sp>
        <p:nvSpPr>
          <p:cNvPr id="24" name="Shape 22"/>
          <p:cNvSpPr/>
          <p:nvPr/>
        </p:nvSpPr>
        <p:spPr>
          <a:xfrm>
            <a:off x="7269480" y="1170432"/>
            <a:ext cx="54864" cy="777240"/>
          </a:xfrm>
          <a:prstGeom prst="rect">
            <a:avLst/>
          </a:prstGeom>
          <a:solidFill>
            <a:srgbClr val="1F77B4"/>
          </a:solidFill>
          <a:ln w="12700">
            <a:solidFill>
              <a:srgbClr val="1F77B4"/>
            </a:solidFill>
            <a:prstDash val="solid"/>
          </a:ln>
        </p:spPr>
      </p:sp>
      <p:sp>
        <p:nvSpPr>
          <p:cNvPr id="25" name="Text 23"/>
          <p:cNvSpPr/>
          <p:nvPr/>
        </p:nvSpPr>
        <p:spPr>
          <a:xfrm>
            <a:off x="7415784" y="1298448"/>
            <a:ext cx="1124712" cy="256032"/>
          </a:xfrm>
          <a:prstGeom prst="rect">
            <a:avLst/>
          </a:prstGeom>
          <a:noFill/>
          <a:ln/>
        </p:spPr>
        <p:txBody>
          <a:bodyPr wrap="square" lIns="0" tIns="0" rIns="0" bIns="0" rtlCol="0" anchor="ctr"/>
          <a:lstStyle/>
          <a:p>
            <a:pPr algn="ctr" indent="0" marL="0">
              <a:buNone/>
            </a:pPr>
            <a:r>
              <a:rPr lang="en-US" sz="1800" b="1" dirty="0">
                <a:solidFill>
                  <a:srgbClr val="1F77B4"/>
                </a:solidFill>
              </a:rPr>
              <a:t>0.6106</a:t>
            </a:r>
            <a:endParaRPr lang="en-US" sz="1800" dirty="0"/>
          </a:p>
        </p:txBody>
      </p:sp>
      <p:sp>
        <p:nvSpPr>
          <p:cNvPr id="26" name="Text 24"/>
          <p:cNvSpPr/>
          <p:nvPr/>
        </p:nvSpPr>
        <p:spPr>
          <a:xfrm>
            <a:off x="7379208" y="1609344"/>
            <a:ext cx="1143000" cy="164592"/>
          </a:xfrm>
          <a:prstGeom prst="rect">
            <a:avLst/>
          </a:prstGeom>
          <a:noFill/>
          <a:ln/>
        </p:spPr>
        <p:txBody>
          <a:bodyPr wrap="square" lIns="0" tIns="0" rIns="0" bIns="0" rtlCol="0" anchor="ctr"/>
          <a:lstStyle/>
          <a:p>
            <a:pPr algn="ctr" indent="0" marL="0">
              <a:buNone/>
            </a:pPr>
            <a:r>
              <a:rPr lang="en-US" sz="850" dirty="0">
                <a:solidFill>
                  <a:srgbClr val="5B6770"/>
                </a:solidFill>
              </a:rPr>
              <a:t>Recall</a:t>
            </a:r>
            <a:endParaRPr lang="en-US" sz="850" dirty="0"/>
          </a:p>
        </p:txBody>
      </p:sp>
      <p:sp>
        <p:nvSpPr>
          <p:cNvPr id="27" name="Shape 25"/>
          <p:cNvSpPr/>
          <p:nvPr/>
        </p:nvSpPr>
        <p:spPr>
          <a:xfrm>
            <a:off x="8823960" y="1170432"/>
            <a:ext cx="1325880" cy="777240"/>
          </a:xfrm>
          <a:prstGeom prst="roundRect">
            <a:avLst>
              <a:gd name="adj" fmla="val 7059"/>
            </a:avLst>
          </a:prstGeom>
          <a:solidFill>
            <a:srgbClr val="FFFFFF"/>
          </a:solidFill>
          <a:ln w="12700">
            <a:solidFill>
              <a:srgbClr val="D8DEE6">
                <a:alpha val="80000"/>
              </a:srgbClr>
            </a:solidFill>
            <a:prstDash val="solid"/>
          </a:ln>
        </p:spPr>
      </p:sp>
      <p:sp>
        <p:nvSpPr>
          <p:cNvPr id="28" name="Shape 26"/>
          <p:cNvSpPr/>
          <p:nvPr/>
        </p:nvSpPr>
        <p:spPr>
          <a:xfrm>
            <a:off x="8823960" y="1170432"/>
            <a:ext cx="54864" cy="777240"/>
          </a:xfrm>
          <a:prstGeom prst="rect">
            <a:avLst/>
          </a:prstGeom>
          <a:solidFill>
            <a:srgbClr val="12385B"/>
          </a:solidFill>
          <a:ln w="12700">
            <a:solidFill>
              <a:srgbClr val="12385B"/>
            </a:solidFill>
            <a:prstDash val="solid"/>
          </a:ln>
        </p:spPr>
      </p:sp>
      <p:sp>
        <p:nvSpPr>
          <p:cNvPr id="29" name="Text 27"/>
          <p:cNvSpPr/>
          <p:nvPr/>
        </p:nvSpPr>
        <p:spPr>
          <a:xfrm>
            <a:off x="8970264" y="1298448"/>
            <a:ext cx="1124712" cy="256032"/>
          </a:xfrm>
          <a:prstGeom prst="rect">
            <a:avLst/>
          </a:prstGeom>
          <a:noFill/>
          <a:ln/>
        </p:spPr>
        <p:txBody>
          <a:bodyPr wrap="square" lIns="0" tIns="0" rIns="0" bIns="0" rtlCol="0" anchor="ctr"/>
          <a:lstStyle/>
          <a:p>
            <a:pPr algn="ctr" indent="0" marL="0">
              <a:buNone/>
            </a:pPr>
            <a:r>
              <a:rPr lang="en-US" sz="1800" b="1" dirty="0">
                <a:solidFill>
                  <a:srgbClr val="12385B"/>
                </a:solidFill>
              </a:rPr>
              <a:t>0.9051</a:t>
            </a:r>
            <a:endParaRPr lang="en-US" sz="1800" dirty="0"/>
          </a:p>
        </p:txBody>
      </p:sp>
      <p:sp>
        <p:nvSpPr>
          <p:cNvPr id="30" name="Text 28"/>
          <p:cNvSpPr/>
          <p:nvPr/>
        </p:nvSpPr>
        <p:spPr>
          <a:xfrm>
            <a:off x="8933688" y="1609344"/>
            <a:ext cx="1143000" cy="164592"/>
          </a:xfrm>
          <a:prstGeom prst="rect">
            <a:avLst/>
          </a:prstGeom>
          <a:noFill/>
          <a:ln/>
        </p:spPr>
        <p:txBody>
          <a:bodyPr wrap="square" lIns="0" tIns="0" rIns="0" bIns="0" rtlCol="0" anchor="ctr"/>
          <a:lstStyle/>
          <a:p>
            <a:pPr algn="ctr" indent="0" marL="0">
              <a:buNone/>
            </a:pPr>
            <a:r>
              <a:rPr lang="en-US" sz="850" dirty="0">
                <a:solidFill>
                  <a:srgbClr val="5B6770"/>
                </a:solidFill>
              </a:rPr>
              <a:t>Accuracy</a:t>
            </a:r>
            <a:endParaRPr lang="en-US" sz="850" dirty="0"/>
          </a:p>
        </p:txBody>
      </p:sp>
      <p:sp>
        <p:nvSpPr>
          <p:cNvPr id="31" name="Shape 29"/>
          <p:cNvSpPr/>
          <p:nvPr/>
        </p:nvSpPr>
        <p:spPr>
          <a:xfrm>
            <a:off x="731520" y="2331720"/>
            <a:ext cx="3840480" cy="2971800"/>
          </a:xfrm>
          <a:prstGeom prst="roundRect">
            <a:avLst>
              <a:gd name="adj" fmla="val 1846"/>
            </a:avLst>
          </a:prstGeom>
          <a:solidFill>
            <a:srgbClr val="FFFFFF"/>
          </a:solidFill>
          <a:ln w="12700">
            <a:solidFill>
              <a:srgbClr val="D8DEE6">
                <a:alpha val="85000"/>
              </a:srgbClr>
            </a:solidFill>
            <a:prstDash val="solid"/>
          </a:ln>
        </p:spPr>
      </p:sp>
      <p:sp>
        <p:nvSpPr>
          <p:cNvPr id="32" name="Text 30"/>
          <p:cNvSpPr/>
          <p:nvPr/>
        </p:nvSpPr>
        <p:spPr>
          <a:xfrm>
            <a:off x="841248" y="2414016"/>
            <a:ext cx="3621024" cy="164592"/>
          </a:xfrm>
          <a:prstGeom prst="rect">
            <a:avLst/>
          </a:prstGeom>
          <a:noFill/>
          <a:ln/>
        </p:spPr>
        <p:txBody>
          <a:bodyPr wrap="square" lIns="0" tIns="0" rIns="0" bIns="0" rtlCol="0" anchor="ctr"/>
          <a:lstStyle/>
          <a:p>
            <a:pPr indent="0" marL="0">
              <a:buNone/>
            </a:pPr>
            <a:r>
              <a:rPr lang="en-US" sz="1020" b="1" dirty="0">
                <a:solidFill>
                  <a:srgbClr val="12385B"/>
                </a:solidFill>
              </a:rPr>
              <a:t>Test confusion matrix</a:t>
            </a:r>
            <a:endParaRPr lang="en-US" sz="1020" dirty="0"/>
          </a:p>
        </p:txBody>
      </p:sp>
      <p:pic>
        <p:nvPicPr>
          <p:cNvPr id="33" name="Image 0" descr="/mnt/data/key_extracted_plots/14_test_confusion_matrix.png">    </p:cNvPr>
          <p:cNvPicPr>
            <a:picLocks noChangeAspect="1"/>
          </p:cNvPicPr>
          <p:nvPr/>
        </p:nvPicPr>
        <p:blipFill>
          <a:blip r:embed="rId1"/>
          <a:stretch>
            <a:fillRect/>
          </a:stretch>
        </p:blipFill>
        <p:spPr>
          <a:xfrm>
            <a:off x="1216914" y="2633472"/>
            <a:ext cx="2869692" cy="2560320"/>
          </a:xfrm>
          <a:prstGeom prst="rect">
            <a:avLst/>
          </a:prstGeom>
        </p:spPr>
      </p:pic>
      <p:sp>
        <p:nvSpPr>
          <p:cNvPr id="34" name="Shape 31"/>
          <p:cNvSpPr/>
          <p:nvPr/>
        </p:nvSpPr>
        <p:spPr>
          <a:xfrm>
            <a:off x="5074920" y="2377440"/>
            <a:ext cx="6309360" cy="2926080"/>
          </a:xfrm>
          <a:prstGeom prst="roundRect">
            <a:avLst>
              <a:gd name="adj" fmla="val 2500"/>
            </a:avLst>
          </a:prstGeom>
          <a:solidFill>
            <a:srgbClr val="E7F6F2"/>
          </a:solidFill>
          <a:ln w="12700">
            <a:solidFill>
              <a:srgbClr val="149C7E">
                <a:alpha val="30000"/>
              </a:srgbClr>
            </a:solidFill>
            <a:prstDash val="solid"/>
          </a:ln>
        </p:spPr>
      </p:sp>
      <p:sp>
        <p:nvSpPr>
          <p:cNvPr id="35" name="Text 32"/>
          <p:cNvSpPr/>
          <p:nvPr/>
        </p:nvSpPr>
        <p:spPr>
          <a:xfrm>
            <a:off x="5394960" y="2743200"/>
            <a:ext cx="3017520" cy="228600"/>
          </a:xfrm>
          <a:prstGeom prst="rect">
            <a:avLst/>
          </a:prstGeom>
          <a:noFill/>
          <a:ln/>
        </p:spPr>
        <p:txBody>
          <a:bodyPr wrap="square" lIns="0" tIns="0" rIns="0" bIns="0" rtlCol="0" anchor="ctr"/>
          <a:lstStyle/>
          <a:p>
            <a:pPr indent="0" marL="0">
              <a:buNone/>
            </a:pPr>
            <a:r>
              <a:rPr lang="en-US" sz="1400" b="1" dirty="0">
                <a:solidFill>
                  <a:srgbClr val="12385B"/>
                </a:solidFill>
              </a:rPr>
              <a:t>Why Random Forest is preferred</a:t>
            </a:r>
            <a:endParaRPr lang="en-US" sz="1400" dirty="0"/>
          </a:p>
        </p:txBody>
      </p:sp>
      <p:sp>
        <p:nvSpPr>
          <p:cNvPr id="36" name="Text 33"/>
          <p:cNvSpPr/>
          <p:nvPr/>
        </p:nvSpPr>
        <p:spPr>
          <a:xfrm>
            <a:off x="5440680" y="3154680"/>
            <a:ext cx="5440680" cy="1508760"/>
          </a:xfrm>
          <a:prstGeom prst="rect">
            <a:avLst/>
          </a:prstGeom>
          <a:noFill/>
          <a:ln/>
        </p:spPr>
        <p:txBody>
          <a:bodyPr wrap="square" lIns="254" tIns="254" rIns="254" bIns="254" rtlCol="0" anchor="t">
            <a:normAutofit/>
          </a:bodyPr>
          <a:lstStyle/>
          <a:p>
            <a:pPr indent="0" marL="0">
              <a:buNone/>
            </a:pPr>
            <a:r>
              <a:rPr lang="en-US" sz="1220" dirty="0">
                <a:solidFill>
                  <a:srgbClr val="1F2933"/>
                </a:solidFill>
              </a:rPr>
              <a:t>• Highest validation ROC-AUC and PR-AUC among the compared models</a:t>
            </a:r>
            <a:endParaRPr lang="en-US" sz="1220" dirty="0"/>
          </a:p>
          <a:p>
            <a:pPr indent="0" marL="0">
              <a:buNone/>
            </a:pPr>
            <a:r>
              <a:rPr lang="en-US" sz="1220" dirty="0">
                <a:solidFill>
                  <a:srgbClr val="1F2933"/>
                </a:solidFill>
              </a:rPr>
              <a:t>• Better precision than Logistic Regression, useful when calls are costly</a:t>
            </a:r>
            <a:endParaRPr lang="en-US" sz="1220" dirty="0"/>
          </a:p>
          <a:p>
            <a:pPr indent="0" marL="0">
              <a:buNone/>
            </a:pPr>
            <a:r>
              <a:rPr lang="en-US" sz="1220" dirty="0">
                <a:solidFill>
                  <a:srgbClr val="1F2933"/>
                </a:solidFill>
              </a:rPr>
              <a:t>• Provides feature importance signals for feature selection and interpretation</a:t>
            </a:r>
            <a:endParaRPr lang="en-US" sz="1220" dirty="0"/>
          </a:p>
          <a:p>
            <a:pPr indent="0" marL="0">
              <a:buNone/>
            </a:pPr>
            <a:r>
              <a:rPr lang="en-US" sz="1220" dirty="0">
                <a:solidFill>
                  <a:srgbClr val="1F2933"/>
                </a:solidFill>
              </a:rPr>
              <a:t>• Final test metrics confirm stable performance</a:t>
            </a:r>
            <a:endParaRPr lang="en-US" sz="1220" dirty="0"/>
          </a:p>
        </p:txBody>
      </p:sp>
      <p:sp>
        <p:nvSpPr>
          <p:cNvPr id="37" name="Text 34"/>
          <p:cNvSpPr/>
          <p:nvPr/>
        </p:nvSpPr>
        <p:spPr>
          <a:xfrm>
            <a:off x="5440680" y="4800600"/>
            <a:ext cx="5303520" cy="219456"/>
          </a:xfrm>
          <a:prstGeom prst="rect">
            <a:avLst/>
          </a:prstGeom>
          <a:noFill/>
          <a:ln/>
        </p:spPr>
        <p:txBody>
          <a:bodyPr wrap="square" lIns="0" tIns="0" rIns="0" bIns="0" rtlCol="0" anchor="ctr"/>
          <a:lstStyle/>
          <a:p>
            <a:pPr algn="ctr" indent="0" marL="0">
              <a:buNone/>
            </a:pPr>
            <a:r>
              <a:rPr lang="en-US" sz="1350" b="1" dirty="0">
                <a:solidFill>
                  <a:srgbClr val="149C7E"/>
                </a:solidFill>
              </a:rPr>
              <a:t>Selected model: tuned Random Forest Classifier at threshold = 0.50</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49C7E"/>
          </a:solidFill>
          <a:ln w="12700">
            <a:solidFill>
              <a:srgbClr val="149C7E"/>
            </a:solidFill>
            <a:prstDash val="solid"/>
          </a:ln>
        </p:spPr>
      </p:sp>
      <p:sp>
        <p:nvSpPr>
          <p:cNvPr id="3" name="Text 1"/>
          <p:cNvSpPr/>
          <p:nvPr/>
        </p:nvSpPr>
        <p:spPr>
          <a:xfrm>
            <a:off x="502920" y="310896"/>
            <a:ext cx="8138160" cy="384048"/>
          </a:xfrm>
          <a:prstGeom prst="rect">
            <a:avLst/>
          </a:prstGeom>
          <a:noFill/>
          <a:ln/>
        </p:spPr>
        <p:txBody>
          <a:bodyPr wrap="square" lIns="0" tIns="0" rIns="0" bIns="0" rtlCol="0" anchor="ctr"/>
          <a:lstStyle/>
          <a:p>
            <a:pPr indent="0" marL="0">
              <a:buNone/>
            </a:pPr>
            <a:r>
              <a:rPr lang="en-US" sz="2600" b="1" dirty="0">
                <a:solidFill>
                  <a:srgbClr val="12385B"/>
                </a:solidFill>
                <a:latin typeface="Aptos Display" pitchFamily="34" charset="0"/>
                <a:ea typeface="Aptos Display" pitchFamily="34" charset="-122"/>
                <a:cs typeface="Aptos Display" pitchFamily="34" charset="-120"/>
              </a:rPr>
              <a:t>Threshold Analysis and Business Trade-Off</a:t>
            </a:r>
            <a:endParaRPr lang="en-US" sz="2600" dirty="0"/>
          </a:p>
        </p:txBody>
      </p:sp>
      <p:sp>
        <p:nvSpPr>
          <p:cNvPr id="4" name="Text 2"/>
          <p:cNvSpPr/>
          <p:nvPr/>
        </p:nvSpPr>
        <p:spPr>
          <a:xfrm>
            <a:off x="521208" y="749808"/>
            <a:ext cx="10789920" cy="237744"/>
          </a:xfrm>
          <a:prstGeom prst="rect">
            <a:avLst/>
          </a:prstGeom>
          <a:noFill/>
          <a:ln/>
        </p:spPr>
        <p:txBody>
          <a:bodyPr wrap="square" lIns="0" tIns="0" rIns="0" bIns="0" rtlCol="0" anchor="ctr"/>
          <a:lstStyle/>
          <a:p>
            <a:pPr indent="0" marL="0">
              <a:buNone/>
            </a:pPr>
            <a:r>
              <a:rPr lang="en-US" sz="1050" dirty="0">
                <a:solidFill>
                  <a:srgbClr val="5B6770"/>
                </a:solidFill>
              </a:rPr>
              <a:t>Changing the threshold changes contact volume, recall and precision.</a:t>
            </a:r>
            <a:endParaRPr lang="en-US" sz="1050" dirty="0"/>
          </a:p>
        </p:txBody>
      </p:sp>
      <p:sp>
        <p:nvSpPr>
          <p:cNvPr id="5" name="Text 3"/>
          <p:cNvSpPr/>
          <p:nvPr/>
        </p:nvSpPr>
        <p:spPr>
          <a:xfrm>
            <a:off x="502920" y="6483096"/>
            <a:ext cx="4572000" cy="164592"/>
          </a:xfrm>
          <a:prstGeom prst="rect">
            <a:avLst/>
          </a:prstGeom>
          <a:noFill/>
          <a:ln/>
        </p:spPr>
        <p:txBody>
          <a:bodyPr wrap="square" lIns="0" tIns="0" rIns="0" bIns="0" rtlCol="0" anchor="ctr"/>
          <a:lstStyle/>
          <a:p>
            <a:pPr indent="0" marL="0">
              <a:buNone/>
            </a:pPr>
            <a:r>
              <a:rPr lang="en-US" sz="800" dirty="0">
                <a:solidFill>
                  <a:srgbClr val="7B8794"/>
                </a:solidFill>
              </a:rPr>
              <a:t>Bank Marketing Subscription Prediction</a:t>
            </a:r>
            <a:endParaRPr lang="en-US" sz="800" dirty="0"/>
          </a:p>
        </p:txBody>
      </p:sp>
      <p:sp>
        <p:nvSpPr>
          <p:cNvPr id="6" name="Text 4"/>
          <p:cNvSpPr/>
          <p:nvPr/>
        </p:nvSpPr>
        <p:spPr>
          <a:xfrm>
            <a:off x="11384280" y="6464808"/>
            <a:ext cx="320040" cy="164592"/>
          </a:xfrm>
          <a:prstGeom prst="rect">
            <a:avLst/>
          </a:prstGeom>
          <a:noFill/>
          <a:ln/>
        </p:spPr>
        <p:txBody>
          <a:bodyPr wrap="square" lIns="0" tIns="0" rIns="0" bIns="0" rtlCol="0" anchor="ctr"/>
          <a:lstStyle/>
          <a:p>
            <a:pPr algn="r" indent="0" marL="0">
              <a:buNone/>
            </a:pPr>
            <a:r>
              <a:rPr lang="en-US" sz="800" dirty="0">
                <a:solidFill>
                  <a:srgbClr val="7B8794"/>
                </a:solidFill>
              </a:rPr>
              <a:t>08</a:t>
            </a:r>
            <a:endParaRPr lang="en-US" sz="800" dirty="0"/>
          </a:p>
        </p:txBody>
      </p:sp>
      <p:sp>
        <p:nvSpPr>
          <p:cNvPr id="7" name="Shape 5"/>
          <p:cNvSpPr/>
          <p:nvPr/>
        </p:nvSpPr>
        <p:spPr>
          <a:xfrm>
            <a:off x="640080" y="1188720"/>
            <a:ext cx="6537960" cy="4480560"/>
          </a:xfrm>
          <a:prstGeom prst="roundRect">
            <a:avLst>
              <a:gd name="adj" fmla="val 1224"/>
            </a:avLst>
          </a:prstGeom>
          <a:solidFill>
            <a:srgbClr val="FFFFFF"/>
          </a:solidFill>
          <a:ln w="12700">
            <a:solidFill>
              <a:srgbClr val="D8DEE6">
                <a:alpha val="85000"/>
              </a:srgbClr>
            </a:solidFill>
            <a:prstDash val="solid"/>
          </a:ln>
        </p:spPr>
      </p:sp>
      <p:sp>
        <p:nvSpPr>
          <p:cNvPr id="8" name="Text 6"/>
          <p:cNvSpPr/>
          <p:nvPr/>
        </p:nvSpPr>
        <p:spPr>
          <a:xfrm>
            <a:off x="749808" y="1271016"/>
            <a:ext cx="6318504" cy="164592"/>
          </a:xfrm>
          <a:prstGeom prst="rect">
            <a:avLst/>
          </a:prstGeom>
          <a:noFill/>
          <a:ln/>
        </p:spPr>
        <p:txBody>
          <a:bodyPr wrap="square" lIns="0" tIns="0" rIns="0" bIns="0" rtlCol="0" anchor="ctr"/>
          <a:lstStyle/>
          <a:p>
            <a:pPr indent="0" marL="0">
              <a:buNone/>
            </a:pPr>
            <a:r>
              <a:rPr lang="en-US" sz="1020" b="1" dirty="0">
                <a:solidFill>
                  <a:srgbClr val="12385B"/>
                </a:solidFill>
              </a:rPr>
              <a:t>Threshold analysis</a:t>
            </a:r>
            <a:endParaRPr lang="en-US" sz="1020" dirty="0"/>
          </a:p>
        </p:txBody>
      </p:sp>
      <p:pic>
        <p:nvPicPr>
          <p:cNvPr id="9" name="Image 0" descr="/mnt/data/key_extracted_plots/13_threshold_analysis.png">    </p:cNvPr>
          <p:cNvPicPr>
            <a:picLocks noChangeAspect="1"/>
          </p:cNvPicPr>
          <p:nvPr/>
        </p:nvPicPr>
        <p:blipFill>
          <a:blip r:embed="rId1"/>
          <a:stretch>
            <a:fillRect/>
          </a:stretch>
        </p:blipFill>
        <p:spPr>
          <a:xfrm>
            <a:off x="786023" y="1490472"/>
            <a:ext cx="6246074" cy="4069080"/>
          </a:xfrm>
          <a:prstGeom prst="rect">
            <a:avLst/>
          </a:prstGeom>
        </p:spPr>
      </p:pic>
      <p:sp>
        <p:nvSpPr>
          <p:cNvPr id="10" name="Shape 7"/>
          <p:cNvSpPr/>
          <p:nvPr/>
        </p:nvSpPr>
        <p:spPr>
          <a:xfrm>
            <a:off x="7680960" y="1280160"/>
            <a:ext cx="3794760" cy="4389120"/>
          </a:xfrm>
          <a:prstGeom prst="roundRect">
            <a:avLst>
              <a:gd name="adj" fmla="val 1928"/>
            </a:avLst>
          </a:prstGeom>
          <a:solidFill>
            <a:srgbClr val="FFFFFF"/>
          </a:solidFill>
          <a:ln w="12700">
            <a:solidFill>
              <a:srgbClr val="D8DEE6">
                <a:alpha val="90000"/>
              </a:srgbClr>
            </a:solidFill>
            <a:prstDash val="solid"/>
          </a:ln>
        </p:spPr>
      </p:sp>
      <p:sp>
        <p:nvSpPr>
          <p:cNvPr id="11" name="Text 8"/>
          <p:cNvSpPr/>
          <p:nvPr/>
        </p:nvSpPr>
        <p:spPr>
          <a:xfrm>
            <a:off x="8001000" y="1627632"/>
            <a:ext cx="2560320" cy="228600"/>
          </a:xfrm>
          <a:prstGeom prst="rect">
            <a:avLst/>
          </a:prstGeom>
          <a:noFill/>
          <a:ln/>
        </p:spPr>
        <p:txBody>
          <a:bodyPr wrap="square" lIns="0" tIns="0" rIns="0" bIns="0" rtlCol="0" anchor="ctr"/>
          <a:lstStyle/>
          <a:p>
            <a:pPr indent="0" marL="0">
              <a:buNone/>
            </a:pPr>
            <a:r>
              <a:rPr lang="en-US" sz="1400" b="1" dirty="0">
                <a:solidFill>
                  <a:srgbClr val="12385B"/>
                </a:solidFill>
              </a:rPr>
              <a:t>Examples from validation set</a:t>
            </a:r>
            <a:endParaRPr lang="en-US" sz="1400" dirty="0"/>
          </a:p>
        </p:txBody>
      </p:sp>
      <p:sp>
        <p:nvSpPr>
          <p:cNvPr id="12" name="Shape 9"/>
          <p:cNvSpPr/>
          <p:nvPr/>
        </p:nvSpPr>
        <p:spPr>
          <a:xfrm>
            <a:off x="8001000" y="2057400"/>
            <a:ext cx="822960" cy="411480"/>
          </a:xfrm>
          <a:prstGeom prst="rect">
            <a:avLst/>
          </a:prstGeom>
          <a:solidFill>
            <a:srgbClr val="12385B"/>
          </a:solidFill>
          <a:ln w="12700">
            <a:solidFill>
              <a:srgbClr val="12385B"/>
            </a:solidFill>
            <a:prstDash val="solid"/>
          </a:ln>
        </p:spPr>
      </p:sp>
      <p:sp>
        <p:nvSpPr>
          <p:cNvPr id="13" name="Text 10"/>
          <p:cNvSpPr/>
          <p:nvPr/>
        </p:nvSpPr>
        <p:spPr>
          <a:xfrm>
            <a:off x="8037576" y="2139696"/>
            <a:ext cx="749808" cy="128016"/>
          </a:xfrm>
          <a:prstGeom prst="rect">
            <a:avLst/>
          </a:prstGeom>
          <a:noFill/>
          <a:ln/>
        </p:spPr>
        <p:txBody>
          <a:bodyPr wrap="square" lIns="0" tIns="0" rIns="0" bIns="0" rtlCol="0" anchor="ctr"/>
          <a:lstStyle/>
          <a:p>
            <a:pPr algn="ctr" indent="0" marL="0">
              <a:buNone/>
            </a:pPr>
            <a:r>
              <a:rPr lang="en-US" sz="850" b="1" dirty="0">
                <a:solidFill>
                  <a:srgbClr val="FFFFFF"/>
                </a:solidFill>
              </a:rPr>
              <a:t>Threshold</a:t>
            </a:r>
            <a:endParaRPr lang="en-US" sz="850" dirty="0"/>
          </a:p>
        </p:txBody>
      </p:sp>
      <p:sp>
        <p:nvSpPr>
          <p:cNvPr id="14" name="Shape 11"/>
          <p:cNvSpPr/>
          <p:nvPr/>
        </p:nvSpPr>
        <p:spPr>
          <a:xfrm>
            <a:off x="8823960" y="2057400"/>
            <a:ext cx="777240" cy="411480"/>
          </a:xfrm>
          <a:prstGeom prst="rect">
            <a:avLst/>
          </a:prstGeom>
          <a:solidFill>
            <a:srgbClr val="12385B"/>
          </a:solidFill>
          <a:ln w="12700">
            <a:solidFill>
              <a:srgbClr val="12385B"/>
            </a:solidFill>
            <a:prstDash val="solid"/>
          </a:ln>
        </p:spPr>
      </p:sp>
      <p:sp>
        <p:nvSpPr>
          <p:cNvPr id="15" name="Text 12"/>
          <p:cNvSpPr/>
          <p:nvPr/>
        </p:nvSpPr>
        <p:spPr>
          <a:xfrm>
            <a:off x="8860536" y="2139696"/>
            <a:ext cx="704088" cy="128016"/>
          </a:xfrm>
          <a:prstGeom prst="rect">
            <a:avLst/>
          </a:prstGeom>
          <a:noFill/>
          <a:ln/>
        </p:spPr>
        <p:txBody>
          <a:bodyPr wrap="square" lIns="0" tIns="0" rIns="0" bIns="0" rtlCol="0" anchor="ctr"/>
          <a:lstStyle/>
          <a:p>
            <a:pPr algn="ctr" indent="0" marL="0">
              <a:buNone/>
            </a:pPr>
            <a:r>
              <a:rPr lang="en-US" sz="850" b="1" dirty="0">
                <a:solidFill>
                  <a:srgbClr val="FFFFFF"/>
                </a:solidFill>
              </a:rPr>
              <a:t>Precision</a:t>
            </a:r>
            <a:endParaRPr lang="en-US" sz="850" dirty="0"/>
          </a:p>
        </p:txBody>
      </p:sp>
      <p:sp>
        <p:nvSpPr>
          <p:cNvPr id="16" name="Shape 13"/>
          <p:cNvSpPr/>
          <p:nvPr/>
        </p:nvSpPr>
        <p:spPr>
          <a:xfrm>
            <a:off x="9601200" y="2057400"/>
            <a:ext cx="731520" cy="411480"/>
          </a:xfrm>
          <a:prstGeom prst="rect">
            <a:avLst/>
          </a:prstGeom>
          <a:solidFill>
            <a:srgbClr val="12385B"/>
          </a:solidFill>
          <a:ln w="12700">
            <a:solidFill>
              <a:srgbClr val="12385B"/>
            </a:solidFill>
            <a:prstDash val="solid"/>
          </a:ln>
        </p:spPr>
      </p:sp>
      <p:sp>
        <p:nvSpPr>
          <p:cNvPr id="17" name="Text 14"/>
          <p:cNvSpPr/>
          <p:nvPr/>
        </p:nvSpPr>
        <p:spPr>
          <a:xfrm>
            <a:off x="9637776" y="2139696"/>
            <a:ext cx="658368" cy="128016"/>
          </a:xfrm>
          <a:prstGeom prst="rect">
            <a:avLst/>
          </a:prstGeom>
          <a:noFill/>
          <a:ln/>
        </p:spPr>
        <p:txBody>
          <a:bodyPr wrap="square" lIns="0" tIns="0" rIns="0" bIns="0" rtlCol="0" anchor="ctr"/>
          <a:lstStyle/>
          <a:p>
            <a:pPr algn="ctr" indent="0" marL="0">
              <a:buNone/>
            </a:pPr>
            <a:r>
              <a:rPr lang="en-US" sz="850" b="1" dirty="0">
                <a:solidFill>
                  <a:srgbClr val="FFFFFF"/>
                </a:solidFill>
              </a:rPr>
              <a:t>Recall</a:t>
            </a:r>
            <a:endParaRPr lang="en-US" sz="850" dirty="0"/>
          </a:p>
        </p:txBody>
      </p:sp>
      <p:sp>
        <p:nvSpPr>
          <p:cNvPr id="18" name="Shape 15"/>
          <p:cNvSpPr/>
          <p:nvPr/>
        </p:nvSpPr>
        <p:spPr>
          <a:xfrm>
            <a:off x="10332720" y="2057400"/>
            <a:ext cx="822960" cy="411480"/>
          </a:xfrm>
          <a:prstGeom prst="rect">
            <a:avLst/>
          </a:prstGeom>
          <a:solidFill>
            <a:srgbClr val="12385B"/>
          </a:solidFill>
          <a:ln w="12700">
            <a:solidFill>
              <a:srgbClr val="12385B"/>
            </a:solidFill>
            <a:prstDash val="solid"/>
          </a:ln>
        </p:spPr>
      </p:sp>
      <p:sp>
        <p:nvSpPr>
          <p:cNvPr id="19" name="Text 16"/>
          <p:cNvSpPr/>
          <p:nvPr/>
        </p:nvSpPr>
        <p:spPr>
          <a:xfrm>
            <a:off x="10369296" y="2139696"/>
            <a:ext cx="749808" cy="128016"/>
          </a:xfrm>
          <a:prstGeom prst="rect">
            <a:avLst/>
          </a:prstGeom>
          <a:noFill/>
          <a:ln/>
        </p:spPr>
        <p:txBody>
          <a:bodyPr wrap="square" lIns="0" tIns="0" rIns="0" bIns="0" rtlCol="0" anchor="ctr"/>
          <a:lstStyle/>
          <a:p>
            <a:pPr algn="ctr" indent="0" marL="0">
              <a:buNone/>
            </a:pPr>
            <a:r>
              <a:rPr lang="en-US" sz="850" b="1" dirty="0">
                <a:solidFill>
                  <a:srgbClr val="FFFFFF"/>
                </a:solidFill>
              </a:rPr>
              <a:t>Contact</a:t>
            </a:r>
            <a:endParaRPr lang="en-US" sz="850" dirty="0"/>
          </a:p>
        </p:txBody>
      </p:sp>
      <p:sp>
        <p:nvSpPr>
          <p:cNvPr id="20" name="Shape 17"/>
          <p:cNvSpPr/>
          <p:nvPr/>
        </p:nvSpPr>
        <p:spPr>
          <a:xfrm>
            <a:off x="8001000" y="2468880"/>
            <a:ext cx="822960" cy="411480"/>
          </a:xfrm>
          <a:prstGeom prst="rect">
            <a:avLst/>
          </a:prstGeom>
          <a:solidFill>
            <a:srgbClr val="F5F7FA"/>
          </a:solidFill>
          <a:ln w="12700">
            <a:solidFill>
              <a:srgbClr val="D8DEE6">
                <a:alpha val="90000"/>
              </a:srgbClr>
            </a:solidFill>
            <a:prstDash val="solid"/>
          </a:ln>
        </p:spPr>
      </p:sp>
      <p:sp>
        <p:nvSpPr>
          <p:cNvPr id="21" name="Text 18"/>
          <p:cNvSpPr/>
          <p:nvPr/>
        </p:nvSpPr>
        <p:spPr>
          <a:xfrm>
            <a:off x="8037576" y="2551176"/>
            <a:ext cx="749808" cy="128016"/>
          </a:xfrm>
          <a:prstGeom prst="rect">
            <a:avLst/>
          </a:prstGeom>
          <a:noFill/>
          <a:ln/>
        </p:spPr>
        <p:txBody>
          <a:bodyPr wrap="square" lIns="0" tIns="0" rIns="0" bIns="0" rtlCol="0" anchor="ctr">
            <a:normAutofit/>
          </a:bodyPr>
          <a:lstStyle/>
          <a:p>
            <a:pPr algn="l" indent="0" marL="0">
              <a:buNone/>
            </a:pPr>
            <a:r>
              <a:rPr lang="en-US" sz="820" b="1" dirty="0">
                <a:solidFill>
                  <a:srgbClr val="12385B"/>
                </a:solidFill>
              </a:rPr>
              <a:t>0.30</a:t>
            </a:r>
            <a:endParaRPr lang="en-US" sz="820" dirty="0"/>
          </a:p>
        </p:txBody>
      </p:sp>
      <p:sp>
        <p:nvSpPr>
          <p:cNvPr id="22" name="Shape 19"/>
          <p:cNvSpPr/>
          <p:nvPr/>
        </p:nvSpPr>
        <p:spPr>
          <a:xfrm>
            <a:off x="8823960" y="2468880"/>
            <a:ext cx="777240" cy="411480"/>
          </a:xfrm>
          <a:prstGeom prst="rect">
            <a:avLst/>
          </a:prstGeom>
          <a:solidFill>
            <a:srgbClr val="F5F7FA"/>
          </a:solidFill>
          <a:ln w="12700">
            <a:solidFill>
              <a:srgbClr val="D8DEE6">
                <a:alpha val="90000"/>
              </a:srgbClr>
            </a:solidFill>
            <a:prstDash val="solid"/>
          </a:ln>
        </p:spPr>
      </p:sp>
      <p:sp>
        <p:nvSpPr>
          <p:cNvPr id="23" name="Text 20"/>
          <p:cNvSpPr/>
          <p:nvPr/>
        </p:nvSpPr>
        <p:spPr>
          <a:xfrm>
            <a:off x="8860536" y="2551176"/>
            <a:ext cx="704088" cy="128016"/>
          </a:xfrm>
          <a:prstGeom prst="rect">
            <a:avLst/>
          </a:prstGeom>
          <a:noFill/>
          <a:ln/>
        </p:spPr>
        <p:txBody>
          <a:bodyPr wrap="square" lIns="0" tIns="0" rIns="0" bIns="0" rtlCol="0" anchor="ctr">
            <a:normAutofit/>
          </a:bodyPr>
          <a:lstStyle/>
          <a:p>
            <a:pPr algn="ctr" indent="0" marL="0">
              <a:buNone/>
            </a:pPr>
            <a:r>
              <a:rPr lang="en-US" sz="820" dirty="0">
                <a:solidFill>
                  <a:srgbClr val="1F2933"/>
                </a:solidFill>
              </a:rPr>
              <a:t>0.446</a:t>
            </a:r>
            <a:endParaRPr lang="en-US" sz="820" dirty="0"/>
          </a:p>
        </p:txBody>
      </p:sp>
      <p:sp>
        <p:nvSpPr>
          <p:cNvPr id="24" name="Shape 21"/>
          <p:cNvSpPr/>
          <p:nvPr/>
        </p:nvSpPr>
        <p:spPr>
          <a:xfrm>
            <a:off x="9601200" y="2468880"/>
            <a:ext cx="731520" cy="411480"/>
          </a:xfrm>
          <a:prstGeom prst="rect">
            <a:avLst/>
          </a:prstGeom>
          <a:solidFill>
            <a:srgbClr val="F5F7FA"/>
          </a:solidFill>
          <a:ln w="12700">
            <a:solidFill>
              <a:srgbClr val="D8DEE6">
                <a:alpha val="90000"/>
              </a:srgbClr>
            </a:solidFill>
            <a:prstDash val="solid"/>
          </a:ln>
        </p:spPr>
      </p:sp>
      <p:sp>
        <p:nvSpPr>
          <p:cNvPr id="25" name="Text 22"/>
          <p:cNvSpPr/>
          <p:nvPr/>
        </p:nvSpPr>
        <p:spPr>
          <a:xfrm>
            <a:off x="9637776" y="2551176"/>
            <a:ext cx="658368" cy="128016"/>
          </a:xfrm>
          <a:prstGeom prst="rect">
            <a:avLst/>
          </a:prstGeom>
          <a:noFill/>
          <a:ln/>
        </p:spPr>
        <p:txBody>
          <a:bodyPr wrap="square" lIns="0" tIns="0" rIns="0" bIns="0" rtlCol="0" anchor="ctr">
            <a:normAutofit/>
          </a:bodyPr>
          <a:lstStyle/>
          <a:p>
            <a:pPr algn="ctr" indent="0" marL="0">
              <a:buNone/>
            </a:pPr>
            <a:r>
              <a:rPr lang="en-US" sz="820" dirty="0">
                <a:solidFill>
                  <a:srgbClr val="1F2933"/>
                </a:solidFill>
              </a:rPr>
              <a:t>0.854</a:t>
            </a:r>
            <a:endParaRPr lang="en-US" sz="820" dirty="0"/>
          </a:p>
        </p:txBody>
      </p:sp>
      <p:sp>
        <p:nvSpPr>
          <p:cNvPr id="26" name="Shape 23"/>
          <p:cNvSpPr/>
          <p:nvPr/>
        </p:nvSpPr>
        <p:spPr>
          <a:xfrm>
            <a:off x="10332720" y="2468880"/>
            <a:ext cx="822960" cy="411480"/>
          </a:xfrm>
          <a:prstGeom prst="rect">
            <a:avLst/>
          </a:prstGeom>
          <a:solidFill>
            <a:srgbClr val="F5F7FA"/>
          </a:solidFill>
          <a:ln w="12700">
            <a:solidFill>
              <a:srgbClr val="D8DEE6">
                <a:alpha val="90000"/>
              </a:srgbClr>
            </a:solidFill>
            <a:prstDash val="solid"/>
          </a:ln>
        </p:spPr>
      </p:sp>
      <p:sp>
        <p:nvSpPr>
          <p:cNvPr id="27" name="Text 24"/>
          <p:cNvSpPr/>
          <p:nvPr/>
        </p:nvSpPr>
        <p:spPr>
          <a:xfrm>
            <a:off x="10369296" y="2551176"/>
            <a:ext cx="749808" cy="128016"/>
          </a:xfrm>
          <a:prstGeom prst="rect">
            <a:avLst/>
          </a:prstGeom>
          <a:noFill/>
          <a:ln/>
        </p:spPr>
        <p:txBody>
          <a:bodyPr wrap="square" lIns="0" tIns="0" rIns="0" bIns="0" rtlCol="0" anchor="ctr">
            <a:normAutofit/>
          </a:bodyPr>
          <a:lstStyle/>
          <a:p>
            <a:pPr algn="ctr" indent="0" marL="0">
              <a:buNone/>
            </a:pPr>
            <a:r>
              <a:rPr lang="en-US" sz="820" dirty="0">
                <a:solidFill>
                  <a:srgbClr val="1F2933"/>
                </a:solidFill>
              </a:rPr>
              <a:t>22.4%</a:t>
            </a:r>
            <a:endParaRPr lang="en-US" sz="820" dirty="0"/>
          </a:p>
        </p:txBody>
      </p:sp>
      <p:sp>
        <p:nvSpPr>
          <p:cNvPr id="28" name="Shape 25"/>
          <p:cNvSpPr/>
          <p:nvPr/>
        </p:nvSpPr>
        <p:spPr>
          <a:xfrm>
            <a:off x="8001000" y="2880360"/>
            <a:ext cx="822960" cy="411480"/>
          </a:xfrm>
          <a:prstGeom prst="rect">
            <a:avLst/>
          </a:prstGeom>
          <a:solidFill>
            <a:srgbClr val="FFFFFF"/>
          </a:solidFill>
          <a:ln w="12700">
            <a:solidFill>
              <a:srgbClr val="D8DEE6">
                <a:alpha val="90000"/>
              </a:srgbClr>
            </a:solidFill>
            <a:prstDash val="solid"/>
          </a:ln>
        </p:spPr>
      </p:sp>
      <p:sp>
        <p:nvSpPr>
          <p:cNvPr id="29" name="Text 26"/>
          <p:cNvSpPr/>
          <p:nvPr/>
        </p:nvSpPr>
        <p:spPr>
          <a:xfrm>
            <a:off x="8037576" y="2962656"/>
            <a:ext cx="749808" cy="128016"/>
          </a:xfrm>
          <a:prstGeom prst="rect">
            <a:avLst/>
          </a:prstGeom>
          <a:noFill/>
          <a:ln/>
        </p:spPr>
        <p:txBody>
          <a:bodyPr wrap="square" lIns="0" tIns="0" rIns="0" bIns="0" rtlCol="0" anchor="ctr">
            <a:normAutofit/>
          </a:bodyPr>
          <a:lstStyle/>
          <a:p>
            <a:pPr algn="l" indent="0" marL="0">
              <a:buNone/>
            </a:pPr>
            <a:r>
              <a:rPr lang="en-US" sz="820" b="1" dirty="0">
                <a:solidFill>
                  <a:srgbClr val="12385B"/>
                </a:solidFill>
              </a:rPr>
              <a:t>0.50</a:t>
            </a:r>
            <a:endParaRPr lang="en-US" sz="820" dirty="0"/>
          </a:p>
        </p:txBody>
      </p:sp>
      <p:sp>
        <p:nvSpPr>
          <p:cNvPr id="30" name="Shape 27"/>
          <p:cNvSpPr/>
          <p:nvPr/>
        </p:nvSpPr>
        <p:spPr>
          <a:xfrm>
            <a:off x="8823960" y="2880360"/>
            <a:ext cx="777240" cy="411480"/>
          </a:xfrm>
          <a:prstGeom prst="rect">
            <a:avLst/>
          </a:prstGeom>
          <a:solidFill>
            <a:srgbClr val="FFFFFF"/>
          </a:solidFill>
          <a:ln w="12700">
            <a:solidFill>
              <a:srgbClr val="D8DEE6">
                <a:alpha val="90000"/>
              </a:srgbClr>
            </a:solidFill>
            <a:prstDash val="solid"/>
          </a:ln>
        </p:spPr>
      </p:sp>
      <p:sp>
        <p:nvSpPr>
          <p:cNvPr id="31" name="Text 28"/>
          <p:cNvSpPr/>
          <p:nvPr/>
        </p:nvSpPr>
        <p:spPr>
          <a:xfrm>
            <a:off x="8860536" y="2962656"/>
            <a:ext cx="704088" cy="128016"/>
          </a:xfrm>
          <a:prstGeom prst="rect">
            <a:avLst/>
          </a:prstGeom>
          <a:noFill/>
          <a:ln/>
        </p:spPr>
        <p:txBody>
          <a:bodyPr wrap="square" lIns="0" tIns="0" rIns="0" bIns="0" rtlCol="0" anchor="ctr">
            <a:normAutofit/>
          </a:bodyPr>
          <a:lstStyle/>
          <a:p>
            <a:pPr algn="ctr" indent="0" marL="0">
              <a:buNone/>
            </a:pPr>
            <a:r>
              <a:rPr lang="en-US" sz="820" dirty="0">
                <a:solidFill>
                  <a:srgbClr val="1F2933"/>
                </a:solidFill>
              </a:rPr>
              <a:t>0.583</a:t>
            </a:r>
            <a:endParaRPr lang="en-US" sz="820" dirty="0"/>
          </a:p>
        </p:txBody>
      </p:sp>
      <p:sp>
        <p:nvSpPr>
          <p:cNvPr id="32" name="Shape 29"/>
          <p:cNvSpPr/>
          <p:nvPr/>
        </p:nvSpPr>
        <p:spPr>
          <a:xfrm>
            <a:off x="9601200" y="2880360"/>
            <a:ext cx="731520" cy="411480"/>
          </a:xfrm>
          <a:prstGeom prst="rect">
            <a:avLst/>
          </a:prstGeom>
          <a:solidFill>
            <a:srgbClr val="FFFFFF"/>
          </a:solidFill>
          <a:ln w="12700">
            <a:solidFill>
              <a:srgbClr val="D8DEE6">
                <a:alpha val="90000"/>
              </a:srgbClr>
            </a:solidFill>
            <a:prstDash val="solid"/>
          </a:ln>
        </p:spPr>
      </p:sp>
      <p:sp>
        <p:nvSpPr>
          <p:cNvPr id="33" name="Text 30"/>
          <p:cNvSpPr/>
          <p:nvPr/>
        </p:nvSpPr>
        <p:spPr>
          <a:xfrm>
            <a:off x="9637776" y="2962656"/>
            <a:ext cx="658368" cy="128016"/>
          </a:xfrm>
          <a:prstGeom prst="rect">
            <a:avLst/>
          </a:prstGeom>
          <a:noFill/>
          <a:ln/>
        </p:spPr>
        <p:txBody>
          <a:bodyPr wrap="square" lIns="0" tIns="0" rIns="0" bIns="0" rtlCol="0" anchor="ctr">
            <a:normAutofit/>
          </a:bodyPr>
          <a:lstStyle/>
          <a:p>
            <a:pPr algn="ctr" indent="0" marL="0">
              <a:buNone/>
            </a:pPr>
            <a:r>
              <a:rPr lang="en-US" sz="820" dirty="0">
                <a:solidFill>
                  <a:srgbClr val="1F2933"/>
                </a:solidFill>
              </a:rPr>
              <a:t>0.606</a:t>
            </a:r>
            <a:endParaRPr lang="en-US" sz="820" dirty="0"/>
          </a:p>
        </p:txBody>
      </p:sp>
      <p:sp>
        <p:nvSpPr>
          <p:cNvPr id="34" name="Shape 31"/>
          <p:cNvSpPr/>
          <p:nvPr/>
        </p:nvSpPr>
        <p:spPr>
          <a:xfrm>
            <a:off x="10332720" y="2880360"/>
            <a:ext cx="822960" cy="411480"/>
          </a:xfrm>
          <a:prstGeom prst="rect">
            <a:avLst/>
          </a:prstGeom>
          <a:solidFill>
            <a:srgbClr val="FFFFFF"/>
          </a:solidFill>
          <a:ln w="12700">
            <a:solidFill>
              <a:srgbClr val="D8DEE6">
                <a:alpha val="90000"/>
              </a:srgbClr>
            </a:solidFill>
            <a:prstDash val="solid"/>
          </a:ln>
        </p:spPr>
      </p:sp>
      <p:sp>
        <p:nvSpPr>
          <p:cNvPr id="35" name="Text 32"/>
          <p:cNvSpPr/>
          <p:nvPr/>
        </p:nvSpPr>
        <p:spPr>
          <a:xfrm>
            <a:off x="10369296" y="2962656"/>
            <a:ext cx="749808" cy="128016"/>
          </a:xfrm>
          <a:prstGeom prst="rect">
            <a:avLst/>
          </a:prstGeom>
          <a:noFill/>
          <a:ln/>
        </p:spPr>
        <p:txBody>
          <a:bodyPr wrap="square" lIns="0" tIns="0" rIns="0" bIns="0" rtlCol="0" anchor="ctr">
            <a:normAutofit/>
          </a:bodyPr>
          <a:lstStyle/>
          <a:p>
            <a:pPr algn="ctr" indent="0" marL="0">
              <a:buNone/>
            </a:pPr>
            <a:r>
              <a:rPr lang="en-US" sz="820" dirty="0">
                <a:solidFill>
                  <a:srgbClr val="1F2933"/>
                </a:solidFill>
              </a:rPr>
              <a:t>12.2%</a:t>
            </a:r>
            <a:endParaRPr lang="en-US" sz="820" dirty="0"/>
          </a:p>
        </p:txBody>
      </p:sp>
      <p:sp>
        <p:nvSpPr>
          <p:cNvPr id="36" name="Shape 33"/>
          <p:cNvSpPr/>
          <p:nvPr/>
        </p:nvSpPr>
        <p:spPr>
          <a:xfrm>
            <a:off x="8001000" y="3291840"/>
            <a:ext cx="822960" cy="411480"/>
          </a:xfrm>
          <a:prstGeom prst="rect">
            <a:avLst/>
          </a:prstGeom>
          <a:solidFill>
            <a:srgbClr val="F5F7FA"/>
          </a:solidFill>
          <a:ln w="12700">
            <a:solidFill>
              <a:srgbClr val="D8DEE6">
                <a:alpha val="90000"/>
              </a:srgbClr>
            </a:solidFill>
            <a:prstDash val="solid"/>
          </a:ln>
        </p:spPr>
      </p:sp>
      <p:sp>
        <p:nvSpPr>
          <p:cNvPr id="37" name="Text 34"/>
          <p:cNvSpPr/>
          <p:nvPr/>
        </p:nvSpPr>
        <p:spPr>
          <a:xfrm>
            <a:off x="8037576" y="3374136"/>
            <a:ext cx="749808" cy="128016"/>
          </a:xfrm>
          <a:prstGeom prst="rect">
            <a:avLst/>
          </a:prstGeom>
          <a:noFill/>
          <a:ln/>
        </p:spPr>
        <p:txBody>
          <a:bodyPr wrap="square" lIns="0" tIns="0" rIns="0" bIns="0" rtlCol="0" anchor="ctr">
            <a:normAutofit/>
          </a:bodyPr>
          <a:lstStyle/>
          <a:p>
            <a:pPr algn="l" indent="0" marL="0">
              <a:buNone/>
            </a:pPr>
            <a:r>
              <a:rPr lang="en-US" sz="820" b="1" dirty="0">
                <a:solidFill>
                  <a:srgbClr val="12385B"/>
                </a:solidFill>
              </a:rPr>
              <a:t>0.70</a:t>
            </a:r>
            <a:endParaRPr lang="en-US" sz="820" dirty="0"/>
          </a:p>
        </p:txBody>
      </p:sp>
      <p:sp>
        <p:nvSpPr>
          <p:cNvPr id="38" name="Shape 35"/>
          <p:cNvSpPr/>
          <p:nvPr/>
        </p:nvSpPr>
        <p:spPr>
          <a:xfrm>
            <a:off x="8823960" y="3291840"/>
            <a:ext cx="777240" cy="411480"/>
          </a:xfrm>
          <a:prstGeom prst="rect">
            <a:avLst/>
          </a:prstGeom>
          <a:solidFill>
            <a:srgbClr val="F5F7FA"/>
          </a:solidFill>
          <a:ln w="12700">
            <a:solidFill>
              <a:srgbClr val="D8DEE6">
                <a:alpha val="90000"/>
              </a:srgbClr>
            </a:solidFill>
            <a:prstDash val="solid"/>
          </a:ln>
        </p:spPr>
      </p:sp>
      <p:sp>
        <p:nvSpPr>
          <p:cNvPr id="39" name="Text 36"/>
          <p:cNvSpPr/>
          <p:nvPr/>
        </p:nvSpPr>
        <p:spPr>
          <a:xfrm>
            <a:off x="8860536" y="3374136"/>
            <a:ext cx="704088" cy="128016"/>
          </a:xfrm>
          <a:prstGeom prst="rect">
            <a:avLst/>
          </a:prstGeom>
          <a:noFill/>
          <a:ln/>
        </p:spPr>
        <p:txBody>
          <a:bodyPr wrap="square" lIns="0" tIns="0" rIns="0" bIns="0" rtlCol="0" anchor="ctr">
            <a:normAutofit/>
          </a:bodyPr>
          <a:lstStyle/>
          <a:p>
            <a:pPr algn="ctr" indent="0" marL="0">
              <a:buNone/>
            </a:pPr>
            <a:r>
              <a:rPr lang="en-US" sz="820" dirty="0">
                <a:solidFill>
                  <a:srgbClr val="1F2933"/>
                </a:solidFill>
              </a:rPr>
              <a:t>0.721</a:t>
            </a:r>
            <a:endParaRPr lang="en-US" sz="820" dirty="0"/>
          </a:p>
        </p:txBody>
      </p:sp>
      <p:sp>
        <p:nvSpPr>
          <p:cNvPr id="40" name="Shape 37"/>
          <p:cNvSpPr/>
          <p:nvPr/>
        </p:nvSpPr>
        <p:spPr>
          <a:xfrm>
            <a:off x="9601200" y="3291840"/>
            <a:ext cx="731520" cy="411480"/>
          </a:xfrm>
          <a:prstGeom prst="rect">
            <a:avLst/>
          </a:prstGeom>
          <a:solidFill>
            <a:srgbClr val="F5F7FA"/>
          </a:solidFill>
          <a:ln w="12700">
            <a:solidFill>
              <a:srgbClr val="D8DEE6">
                <a:alpha val="90000"/>
              </a:srgbClr>
            </a:solidFill>
            <a:prstDash val="solid"/>
          </a:ln>
        </p:spPr>
      </p:sp>
      <p:sp>
        <p:nvSpPr>
          <p:cNvPr id="41" name="Text 38"/>
          <p:cNvSpPr/>
          <p:nvPr/>
        </p:nvSpPr>
        <p:spPr>
          <a:xfrm>
            <a:off x="9637776" y="3374136"/>
            <a:ext cx="658368" cy="128016"/>
          </a:xfrm>
          <a:prstGeom prst="rect">
            <a:avLst/>
          </a:prstGeom>
          <a:noFill/>
          <a:ln/>
        </p:spPr>
        <p:txBody>
          <a:bodyPr wrap="square" lIns="0" tIns="0" rIns="0" bIns="0" rtlCol="0" anchor="ctr">
            <a:normAutofit/>
          </a:bodyPr>
          <a:lstStyle/>
          <a:p>
            <a:pPr algn="ctr" indent="0" marL="0">
              <a:buNone/>
            </a:pPr>
            <a:r>
              <a:rPr lang="en-US" sz="820" dirty="0">
                <a:solidFill>
                  <a:srgbClr val="1F2933"/>
                </a:solidFill>
              </a:rPr>
              <a:t>0.242</a:t>
            </a:r>
            <a:endParaRPr lang="en-US" sz="820" dirty="0"/>
          </a:p>
        </p:txBody>
      </p:sp>
      <p:sp>
        <p:nvSpPr>
          <p:cNvPr id="42" name="Shape 39"/>
          <p:cNvSpPr/>
          <p:nvPr/>
        </p:nvSpPr>
        <p:spPr>
          <a:xfrm>
            <a:off x="10332720" y="3291840"/>
            <a:ext cx="822960" cy="411480"/>
          </a:xfrm>
          <a:prstGeom prst="rect">
            <a:avLst/>
          </a:prstGeom>
          <a:solidFill>
            <a:srgbClr val="F5F7FA"/>
          </a:solidFill>
          <a:ln w="12700">
            <a:solidFill>
              <a:srgbClr val="D8DEE6">
                <a:alpha val="90000"/>
              </a:srgbClr>
            </a:solidFill>
            <a:prstDash val="solid"/>
          </a:ln>
        </p:spPr>
      </p:sp>
      <p:sp>
        <p:nvSpPr>
          <p:cNvPr id="43" name="Text 40"/>
          <p:cNvSpPr/>
          <p:nvPr/>
        </p:nvSpPr>
        <p:spPr>
          <a:xfrm>
            <a:off x="10369296" y="3374136"/>
            <a:ext cx="749808" cy="128016"/>
          </a:xfrm>
          <a:prstGeom prst="rect">
            <a:avLst/>
          </a:prstGeom>
          <a:noFill/>
          <a:ln/>
        </p:spPr>
        <p:txBody>
          <a:bodyPr wrap="square" lIns="0" tIns="0" rIns="0" bIns="0" rtlCol="0" anchor="ctr">
            <a:normAutofit/>
          </a:bodyPr>
          <a:lstStyle/>
          <a:p>
            <a:pPr algn="ctr" indent="0" marL="0">
              <a:buNone/>
            </a:pPr>
            <a:r>
              <a:rPr lang="en-US" sz="820" dirty="0">
                <a:solidFill>
                  <a:srgbClr val="1F2933"/>
                </a:solidFill>
              </a:rPr>
              <a:t>3.9%</a:t>
            </a:r>
            <a:endParaRPr lang="en-US" sz="820" dirty="0"/>
          </a:p>
        </p:txBody>
      </p:sp>
      <p:sp>
        <p:nvSpPr>
          <p:cNvPr id="44" name="Text 41"/>
          <p:cNvSpPr/>
          <p:nvPr/>
        </p:nvSpPr>
        <p:spPr>
          <a:xfrm>
            <a:off x="8046720" y="4069080"/>
            <a:ext cx="2971800" cy="1005840"/>
          </a:xfrm>
          <a:prstGeom prst="rect">
            <a:avLst/>
          </a:prstGeom>
          <a:noFill/>
          <a:ln/>
        </p:spPr>
        <p:txBody>
          <a:bodyPr wrap="square" lIns="254" tIns="254" rIns="254" bIns="254" rtlCol="0" anchor="t">
            <a:normAutofit/>
          </a:bodyPr>
          <a:lstStyle/>
          <a:p>
            <a:pPr indent="0" marL="0">
              <a:buNone/>
            </a:pPr>
            <a:r>
              <a:rPr lang="en-US" sz="1080" dirty="0">
                <a:solidFill>
                  <a:srgbClr val="1F2933"/>
                </a:solidFill>
              </a:rPr>
              <a:t>• Lower threshold: more clients contacted and more subscribers captured</a:t>
            </a:r>
            <a:endParaRPr lang="en-US" sz="1080" dirty="0"/>
          </a:p>
          <a:p>
            <a:pPr indent="0" marL="0">
              <a:buNone/>
            </a:pPr>
            <a:r>
              <a:rPr lang="en-US" sz="1080" dirty="0">
                <a:solidFill>
                  <a:srgbClr val="1F2933"/>
                </a:solidFill>
              </a:rPr>
              <a:t>• Higher threshold: fewer contacts and higher conversion quality</a:t>
            </a:r>
            <a:endParaRPr lang="en-US" sz="1080" dirty="0"/>
          </a:p>
          <a:p>
            <a:pPr indent="0" marL="0">
              <a:buNone/>
            </a:pPr>
            <a:r>
              <a:rPr lang="en-US" sz="1080" dirty="0">
                <a:solidFill>
                  <a:srgbClr val="1F2933"/>
                </a:solidFill>
              </a:rPr>
              <a:t>• Bank should choose based on campaign capacity and opportunity cost</a:t>
            </a:r>
            <a:endParaRPr lang="en-US" sz="10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49C7E"/>
          </a:solidFill>
          <a:ln w="12700">
            <a:solidFill>
              <a:srgbClr val="149C7E"/>
            </a:solidFill>
            <a:prstDash val="solid"/>
          </a:ln>
        </p:spPr>
      </p:sp>
      <p:sp>
        <p:nvSpPr>
          <p:cNvPr id="3" name="Text 1"/>
          <p:cNvSpPr/>
          <p:nvPr/>
        </p:nvSpPr>
        <p:spPr>
          <a:xfrm>
            <a:off x="502920" y="310896"/>
            <a:ext cx="8138160" cy="384048"/>
          </a:xfrm>
          <a:prstGeom prst="rect">
            <a:avLst/>
          </a:prstGeom>
          <a:noFill/>
          <a:ln/>
        </p:spPr>
        <p:txBody>
          <a:bodyPr wrap="square" lIns="0" tIns="0" rIns="0" bIns="0" rtlCol="0" anchor="ctr"/>
          <a:lstStyle/>
          <a:p>
            <a:pPr indent="0" marL="0">
              <a:buNone/>
            </a:pPr>
            <a:r>
              <a:rPr lang="en-US" sz="2600" b="1" dirty="0">
                <a:solidFill>
                  <a:srgbClr val="12385B"/>
                </a:solidFill>
                <a:latin typeface="Aptos Display" pitchFamily="34" charset="0"/>
                <a:ea typeface="Aptos Display" pitchFamily="34" charset="-122"/>
                <a:cs typeface="Aptos Display" pitchFamily="34" charset="-120"/>
              </a:rPr>
              <a:t>Feature Selection and Interpretability</a:t>
            </a:r>
            <a:endParaRPr lang="en-US" sz="2600" dirty="0"/>
          </a:p>
        </p:txBody>
      </p:sp>
      <p:sp>
        <p:nvSpPr>
          <p:cNvPr id="4" name="Text 2"/>
          <p:cNvSpPr/>
          <p:nvPr/>
        </p:nvSpPr>
        <p:spPr>
          <a:xfrm>
            <a:off x="521208" y="749808"/>
            <a:ext cx="10789920" cy="237744"/>
          </a:xfrm>
          <a:prstGeom prst="rect">
            <a:avLst/>
          </a:prstGeom>
          <a:noFill/>
          <a:ln/>
        </p:spPr>
        <p:txBody>
          <a:bodyPr wrap="square" lIns="0" tIns="0" rIns="0" bIns="0" rtlCol="0" anchor="ctr"/>
          <a:lstStyle/>
          <a:p>
            <a:pPr indent="0" marL="0">
              <a:buNone/>
            </a:pPr>
            <a:r>
              <a:rPr lang="en-US" sz="1050" dirty="0">
                <a:solidFill>
                  <a:srgbClr val="5B6770"/>
                </a:solidFill>
              </a:rPr>
              <a:t>A reduced set of original variables preserves performance and improves actionability.</a:t>
            </a:r>
            <a:endParaRPr lang="en-US" sz="1050" dirty="0"/>
          </a:p>
        </p:txBody>
      </p:sp>
      <p:sp>
        <p:nvSpPr>
          <p:cNvPr id="5" name="Text 3"/>
          <p:cNvSpPr/>
          <p:nvPr/>
        </p:nvSpPr>
        <p:spPr>
          <a:xfrm>
            <a:off x="502920" y="6483096"/>
            <a:ext cx="4572000" cy="164592"/>
          </a:xfrm>
          <a:prstGeom prst="rect">
            <a:avLst/>
          </a:prstGeom>
          <a:noFill/>
          <a:ln/>
        </p:spPr>
        <p:txBody>
          <a:bodyPr wrap="square" lIns="0" tIns="0" rIns="0" bIns="0" rtlCol="0" anchor="ctr"/>
          <a:lstStyle/>
          <a:p>
            <a:pPr indent="0" marL="0">
              <a:buNone/>
            </a:pPr>
            <a:r>
              <a:rPr lang="en-US" sz="800" dirty="0">
                <a:solidFill>
                  <a:srgbClr val="7B8794"/>
                </a:solidFill>
              </a:rPr>
              <a:t>Bank Marketing Subscription Prediction</a:t>
            </a:r>
            <a:endParaRPr lang="en-US" sz="800" dirty="0"/>
          </a:p>
        </p:txBody>
      </p:sp>
      <p:sp>
        <p:nvSpPr>
          <p:cNvPr id="6" name="Text 4"/>
          <p:cNvSpPr/>
          <p:nvPr/>
        </p:nvSpPr>
        <p:spPr>
          <a:xfrm>
            <a:off x="11384280" y="6464808"/>
            <a:ext cx="320040" cy="164592"/>
          </a:xfrm>
          <a:prstGeom prst="rect">
            <a:avLst/>
          </a:prstGeom>
          <a:noFill/>
          <a:ln/>
        </p:spPr>
        <p:txBody>
          <a:bodyPr wrap="square" lIns="0" tIns="0" rIns="0" bIns="0" rtlCol="0" anchor="ctr"/>
          <a:lstStyle/>
          <a:p>
            <a:pPr algn="r" indent="0" marL="0">
              <a:buNone/>
            </a:pPr>
            <a:r>
              <a:rPr lang="en-US" sz="800" dirty="0">
                <a:solidFill>
                  <a:srgbClr val="7B8794"/>
                </a:solidFill>
              </a:rPr>
              <a:t>09</a:t>
            </a:r>
            <a:endParaRPr lang="en-US" sz="800" dirty="0"/>
          </a:p>
        </p:txBody>
      </p:sp>
      <p:sp>
        <p:nvSpPr>
          <p:cNvPr id="7" name="Shape 5"/>
          <p:cNvSpPr/>
          <p:nvPr/>
        </p:nvSpPr>
        <p:spPr>
          <a:xfrm>
            <a:off x="594360" y="1143000"/>
            <a:ext cx="5166360" cy="2834640"/>
          </a:xfrm>
          <a:prstGeom prst="roundRect">
            <a:avLst>
              <a:gd name="adj" fmla="val 1935"/>
            </a:avLst>
          </a:prstGeom>
          <a:solidFill>
            <a:srgbClr val="FFFFFF"/>
          </a:solidFill>
          <a:ln w="12700">
            <a:solidFill>
              <a:srgbClr val="D8DEE6">
                <a:alpha val="85000"/>
              </a:srgbClr>
            </a:solidFill>
            <a:prstDash val="solid"/>
          </a:ln>
        </p:spPr>
      </p:sp>
      <p:sp>
        <p:nvSpPr>
          <p:cNvPr id="8" name="Text 6"/>
          <p:cNvSpPr/>
          <p:nvPr/>
        </p:nvSpPr>
        <p:spPr>
          <a:xfrm>
            <a:off x="704088" y="1225296"/>
            <a:ext cx="4946904" cy="164592"/>
          </a:xfrm>
          <a:prstGeom prst="rect">
            <a:avLst/>
          </a:prstGeom>
          <a:noFill/>
          <a:ln/>
        </p:spPr>
        <p:txBody>
          <a:bodyPr wrap="square" lIns="0" tIns="0" rIns="0" bIns="0" rtlCol="0" anchor="ctr"/>
          <a:lstStyle/>
          <a:p>
            <a:pPr indent="0" marL="0">
              <a:buNone/>
            </a:pPr>
            <a:r>
              <a:rPr lang="en-US" sz="1020" b="1" dirty="0">
                <a:solidFill>
                  <a:srgbClr val="12385B"/>
                </a:solidFill>
              </a:rPr>
              <a:t>Aggregated original feature importance</a:t>
            </a:r>
            <a:endParaRPr lang="en-US" sz="1020" dirty="0"/>
          </a:p>
        </p:txBody>
      </p:sp>
      <p:pic>
        <p:nvPicPr>
          <p:cNvPr id="9" name="Image 0" descr="/mnt/data/key_extracted_plots/16_rf_original_feature_importance.png">    </p:cNvPr>
          <p:cNvPicPr>
            <a:picLocks noChangeAspect="1"/>
          </p:cNvPicPr>
          <p:nvPr/>
        </p:nvPicPr>
        <p:blipFill>
          <a:blip r:embed="rId1"/>
          <a:stretch>
            <a:fillRect/>
          </a:stretch>
        </p:blipFill>
        <p:spPr>
          <a:xfrm>
            <a:off x="1202469" y="1444752"/>
            <a:ext cx="3950142" cy="2423160"/>
          </a:xfrm>
          <a:prstGeom prst="rect">
            <a:avLst/>
          </a:prstGeom>
        </p:spPr>
      </p:pic>
      <p:sp>
        <p:nvSpPr>
          <p:cNvPr id="10" name="Shape 7"/>
          <p:cNvSpPr/>
          <p:nvPr/>
        </p:nvSpPr>
        <p:spPr>
          <a:xfrm>
            <a:off x="6263640" y="1143000"/>
            <a:ext cx="5166360" cy="2834640"/>
          </a:xfrm>
          <a:prstGeom prst="roundRect">
            <a:avLst>
              <a:gd name="adj" fmla="val 1935"/>
            </a:avLst>
          </a:prstGeom>
          <a:solidFill>
            <a:srgbClr val="FFFFFF"/>
          </a:solidFill>
          <a:ln w="12700">
            <a:solidFill>
              <a:srgbClr val="D8DEE6">
                <a:alpha val="85000"/>
              </a:srgbClr>
            </a:solidFill>
            <a:prstDash val="solid"/>
          </a:ln>
        </p:spPr>
      </p:sp>
      <p:sp>
        <p:nvSpPr>
          <p:cNvPr id="11" name="Text 8"/>
          <p:cNvSpPr/>
          <p:nvPr/>
        </p:nvSpPr>
        <p:spPr>
          <a:xfrm>
            <a:off x="6373368" y="1225296"/>
            <a:ext cx="4946904" cy="164592"/>
          </a:xfrm>
          <a:prstGeom prst="rect">
            <a:avLst/>
          </a:prstGeom>
          <a:noFill/>
          <a:ln/>
        </p:spPr>
        <p:txBody>
          <a:bodyPr wrap="square" lIns="0" tIns="0" rIns="0" bIns="0" rtlCol="0" anchor="ctr"/>
          <a:lstStyle/>
          <a:p>
            <a:pPr indent="0" marL="0">
              <a:buNone/>
            </a:pPr>
            <a:r>
              <a:rPr lang="en-US" sz="1020" b="1" dirty="0">
                <a:solidFill>
                  <a:srgbClr val="12385B"/>
                </a:solidFill>
              </a:rPr>
              <a:t>Permutation importance</a:t>
            </a:r>
            <a:endParaRPr lang="en-US" sz="1020" dirty="0"/>
          </a:p>
        </p:txBody>
      </p:sp>
      <p:pic>
        <p:nvPicPr>
          <p:cNvPr id="12" name="Image 1" descr="/mnt/data/key_extracted_plots/17_permutation_importance.png">    </p:cNvPr>
          <p:cNvPicPr>
            <a:picLocks noChangeAspect="1"/>
          </p:cNvPicPr>
          <p:nvPr/>
        </p:nvPicPr>
        <p:blipFill>
          <a:blip r:embed="rId2"/>
          <a:stretch>
            <a:fillRect/>
          </a:stretch>
        </p:blipFill>
        <p:spPr>
          <a:xfrm>
            <a:off x="6871749" y="1444752"/>
            <a:ext cx="3950142" cy="2423160"/>
          </a:xfrm>
          <a:prstGeom prst="rect">
            <a:avLst/>
          </a:prstGeom>
        </p:spPr>
      </p:pic>
      <p:sp>
        <p:nvSpPr>
          <p:cNvPr id="13" name="Shape 9"/>
          <p:cNvSpPr/>
          <p:nvPr/>
        </p:nvSpPr>
        <p:spPr>
          <a:xfrm>
            <a:off x="868680" y="4407408"/>
            <a:ext cx="1508760" cy="402336"/>
          </a:xfrm>
          <a:prstGeom prst="rect">
            <a:avLst/>
          </a:prstGeom>
          <a:solidFill>
            <a:srgbClr val="12385B"/>
          </a:solidFill>
          <a:ln w="12700">
            <a:solidFill>
              <a:srgbClr val="12385B"/>
            </a:solidFill>
            <a:prstDash val="solid"/>
          </a:ln>
        </p:spPr>
      </p:sp>
      <p:sp>
        <p:nvSpPr>
          <p:cNvPr id="14" name="Text 10"/>
          <p:cNvSpPr/>
          <p:nvPr/>
        </p:nvSpPr>
        <p:spPr>
          <a:xfrm>
            <a:off x="905256" y="4489704"/>
            <a:ext cx="1435608" cy="128016"/>
          </a:xfrm>
          <a:prstGeom prst="rect">
            <a:avLst/>
          </a:prstGeom>
          <a:noFill/>
          <a:ln/>
        </p:spPr>
        <p:txBody>
          <a:bodyPr wrap="square" lIns="0" tIns="0" rIns="0" bIns="0" rtlCol="0" anchor="ctr"/>
          <a:lstStyle/>
          <a:p>
            <a:pPr algn="ctr" indent="0" marL="0">
              <a:buNone/>
            </a:pPr>
            <a:r>
              <a:rPr lang="en-US" sz="850" b="1" dirty="0">
                <a:solidFill>
                  <a:srgbClr val="FFFFFF"/>
                </a:solidFill>
              </a:rPr>
              <a:t>Model</a:t>
            </a:r>
            <a:endParaRPr lang="en-US" sz="850" dirty="0"/>
          </a:p>
        </p:txBody>
      </p:sp>
      <p:sp>
        <p:nvSpPr>
          <p:cNvPr id="15" name="Shape 11"/>
          <p:cNvSpPr/>
          <p:nvPr/>
        </p:nvSpPr>
        <p:spPr>
          <a:xfrm>
            <a:off x="2377440" y="4407408"/>
            <a:ext cx="1188720" cy="402336"/>
          </a:xfrm>
          <a:prstGeom prst="rect">
            <a:avLst/>
          </a:prstGeom>
          <a:solidFill>
            <a:srgbClr val="12385B"/>
          </a:solidFill>
          <a:ln w="12700">
            <a:solidFill>
              <a:srgbClr val="12385B"/>
            </a:solidFill>
            <a:prstDash val="solid"/>
          </a:ln>
        </p:spPr>
      </p:sp>
      <p:sp>
        <p:nvSpPr>
          <p:cNvPr id="16" name="Text 12"/>
          <p:cNvSpPr/>
          <p:nvPr/>
        </p:nvSpPr>
        <p:spPr>
          <a:xfrm>
            <a:off x="2414016" y="4489704"/>
            <a:ext cx="1115568" cy="128016"/>
          </a:xfrm>
          <a:prstGeom prst="rect">
            <a:avLst/>
          </a:prstGeom>
          <a:noFill/>
          <a:ln/>
        </p:spPr>
        <p:txBody>
          <a:bodyPr wrap="square" lIns="0" tIns="0" rIns="0" bIns="0" rtlCol="0" anchor="ctr"/>
          <a:lstStyle/>
          <a:p>
            <a:pPr algn="ctr" indent="0" marL="0">
              <a:buNone/>
            </a:pPr>
            <a:r>
              <a:rPr lang="en-US" sz="850" b="1" dirty="0">
                <a:solidFill>
                  <a:srgbClr val="FFFFFF"/>
                </a:solidFill>
              </a:rPr>
              <a:t>Accuracy</a:t>
            </a:r>
            <a:endParaRPr lang="en-US" sz="850" dirty="0"/>
          </a:p>
        </p:txBody>
      </p:sp>
      <p:sp>
        <p:nvSpPr>
          <p:cNvPr id="17" name="Shape 13"/>
          <p:cNvSpPr/>
          <p:nvPr/>
        </p:nvSpPr>
        <p:spPr>
          <a:xfrm>
            <a:off x="3566160" y="4407408"/>
            <a:ext cx="1417320" cy="402336"/>
          </a:xfrm>
          <a:prstGeom prst="rect">
            <a:avLst/>
          </a:prstGeom>
          <a:solidFill>
            <a:srgbClr val="12385B"/>
          </a:solidFill>
          <a:ln w="12700">
            <a:solidFill>
              <a:srgbClr val="12385B"/>
            </a:solidFill>
            <a:prstDash val="solid"/>
          </a:ln>
        </p:spPr>
      </p:sp>
      <p:sp>
        <p:nvSpPr>
          <p:cNvPr id="18" name="Text 14"/>
          <p:cNvSpPr/>
          <p:nvPr/>
        </p:nvSpPr>
        <p:spPr>
          <a:xfrm>
            <a:off x="3602736" y="4489704"/>
            <a:ext cx="1344168" cy="128016"/>
          </a:xfrm>
          <a:prstGeom prst="rect">
            <a:avLst/>
          </a:prstGeom>
          <a:noFill/>
          <a:ln/>
        </p:spPr>
        <p:txBody>
          <a:bodyPr wrap="square" lIns="0" tIns="0" rIns="0" bIns="0" rtlCol="0" anchor="ctr"/>
          <a:lstStyle/>
          <a:p>
            <a:pPr algn="ctr" indent="0" marL="0">
              <a:buNone/>
            </a:pPr>
            <a:r>
              <a:rPr lang="en-US" sz="850" b="1" dirty="0">
                <a:solidFill>
                  <a:srgbClr val="FFFFFF"/>
                </a:solidFill>
              </a:rPr>
              <a:t>Balanced Acc.</a:t>
            </a:r>
            <a:endParaRPr lang="en-US" sz="850" dirty="0"/>
          </a:p>
        </p:txBody>
      </p:sp>
      <p:sp>
        <p:nvSpPr>
          <p:cNvPr id="19" name="Shape 15"/>
          <p:cNvSpPr/>
          <p:nvPr/>
        </p:nvSpPr>
        <p:spPr>
          <a:xfrm>
            <a:off x="4983480" y="4407408"/>
            <a:ext cx="1143000" cy="402336"/>
          </a:xfrm>
          <a:prstGeom prst="rect">
            <a:avLst/>
          </a:prstGeom>
          <a:solidFill>
            <a:srgbClr val="12385B"/>
          </a:solidFill>
          <a:ln w="12700">
            <a:solidFill>
              <a:srgbClr val="12385B"/>
            </a:solidFill>
            <a:prstDash val="solid"/>
          </a:ln>
        </p:spPr>
      </p:sp>
      <p:sp>
        <p:nvSpPr>
          <p:cNvPr id="20" name="Text 16"/>
          <p:cNvSpPr/>
          <p:nvPr/>
        </p:nvSpPr>
        <p:spPr>
          <a:xfrm>
            <a:off x="5020056" y="4489704"/>
            <a:ext cx="1069848" cy="128016"/>
          </a:xfrm>
          <a:prstGeom prst="rect">
            <a:avLst/>
          </a:prstGeom>
          <a:noFill/>
          <a:ln/>
        </p:spPr>
        <p:txBody>
          <a:bodyPr wrap="square" lIns="0" tIns="0" rIns="0" bIns="0" rtlCol="0" anchor="ctr"/>
          <a:lstStyle/>
          <a:p>
            <a:pPr algn="ctr" indent="0" marL="0">
              <a:buNone/>
            </a:pPr>
            <a:r>
              <a:rPr lang="en-US" sz="850" b="1" dirty="0">
                <a:solidFill>
                  <a:srgbClr val="FFFFFF"/>
                </a:solidFill>
              </a:rPr>
              <a:t>Recall</a:t>
            </a:r>
            <a:endParaRPr lang="en-US" sz="850" dirty="0"/>
          </a:p>
        </p:txBody>
      </p:sp>
      <p:sp>
        <p:nvSpPr>
          <p:cNvPr id="21" name="Shape 17"/>
          <p:cNvSpPr/>
          <p:nvPr/>
        </p:nvSpPr>
        <p:spPr>
          <a:xfrm>
            <a:off x="6126480" y="4407408"/>
            <a:ext cx="1097280" cy="402336"/>
          </a:xfrm>
          <a:prstGeom prst="rect">
            <a:avLst/>
          </a:prstGeom>
          <a:solidFill>
            <a:srgbClr val="12385B"/>
          </a:solidFill>
          <a:ln w="12700">
            <a:solidFill>
              <a:srgbClr val="12385B"/>
            </a:solidFill>
            <a:prstDash val="solid"/>
          </a:ln>
        </p:spPr>
      </p:sp>
      <p:sp>
        <p:nvSpPr>
          <p:cNvPr id="22" name="Text 18"/>
          <p:cNvSpPr/>
          <p:nvPr/>
        </p:nvSpPr>
        <p:spPr>
          <a:xfrm>
            <a:off x="6163056" y="4489704"/>
            <a:ext cx="1024128" cy="128016"/>
          </a:xfrm>
          <a:prstGeom prst="rect">
            <a:avLst/>
          </a:prstGeom>
          <a:noFill/>
          <a:ln/>
        </p:spPr>
        <p:txBody>
          <a:bodyPr wrap="square" lIns="0" tIns="0" rIns="0" bIns="0" rtlCol="0" anchor="ctr"/>
          <a:lstStyle/>
          <a:p>
            <a:pPr algn="ctr" indent="0" marL="0">
              <a:buNone/>
            </a:pPr>
            <a:r>
              <a:rPr lang="en-US" sz="850" b="1" dirty="0">
                <a:solidFill>
                  <a:srgbClr val="FFFFFF"/>
                </a:solidFill>
              </a:rPr>
              <a:t>F1</a:t>
            </a:r>
            <a:endParaRPr lang="en-US" sz="850" dirty="0"/>
          </a:p>
        </p:txBody>
      </p:sp>
      <p:sp>
        <p:nvSpPr>
          <p:cNvPr id="23" name="Shape 19"/>
          <p:cNvSpPr/>
          <p:nvPr/>
        </p:nvSpPr>
        <p:spPr>
          <a:xfrm>
            <a:off x="7223760" y="4407408"/>
            <a:ext cx="1325880" cy="402336"/>
          </a:xfrm>
          <a:prstGeom prst="rect">
            <a:avLst/>
          </a:prstGeom>
          <a:solidFill>
            <a:srgbClr val="12385B"/>
          </a:solidFill>
          <a:ln w="12700">
            <a:solidFill>
              <a:srgbClr val="12385B"/>
            </a:solidFill>
            <a:prstDash val="solid"/>
          </a:ln>
        </p:spPr>
      </p:sp>
      <p:sp>
        <p:nvSpPr>
          <p:cNvPr id="24" name="Text 20"/>
          <p:cNvSpPr/>
          <p:nvPr/>
        </p:nvSpPr>
        <p:spPr>
          <a:xfrm>
            <a:off x="7260336" y="4489704"/>
            <a:ext cx="1252728" cy="128016"/>
          </a:xfrm>
          <a:prstGeom prst="rect">
            <a:avLst/>
          </a:prstGeom>
          <a:noFill/>
          <a:ln/>
        </p:spPr>
        <p:txBody>
          <a:bodyPr wrap="square" lIns="0" tIns="0" rIns="0" bIns="0" rtlCol="0" anchor="ctr"/>
          <a:lstStyle/>
          <a:p>
            <a:pPr algn="ctr" indent="0" marL="0">
              <a:buNone/>
            </a:pPr>
            <a:r>
              <a:rPr lang="en-US" sz="850" b="1" dirty="0">
                <a:solidFill>
                  <a:srgbClr val="FFFFFF"/>
                </a:solidFill>
              </a:rPr>
              <a:t>ROC-AUC</a:t>
            </a:r>
            <a:endParaRPr lang="en-US" sz="850" dirty="0"/>
          </a:p>
        </p:txBody>
      </p:sp>
      <p:sp>
        <p:nvSpPr>
          <p:cNvPr id="25" name="Shape 21"/>
          <p:cNvSpPr/>
          <p:nvPr/>
        </p:nvSpPr>
        <p:spPr>
          <a:xfrm>
            <a:off x="8549640" y="4407408"/>
            <a:ext cx="1280160" cy="402336"/>
          </a:xfrm>
          <a:prstGeom prst="rect">
            <a:avLst/>
          </a:prstGeom>
          <a:solidFill>
            <a:srgbClr val="12385B"/>
          </a:solidFill>
          <a:ln w="12700">
            <a:solidFill>
              <a:srgbClr val="12385B"/>
            </a:solidFill>
            <a:prstDash val="solid"/>
          </a:ln>
        </p:spPr>
      </p:sp>
      <p:sp>
        <p:nvSpPr>
          <p:cNvPr id="26" name="Text 22"/>
          <p:cNvSpPr/>
          <p:nvPr/>
        </p:nvSpPr>
        <p:spPr>
          <a:xfrm>
            <a:off x="8586216" y="4489704"/>
            <a:ext cx="1207008" cy="128016"/>
          </a:xfrm>
          <a:prstGeom prst="rect">
            <a:avLst/>
          </a:prstGeom>
          <a:noFill/>
          <a:ln/>
        </p:spPr>
        <p:txBody>
          <a:bodyPr wrap="square" lIns="0" tIns="0" rIns="0" bIns="0" rtlCol="0" anchor="ctr"/>
          <a:lstStyle/>
          <a:p>
            <a:pPr algn="ctr" indent="0" marL="0">
              <a:buNone/>
            </a:pPr>
            <a:r>
              <a:rPr lang="en-US" sz="850" b="1" dirty="0">
                <a:solidFill>
                  <a:srgbClr val="FFFFFF"/>
                </a:solidFill>
              </a:rPr>
              <a:t>PR-AUC</a:t>
            </a:r>
            <a:endParaRPr lang="en-US" sz="850" dirty="0"/>
          </a:p>
        </p:txBody>
      </p:sp>
      <p:sp>
        <p:nvSpPr>
          <p:cNvPr id="27" name="Shape 23"/>
          <p:cNvSpPr/>
          <p:nvPr/>
        </p:nvSpPr>
        <p:spPr>
          <a:xfrm>
            <a:off x="868680" y="4809744"/>
            <a:ext cx="1508760" cy="402336"/>
          </a:xfrm>
          <a:prstGeom prst="rect">
            <a:avLst/>
          </a:prstGeom>
          <a:solidFill>
            <a:srgbClr val="F5F7FA"/>
          </a:solidFill>
          <a:ln w="12700">
            <a:solidFill>
              <a:srgbClr val="D8DEE6">
                <a:alpha val="90000"/>
              </a:srgbClr>
            </a:solidFill>
            <a:prstDash val="solid"/>
          </a:ln>
        </p:spPr>
      </p:sp>
      <p:sp>
        <p:nvSpPr>
          <p:cNvPr id="28" name="Text 24"/>
          <p:cNvSpPr/>
          <p:nvPr/>
        </p:nvSpPr>
        <p:spPr>
          <a:xfrm>
            <a:off x="905256" y="4892040"/>
            <a:ext cx="1435608" cy="128016"/>
          </a:xfrm>
          <a:prstGeom prst="rect">
            <a:avLst/>
          </a:prstGeom>
          <a:noFill/>
          <a:ln/>
        </p:spPr>
        <p:txBody>
          <a:bodyPr wrap="square" lIns="0" tIns="0" rIns="0" bIns="0" rtlCol="0" anchor="ctr">
            <a:normAutofit/>
          </a:bodyPr>
          <a:lstStyle/>
          <a:p>
            <a:pPr algn="l" indent="0" marL="0">
              <a:buNone/>
            </a:pPr>
            <a:r>
              <a:rPr lang="en-US" sz="820" b="1" dirty="0">
                <a:solidFill>
                  <a:srgbClr val="12385B"/>
                </a:solidFill>
              </a:rPr>
              <a:t>Full RF</a:t>
            </a:r>
            <a:endParaRPr lang="en-US" sz="820" dirty="0"/>
          </a:p>
        </p:txBody>
      </p:sp>
      <p:sp>
        <p:nvSpPr>
          <p:cNvPr id="29" name="Shape 25"/>
          <p:cNvSpPr/>
          <p:nvPr/>
        </p:nvSpPr>
        <p:spPr>
          <a:xfrm>
            <a:off x="2377440" y="4809744"/>
            <a:ext cx="1188720" cy="402336"/>
          </a:xfrm>
          <a:prstGeom prst="rect">
            <a:avLst/>
          </a:prstGeom>
          <a:solidFill>
            <a:srgbClr val="F5F7FA"/>
          </a:solidFill>
          <a:ln w="12700">
            <a:solidFill>
              <a:srgbClr val="D8DEE6">
                <a:alpha val="90000"/>
              </a:srgbClr>
            </a:solidFill>
            <a:prstDash val="solid"/>
          </a:ln>
        </p:spPr>
      </p:sp>
      <p:sp>
        <p:nvSpPr>
          <p:cNvPr id="30" name="Text 26"/>
          <p:cNvSpPr/>
          <p:nvPr/>
        </p:nvSpPr>
        <p:spPr>
          <a:xfrm>
            <a:off x="2414016" y="4892040"/>
            <a:ext cx="1115568" cy="128016"/>
          </a:xfrm>
          <a:prstGeom prst="rect">
            <a:avLst/>
          </a:prstGeom>
          <a:noFill/>
          <a:ln/>
        </p:spPr>
        <p:txBody>
          <a:bodyPr wrap="square" lIns="0" tIns="0" rIns="0" bIns="0" rtlCol="0" anchor="ctr">
            <a:normAutofit/>
          </a:bodyPr>
          <a:lstStyle/>
          <a:p>
            <a:pPr algn="ctr" indent="0" marL="0">
              <a:buNone/>
            </a:pPr>
            <a:r>
              <a:rPr lang="en-US" sz="820" dirty="0">
                <a:solidFill>
                  <a:srgbClr val="1F2933"/>
                </a:solidFill>
              </a:rPr>
              <a:t>0.905</a:t>
            </a:r>
            <a:endParaRPr lang="en-US" sz="820" dirty="0"/>
          </a:p>
        </p:txBody>
      </p:sp>
      <p:sp>
        <p:nvSpPr>
          <p:cNvPr id="31" name="Shape 27"/>
          <p:cNvSpPr/>
          <p:nvPr/>
        </p:nvSpPr>
        <p:spPr>
          <a:xfrm>
            <a:off x="3566160" y="4809744"/>
            <a:ext cx="1417320" cy="402336"/>
          </a:xfrm>
          <a:prstGeom prst="rect">
            <a:avLst/>
          </a:prstGeom>
          <a:solidFill>
            <a:srgbClr val="F5F7FA"/>
          </a:solidFill>
          <a:ln w="12700">
            <a:solidFill>
              <a:srgbClr val="D8DEE6">
                <a:alpha val="90000"/>
              </a:srgbClr>
            </a:solidFill>
            <a:prstDash val="solid"/>
          </a:ln>
        </p:spPr>
      </p:sp>
      <p:sp>
        <p:nvSpPr>
          <p:cNvPr id="32" name="Text 28"/>
          <p:cNvSpPr/>
          <p:nvPr/>
        </p:nvSpPr>
        <p:spPr>
          <a:xfrm>
            <a:off x="3602736" y="4892040"/>
            <a:ext cx="1344168" cy="128016"/>
          </a:xfrm>
          <a:prstGeom prst="rect">
            <a:avLst/>
          </a:prstGeom>
          <a:noFill/>
          <a:ln/>
        </p:spPr>
        <p:txBody>
          <a:bodyPr wrap="square" lIns="0" tIns="0" rIns="0" bIns="0" rtlCol="0" anchor="ctr">
            <a:normAutofit/>
          </a:bodyPr>
          <a:lstStyle/>
          <a:p>
            <a:pPr algn="ctr" indent="0" marL="0">
              <a:buNone/>
            </a:pPr>
            <a:r>
              <a:rPr lang="en-US" sz="820" dirty="0">
                <a:solidFill>
                  <a:srgbClr val="1F2933"/>
                </a:solidFill>
              </a:rPr>
              <a:t>0.777</a:t>
            </a:r>
            <a:endParaRPr lang="en-US" sz="820" dirty="0"/>
          </a:p>
        </p:txBody>
      </p:sp>
      <p:sp>
        <p:nvSpPr>
          <p:cNvPr id="33" name="Shape 29"/>
          <p:cNvSpPr/>
          <p:nvPr/>
        </p:nvSpPr>
        <p:spPr>
          <a:xfrm>
            <a:off x="4983480" y="4809744"/>
            <a:ext cx="1143000" cy="402336"/>
          </a:xfrm>
          <a:prstGeom prst="rect">
            <a:avLst/>
          </a:prstGeom>
          <a:solidFill>
            <a:srgbClr val="F5F7FA"/>
          </a:solidFill>
          <a:ln w="12700">
            <a:solidFill>
              <a:srgbClr val="D8DEE6">
                <a:alpha val="90000"/>
              </a:srgbClr>
            </a:solidFill>
            <a:prstDash val="solid"/>
          </a:ln>
        </p:spPr>
      </p:sp>
      <p:sp>
        <p:nvSpPr>
          <p:cNvPr id="34" name="Text 30"/>
          <p:cNvSpPr/>
          <p:nvPr/>
        </p:nvSpPr>
        <p:spPr>
          <a:xfrm>
            <a:off x="5020056" y="4892040"/>
            <a:ext cx="1069848" cy="128016"/>
          </a:xfrm>
          <a:prstGeom prst="rect">
            <a:avLst/>
          </a:prstGeom>
          <a:noFill/>
          <a:ln/>
        </p:spPr>
        <p:txBody>
          <a:bodyPr wrap="square" lIns="0" tIns="0" rIns="0" bIns="0" rtlCol="0" anchor="ctr">
            <a:normAutofit/>
          </a:bodyPr>
          <a:lstStyle/>
          <a:p>
            <a:pPr algn="ctr" indent="0" marL="0">
              <a:buNone/>
            </a:pPr>
            <a:r>
              <a:rPr lang="en-US" sz="820" dirty="0">
                <a:solidFill>
                  <a:srgbClr val="1F2933"/>
                </a:solidFill>
              </a:rPr>
              <a:t>0.611</a:t>
            </a:r>
            <a:endParaRPr lang="en-US" sz="820" dirty="0"/>
          </a:p>
        </p:txBody>
      </p:sp>
      <p:sp>
        <p:nvSpPr>
          <p:cNvPr id="35" name="Shape 31"/>
          <p:cNvSpPr/>
          <p:nvPr/>
        </p:nvSpPr>
        <p:spPr>
          <a:xfrm>
            <a:off x="6126480" y="4809744"/>
            <a:ext cx="1097280" cy="402336"/>
          </a:xfrm>
          <a:prstGeom prst="rect">
            <a:avLst/>
          </a:prstGeom>
          <a:solidFill>
            <a:srgbClr val="F5F7FA"/>
          </a:solidFill>
          <a:ln w="12700">
            <a:solidFill>
              <a:srgbClr val="D8DEE6">
                <a:alpha val="90000"/>
              </a:srgbClr>
            </a:solidFill>
            <a:prstDash val="solid"/>
          </a:ln>
        </p:spPr>
      </p:sp>
      <p:sp>
        <p:nvSpPr>
          <p:cNvPr id="36" name="Text 32"/>
          <p:cNvSpPr/>
          <p:nvPr/>
        </p:nvSpPr>
        <p:spPr>
          <a:xfrm>
            <a:off x="6163056" y="4892040"/>
            <a:ext cx="1024128" cy="128016"/>
          </a:xfrm>
          <a:prstGeom prst="rect">
            <a:avLst/>
          </a:prstGeom>
          <a:noFill/>
          <a:ln/>
        </p:spPr>
        <p:txBody>
          <a:bodyPr wrap="square" lIns="0" tIns="0" rIns="0" bIns="0" rtlCol="0" anchor="ctr">
            <a:normAutofit/>
          </a:bodyPr>
          <a:lstStyle/>
          <a:p>
            <a:pPr algn="ctr" indent="0" marL="0">
              <a:buNone/>
            </a:pPr>
            <a:r>
              <a:rPr lang="en-US" sz="820" dirty="0">
                <a:solidFill>
                  <a:srgbClr val="1F2933"/>
                </a:solidFill>
              </a:rPr>
              <a:t>0.601</a:t>
            </a:r>
            <a:endParaRPr lang="en-US" sz="820" dirty="0"/>
          </a:p>
        </p:txBody>
      </p:sp>
      <p:sp>
        <p:nvSpPr>
          <p:cNvPr id="37" name="Shape 33"/>
          <p:cNvSpPr/>
          <p:nvPr/>
        </p:nvSpPr>
        <p:spPr>
          <a:xfrm>
            <a:off x="7223760" y="4809744"/>
            <a:ext cx="1325880" cy="402336"/>
          </a:xfrm>
          <a:prstGeom prst="rect">
            <a:avLst/>
          </a:prstGeom>
          <a:solidFill>
            <a:srgbClr val="F5F7FA"/>
          </a:solidFill>
          <a:ln w="12700">
            <a:solidFill>
              <a:srgbClr val="D8DEE6">
                <a:alpha val="90000"/>
              </a:srgbClr>
            </a:solidFill>
            <a:prstDash val="solid"/>
          </a:ln>
        </p:spPr>
      </p:sp>
      <p:sp>
        <p:nvSpPr>
          <p:cNvPr id="38" name="Text 34"/>
          <p:cNvSpPr/>
          <p:nvPr/>
        </p:nvSpPr>
        <p:spPr>
          <a:xfrm>
            <a:off x="7260336" y="4892040"/>
            <a:ext cx="1252728" cy="128016"/>
          </a:xfrm>
          <a:prstGeom prst="rect">
            <a:avLst/>
          </a:prstGeom>
          <a:noFill/>
          <a:ln/>
        </p:spPr>
        <p:txBody>
          <a:bodyPr wrap="square" lIns="0" tIns="0" rIns="0" bIns="0" rtlCol="0" anchor="ctr">
            <a:normAutofit/>
          </a:bodyPr>
          <a:lstStyle/>
          <a:p>
            <a:pPr algn="ctr" indent="0" marL="0">
              <a:buNone/>
            </a:pPr>
            <a:r>
              <a:rPr lang="en-US" sz="820" dirty="0">
                <a:solidFill>
                  <a:srgbClr val="1F2933"/>
                </a:solidFill>
              </a:rPr>
              <a:t>0.9328</a:t>
            </a:r>
            <a:endParaRPr lang="en-US" sz="820" dirty="0"/>
          </a:p>
        </p:txBody>
      </p:sp>
      <p:sp>
        <p:nvSpPr>
          <p:cNvPr id="39" name="Shape 35"/>
          <p:cNvSpPr/>
          <p:nvPr/>
        </p:nvSpPr>
        <p:spPr>
          <a:xfrm>
            <a:off x="8549640" y="4809744"/>
            <a:ext cx="1280160" cy="402336"/>
          </a:xfrm>
          <a:prstGeom prst="rect">
            <a:avLst/>
          </a:prstGeom>
          <a:solidFill>
            <a:srgbClr val="F5F7FA"/>
          </a:solidFill>
          <a:ln w="12700">
            <a:solidFill>
              <a:srgbClr val="D8DEE6">
                <a:alpha val="90000"/>
              </a:srgbClr>
            </a:solidFill>
            <a:prstDash val="solid"/>
          </a:ln>
        </p:spPr>
      </p:sp>
      <p:sp>
        <p:nvSpPr>
          <p:cNvPr id="40" name="Text 36"/>
          <p:cNvSpPr/>
          <p:nvPr/>
        </p:nvSpPr>
        <p:spPr>
          <a:xfrm>
            <a:off x="8586216" y="4892040"/>
            <a:ext cx="1207008" cy="128016"/>
          </a:xfrm>
          <a:prstGeom prst="rect">
            <a:avLst/>
          </a:prstGeom>
          <a:noFill/>
          <a:ln/>
        </p:spPr>
        <p:txBody>
          <a:bodyPr wrap="square" lIns="0" tIns="0" rIns="0" bIns="0" rtlCol="0" anchor="ctr">
            <a:normAutofit/>
          </a:bodyPr>
          <a:lstStyle/>
          <a:p>
            <a:pPr algn="ctr" indent="0" marL="0">
              <a:buNone/>
            </a:pPr>
            <a:r>
              <a:rPr lang="en-US" sz="820" dirty="0">
                <a:solidFill>
                  <a:srgbClr val="1F2933"/>
                </a:solidFill>
              </a:rPr>
              <a:t>0.6339</a:t>
            </a:r>
            <a:endParaRPr lang="en-US" sz="820" dirty="0"/>
          </a:p>
        </p:txBody>
      </p:sp>
      <p:sp>
        <p:nvSpPr>
          <p:cNvPr id="41" name="Shape 37"/>
          <p:cNvSpPr/>
          <p:nvPr/>
        </p:nvSpPr>
        <p:spPr>
          <a:xfrm>
            <a:off x="868680" y="5212080"/>
            <a:ext cx="1508760" cy="402336"/>
          </a:xfrm>
          <a:prstGeom prst="rect">
            <a:avLst/>
          </a:prstGeom>
          <a:solidFill>
            <a:srgbClr val="FFFFFF"/>
          </a:solidFill>
          <a:ln w="12700">
            <a:solidFill>
              <a:srgbClr val="D8DEE6">
                <a:alpha val="90000"/>
              </a:srgbClr>
            </a:solidFill>
            <a:prstDash val="solid"/>
          </a:ln>
        </p:spPr>
      </p:sp>
      <p:sp>
        <p:nvSpPr>
          <p:cNvPr id="42" name="Text 38"/>
          <p:cNvSpPr/>
          <p:nvPr/>
        </p:nvSpPr>
        <p:spPr>
          <a:xfrm>
            <a:off x="905256" y="5294376"/>
            <a:ext cx="1435608" cy="128016"/>
          </a:xfrm>
          <a:prstGeom prst="rect">
            <a:avLst/>
          </a:prstGeom>
          <a:noFill/>
          <a:ln/>
        </p:spPr>
        <p:txBody>
          <a:bodyPr wrap="square" lIns="0" tIns="0" rIns="0" bIns="0" rtlCol="0" anchor="ctr">
            <a:normAutofit/>
          </a:bodyPr>
          <a:lstStyle/>
          <a:p>
            <a:pPr algn="l" indent="0" marL="0">
              <a:buNone/>
            </a:pPr>
            <a:r>
              <a:rPr lang="en-US" sz="820" b="1" dirty="0">
                <a:solidFill>
                  <a:srgbClr val="12385B"/>
                </a:solidFill>
              </a:rPr>
              <a:t>Top 10</a:t>
            </a:r>
            <a:endParaRPr lang="en-US" sz="820" dirty="0"/>
          </a:p>
        </p:txBody>
      </p:sp>
      <p:sp>
        <p:nvSpPr>
          <p:cNvPr id="43" name="Shape 39"/>
          <p:cNvSpPr/>
          <p:nvPr/>
        </p:nvSpPr>
        <p:spPr>
          <a:xfrm>
            <a:off x="2377440" y="5212080"/>
            <a:ext cx="1188720" cy="402336"/>
          </a:xfrm>
          <a:prstGeom prst="rect">
            <a:avLst/>
          </a:prstGeom>
          <a:solidFill>
            <a:srgbClr val="FFFFFF"/>
          </a:solidFill>
          <a:ln w="12700">
            <a:solidFill>
              <a:srgbClr val="D8DEE6">
                <a:alpha val="90000"/>
              </a:srgbClr>
            </a:solidFill>
            <a:prstDash val="solid"/>
          </a:ln>
        </p:spPr>
      </p:sp>
      <p:sp>
        <p:nvSpPr>
          <p:cNvPr id="44" name="Text 40"/>
          <p:cNvSpPr/>
          <p:nvPr/>
        </p:nvSpPr>
        <p:spPr>
          <a:xfrm>
            <a:off x="2414016" y="5294376"/>
            <a:ext cx="1115568" cy="128016"/>
          </a:xfrm>
          <a:prstGeom prst="rect">
            <a:avLst/>
          </a:prstGeom>
          <a:noFill/>
          <a:ln/>
        </p:spPr>
        <p:txBody>
          <a:bodyPr wrap="square" lIns="0" tIns="0" rIns="0" bIns="0" rtlCol="0" anchor="ctr">
            <a:normAutofit/>
          </a:bodyPr>
          <a:lstStyle/>
          <a:p>
            <a:pPr algn="ctr" indent="0" marL="0">
              <a:buNone/>
            </a:pPr>
            <a:r>
              <a:rPr lang="en-US" sz="820" dirty="0">
                <a:solidFill>
                  <a:srgbClr val="1F2933"/>
                </a:solidFill>
              </a:rPr>
              <a:t>0.906</a:t>
            </a:r>
            <a:endParaRPr lang="en-US" sz="820" dirty="0"/>
          </a:p>
        </p:txBody>
      </p:sp>
      <p:sp>
        <p:nvSpPr>
          <p:cNvPr id="45" name="Shape 41"/>
          <p:cNvSpPr/>
          <p:nvPr/>
        </p:nvSpPr>
        <p:spPr>
          <a:xfrm>
            <a:off x="3566160" y="5212080"/>
            <a:ext cx="1417320" cy="402336"/>
          </a:xfrm>
          <a:prstGeom prst="rect">
            <a:avLst/>
          </a:prstGeom>
          <a:solidFill>
            <a:srgbClr val="FFFFFF"/>
          </a:solidFill>
          <a:ln w="12700">
            <a:solidFill>
              <a:srgbClr val="D8DEE6">
                <a:alpha val="90000"/>
              </a:srgbClr>
            </a:solidFill>
            <a:prstDash val="solid"/>
          </a:ln>
        </p:spPr>
      </p:sp>
      <p:sp>
        <p:nvSpPr>
          <p:cNvPr id="46" name="Text 42"/>
          <p:cNvSpPr/>
          <p:nvPr/>
        </p:nvSpPr>
        <p:spPr>
          <a:xfrm>
            <a:off x="3602736" y="5294376"/>
            <a:ext cx="1344168" cy="128016"/>
          </a:xfrm>
          <a:prstGeom prst="rect">
            <a:avLst/>
          </a:prstGeom>
          <a:noFill/>
          <a:ln/>
        </p:spPr>
        <p:txBody>
          <a:bodyPr wrap="square" lIns="0" tIns="0" rIns="0" bIns="0" rtlCol="0" anchor="ctr">
            <a:normAutofit/>
          </a:bodyPr>
          <a:lstStyle/>
          <a:p>
            <a:pPr algn="ctr" indent="0" marL="0">
              <a:buNone/>
            </a:pPr>
            <a:r>
              <a:rPr lang="en-US" sz="820" dirty="0">
                <a:solidFill>
                  <a:srgbClr val="1F2933"/>
                </a:solidFill>
              </a:rPr>
              <a:t>0.799</a:t>
            </a:r>
            <a:endParaRPr lang="en-US" sz="820" dirty="0"/>
          </a:p>
        </p:txBody>
      </p:sp>
      <p:sp>
        <p:nvSpPr>
          <p:cNvPr id="47" name="Shape 43"/>
          <p:cNvSpPr/>
          <p:nvPr/>
        </p:nvSpPr>
        <p:spPr>
          <a:xfrm>
            <a:off x="4983480" y="5212080"/>
            <a:ext cx="1143000" cy="402336"/>
          </a:xfrm>
          <a:prstGeom prst="rect">
            <a:avLst/>
          </a:prstGeom>
          <a:solidFill>
            <a:srgbClr val="FFFFFF"/>
          </a:solidFill>
          <a:ln w="12700">
            <a:solidFill>
              <a:srgbClr val="D8DEE6">
                <a:alpha val="90000"/>
              </a:srgbClr>
            </a:solidFill>
            <a:prstDash val="solid"/>
          </a:ln>
        </p:spPr>
      </p:sp>
      <p:sp>
        <p:nvSpPr>
          <p:cNvPr id="48" name="Text 44"/>
          <p:cNvSpPr/>
          <p:nvPr/>
        </p:nvSpPr>
        <p:spPr>
          <a:xfrm>
            <a:off x="5020056" y="5294376"/>
            <a:ext cx="1069848" cy="128016"/>
          </a:xfrm>
          <a:prstGeom prst="rect">
            <a:avLst/>
          </a:prstGeom>
          <a:noFill/>
          <a:ln/>
        </p:spPr>
        <p:txBody>
          <a:bodyPr wrap="square" lIns="0" tIns="0" rIns="0" bIns="0" rtlCol="0" anchor="ctr">
            <a:normAutofit/>
          </a:bodyPr>
          <a:lstStyle/>
          <a:p>
            <a:pPr algn="ctr" indent="0" marL="0">
              <a:buNone/>
            </a:pPr>
            <a:r>
              <a:rPr lang="en-US" sz="820" dirty="0">
                <a:solidFill>
                  <a:srgbClr val="1F2933"/>
                </a:solidFill>
              </a:rPr>
              <a:t>0.659</a:t>
            </a:r>
            <a:endParaRPr lang="en-US" sz="820" dirty="0"/>
          </a:p>
        </p:txBody>
      </p:sp>
      <p:sp>
        <p:nvSpPr>
          <p:cNvPr id="49" name="Shape 45"/>
          <p:cNvSpPr/>
          <p:nvPr/>
        </p:nvSpPr>
        <p:spPr>
          <a:xfrm>
            <a:off x="6126480" y="5212080"/>
            <a:ext cx="1097280" cy="402336"/>
          </a:xfrm>
          <a:prstGeom prst="rect">
            <a:avLst/>
          </a:prstGeom>
          <a:solidFill>
            <a:srgbClr val="FFFFFF"/>
          </a:solidFill>
          <a:ln w="12700">
            <a:solidFill>
              <a:srgbClr val="D8DEE6">
                <a:alpha val="90000"/>
              </a:srgbClr>
            </a:solidFill>
            <a:prstDash val="solid"/>
          </a:ln>
        </p:spPr>
      </p:sp>
      <p:sp>
        <p:nvSpPr>
          <p:cNvPr id="50" name="Text 46"/>
          <p:cNvSpPr/>
          <p:nvPr/>
        </p:nvSpPr>
        <p:spPr>
          <a:xfrm>
            <a:off x="6163056" y="5294376"/>
            <a:ext cx="1024128" cy="128016"/>
          </a:xfrm>
          <a:prstGeom prst="rect">
            <a:avLst/>
          </a:prstGeom>
          <a:noFill/>
          <a:ln/>
        </p:spPr>
        <p:txBody>
          <a:bodyPr wrap="square" lIns="0" tIns="0" rIns="0" bIns="0" rtlCol="0" anchor="ctr">
            <a:normAutofit/>
          </a:bodyPr>
          <a:lstStyle/>
          <a:p>
            <a:pPr algn="ctr" indent="0" marL="0">
              <a:buNone/>
            </a:pPr>
            <a:r>
              <a:rPr lang="en-US" sz="820" dirty="0">
                <a:solidFill>
                  <a:srgbClr val="1F2933"/>
                </a:solidFill>
              </a:rPr>
              <a:t>0.621</a:t>
            </a:r>
            <a:endParaRPr lang="en-US" sz="820" dirty="0"/>
          </a:p>
        </p:txBody>
      </p:sp>
      <p:sp>
        <p:nvSpPr>
          <p:cNvPr id="51" name="Shape 47"/>
          <p:cNvSpPr/>
          <p:nvPr/>
        </p:nvSpPr>
        <p:spPr>
          <a:xfrm>
            <a:off x="7223760" y="5212080"/>
            <a:ext cx="1325880" cy="402336"/>
          </a:xfrm>
          <a:prstGeom prst="rect">
            <a:avLst/>
          </a:prstGeom>
          <a:solidFill>
            <a:srgbClr val="FFFFFF"/>
          </a:solidFill>
          <a:ln w="12700">
            <a:solidFill>
              <a:srgbClr val="D8DEE6">
                <a:alpha val="90000"/>
              </a:srgbClr>
            </a:solidFill>
            <a:prstDash val="solid"/>
          </a:ln>
        </p:spPr>
      </p:sp>
      <p:sp>
        <p:nvSpPr>
          <p:cNvPr id="52" name="Text 48"/>
          <p:cNvSpPr/>
          <p:nvPr/>
        </p:nvSpPr>
        <p:spPr>
          <a:xfrm>
            <a:off x="7260336" y="5294376"/>
            <a:ext cx="1252728" cy="128016"/>
          </a:xfrm>
          <a:prstGeom prst="rect">
            <a:avLst/>
          </a:prstGeom>
          <a:noFill/>
          <a:ln/>
        </p:spPr>
        <p:txBody>
          <a:bodyPr wrap="square" lIns="0" tIns="0" rIns="0" bIns="0" rtlCol="0" anchor="ctr">
            <a:normAutofit/>
          </a:bodyPr>
          <a:lstStyle/>
          <a:p>
            <a:pPr algn="ctr" indent="0" marL="0">
              <a:buNone/>
            </a:pPr>
            <a:r>
              <a:rPr lang="en-US" sz="820" dirty="0">
                <a:solidFill>
                  <a:srgbClr val="1F2933"/>
                </a:solidFill>
              </a:rPr>
              <a:t>0.9335</a:t>
            </a:r>
            <a:endParaRPr lang="en-US" sz="820" dirty="0"/>
          </a:p>
        </p:txBody>
      </p:sp>
      <p:sp>
        <p:nvSpPr>
          <p:cNvPr id="53" name="Shape 49"/>
          <p:cNvSpPr/>
          <p:nvPr/>
        </p:nvSpPr>
        <p:spPr>
          <a:xfrm>
            <a:off x="8549640" y="5212080"/>
            <a:ext cx="1280160" cy="402336"/>
          </a:xfrm>
          <a:prstGeom prst="rect">
            <a:avLst/>
          </a:prstGeom>
          <a:solidFill>
            <a:srgbClr val="FFFFFF"/>
          </a:solidFill>
          <a:ln w="12700">
            <a:solidFill>
              <a:srgbClr val="D8DEE6">
                <a:alpha val="90000"/>
              </a:srgbClr>
            </a:solidFill>
            <a:prstDash val="solid"/>
          </a:ln>
        </p:spPr>
      </p:sp>
      <p:sp>
        <p:nvSpPr>
          <p:cNvPr id="54" name="Text 50"/>
          <p:cNvSpPr/>
          <p:nvPr/>
        </p:nvSpPr>
        <p:spPr>
          <a:xfrm>
            <a:off x="8586216" y="5294376"/>
            <a:ext cx="1207008" cy="128016"/>
          </a:xfrm>
          <a:prstGeom prst="rect">
            <a:avLst/>
          </a:prstGeom>
          <a:noFill/>
          <a:ln/>
        </p:spPr>
        <p:txBody>
          <a:bodyPr wrap="square" lIns="0" tIns="0" rIns="0" bIns="0" rtlCol="0" anchor="ctr">
            <a:normAutofit/>
          </a:bodyPr>
          <a:lstStyle/>
          <a:p>
            <a:pPr algn="ctr" indent="0" marL="0">
              <a:buNone/>
            </a:pPr>
            <a:r>
              <a:rPr lang="en-US" sz="820" dirty="0">
                <a:solidFill>
                  <a:srgbClr val="1F2933"/>
                </a:solidFill>
              </a:rPr>
              <a:t>0.6347</a:t>
            </a:r>
            <a:endParaRPr lang="en-US" sz="820" dirty="0"/>
          </a:p>
        </p:txBody>
      </p:sp>
      <p:sp>
        <p:nvSpPr>
          <p:cNvPr id="55" name="Text 51"/>
          <p:cNvSpPr/>
          <p:nvPr/>
        </p:nvSpPr>
        <p:spPr>
          <a:xfrm>
            <a:off x="960120" y="5806440"/>
            <a:ext cx="10149840" cy="219456"/>
          </a:xfrm>
          <a:prstGeom prst="rect">
            <a:avLst/>
          </a:prstGeom>
          <a:noFill/>
          <a:ln/>
        </p:spPr>
        <p:txBody>
          <a:bodyPr wrap="square" lIns="0" tIns="0" rIns="0" bIns="0" rtlCol="0" anchor="ctr"/>
          <a:lstStyle/>
          <a:p>
            <a:pPr algn="ctr" indent="0" marL="0">
              <a:buNone/>
            </a:pPr>
            <a:r>
              <a:rPr lang="en-US" sz="1150" b="1" dirty="0">
                <a:solidFill>
                  <a:srgbClr val="12385B"/>
                </a:solidFill>
              </a:rPr>
              <a:t>Top drivers: duration, month, balance, age, poutcome, day, contact, job, housing and campaign.</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49C7E"/>
          </a:solidFill>
          <a:ln w="12700">
            <a:solidFill>
              <a:srgbClr val="149C7E"/>
            </a:solidFill>
            <a:prstDash val="solid"/>
          </a:ln>
        </p:spPr>
      </p:sp>
      <p:sp>
        <p:nvSpPr>
          <p:cNvPr id="3" name="Text 1"/>
          <p:cNvSpPr/>
          <p:nvPr/>
        </p:nvSpPr>
        <p:spPr>
          <a:xfrm>
            <a:off x="502920" y="310896"/>
            <a:ext cx="8138160" cy="384048"/>
          </a:xfrm>
          <a:prstGeom prst="rect">
            <a:avLst/>
          </a:prstGeom>
          <a:noFill/>
          <a:ln/>
        </p:spPr>
        <p:txBody>
          <a:bodyPr wrap="square" lIns="0" tIns="0" rIns="0" bIns="0" rtlCol="0" anchor="ctr"/>
          <a:lstStyle/>
          <a:p>
            <a:pPr indent="0" marL="0">
              <a:buNone/>
            </a:pPr>
            <a:r>
              <a:rPr lang="en-US" sz="2600" b="1" dirty="0">
                <a:solidFill>
                  <a:srgbClr val="12385B"/>
                </a:solidFill>
                <a:latin typeface="Aptos Display" pitchFamily="34" charset="0"/>
                <a:ea typeface="Aptos Display" pitchFamily="34" charset="-122"/>
                <a:cs typeface="Aptos Display" pitchFamily="34" charset="-120"/>
              </a:rPr>
              <a:t>Conclusions and Limitations</a:t>
            </a:r>
            <a:endParaRPr lang="en-US" sz="2600" dirty="0"/>
          </a:p>
        </p:txBody>
      </p:sp>
      <p:sp>
        <p:nvSpPr>
          <p:cNvPr id="4" name="Text 2"/>
          <p:cNvSpPr/>
          <p:nvPr/>
        </p:nvSpPr>
        <p:spPr>
          <a:xfrm>
            <a:off x="521208" y="749808"/>
            <a:ext cx="10789920" cy="237744"/>
          </a:xfrm>
          <a:prstGeom prst="rect">
            <a:avLst/>
          </a:prstGeom>
          <a:noFill/>
          <a:ln/>
        </p:spPr>
        <p:txBody>
          <a:bodyPr wrap="square" lIns="0" tIns="0" rIns="0" bIns="0" rtlCol="0" anchor="ctr"/>
          <a:lstStyle/>
          <a:p>
            <a:pPr indent="0" marL="0">
              <a:buNone/>
            </a:pPr>
            <a:r>
              <a:rPr lang="en-US" sz="1050" dirty="0">
                <a:solidFill>
                  <a:srgbClr val="5B6770"/>
                </a:solidFill>
              </a:rPr>
              <a:t>The model can support campaign prioritization, but duration must be handled carefully.</a:t>
            </a:r>
            <a:endParaRPr lang="en-US" sz="1050" dirty="0"/>
          </a:p>
        </p:txBody>
      </p:sp>
      <p:sp>
        <p:nvSpPr>
          <p:cNvPr id="5" name="Text 3"/>
          <p:cNvSpPr/>
          <p:nvPr/>
        </p:nvSpPr>
        <p:spPr>
          <a:xfrm>
            <a:off x="502920" y="6483096"/>
            <a:ext cx="4572000" cy="164592"/>
          </a:xfrm>
          <a:prstGeom prst="rect">
            <a:avLst/>
          </a:prstGeom>
          <a:noFill/>
          <a:ln/>
        </p:spPr>
        <p:txBody>
          <a:bodyPr wrap="square" lIns="0" tIns="0" rIns="0" bIns="0" rtlCol="0" anchor="ctr"/>
          <a:lstStyle/>
          <a:p>
            <a:pPr indent="0" marL="0">
              <a:buNone/>
            </a:pPr>
            <a:r>
              <a:rPr lang="en-US" sz="800" dirty="0">
                <a:solidFill>
                  <a:srgbClr val="7B8794"/>
                </a:solidFill>
              </a:rPr>
              <a:t>Bank Marketing Subscription Prediction</a:t>
            </a:r>
            <a:endParaRPr lang="en-US" sz="800" dirty="0"/>
          </a:p>
        </p:txBody>
      </p:sp>
      <p:sp>
        <p:nvSpPr>
          <p:cNvPr id="6" name="Text 4"/>
          <p:cNvSpPr/>
          <p:nvPr/>
        </p:nvSpPr>
        <p:spPr>
          <a:xfrm>
            <a:off x="11384280" y="6464808"/>
            <a:ext cx="320040" cy="164592"/>
          </a:xfrm>
          <a:prstGeom prst="rect">
            <a:avLst/>
          </a:prstGeom>
          <a:noFill/>
          <a:ln/>
        </p:spPr>
        <p:txBody>
          <a:bodyPr wrap="square" lIns="0" tIns="0" rIns="0" bIns="0" rtlCol="0" anchor="ctr"/>
          <a:lstStyle/>
          <a:p>
            <a:pPr algn="r" indent="0" marL="0">
              <a:buNone/>
            </a:pPr>
            <a:r>
              <a:rPr lang="en-US" sz="800" dirty="0">
                <a:solidFill>
                  <a:srgbClr val="7B8794"/>
                </a:solidFill>
              </a:rPr>
              <a:t>10</a:t>
            </a:r>
            <a:endParaRPr lang="en-US" sz="800" dirty="0"/>
          </a:p>
        </p:txBody>
      </p:sp>
      <p:sp>
        <p:nvSpPr>
          <p:cNvPr id="7" name="Shape 5"/>
          <p:cNvSpPr/>
          <p:nvPr/>
        </p:nvSpPr>
        <p:spPr>
          <a:xfrm>
            <a:off x="640080" y="1143000"/>
            <a:ext cx="4937760" cy="2788920"/>
          </a:xfrm>
          <a:prstGeom prst="roundRect">
            <a:avLst>
              <a:gd name="adj" fmla="val 2623"/>
            </a:avLst>
          </a:prstGeom>
          <a:solidFill>
            <a:srgbClr val="E7F6F2"/>
          </a:solidFill>
          <a:ln w="12700">
            <a:solidFill>
              <a:srgbClr val="149C7E">
                <a:alpha val="50000"/>
              </a:srgbClr>
            </a:solidFill>
            <a:prstDash val="solid"/>
          </a:ln>
        </p:spPr>
      </p:sp>
      <p:sp>
        <p:nvSpPr>
          <p:cNvPr id="8" name="Text 6"/>
          <p:cNvSpPr/>
          <p:nvPr/>
        </p:nvSpPr>
        <p:spPr>
          <a:xfrm>
            <a:off x="960120" y="1508760"/>
            <a:ext cx="2377440" cy="228600"/>
          </a:xfrm>
          <a:prstGeom prst="rect">
            <a:avLst/>
          </a:prstGeom>
          <a:noFill/>
          <a:ln/>
        </p:spPr>
        <p:txBody>
          <a:bodyPr wrap="square" lIns="0" tIns="0" rIns="0" bIns="0" rtlCol="0" anchor="ctr"/>
          <a:lstStyle/>
          <a:p>
            <a:pPr indent="0" marL="0">
              <a:buNone/>
            </a:pPr>
            <a:r>
              <a:rPr lang="en-US" sz="1400" b="1" dirty="0">
                <a:solidFill>
                  <a:srgbClr val="12385B"/>
                </a:solidFill>
              </a:rPr>
              <a:t>Business conclusions</a:t>
            </a:r>
            <a:endParaRPr lang="en-US" sz="1400" dirty="0"/>
          </a:p>
        </p:txBody>
      </p:sp>
      <p:sp>
        <p:nvSpPr>
          <p:cNvPr id="9" name="Text 7"/>
          <p:cNvSpPr/>
          <p:nvPr/>
        </p:nvSpPr>
        <p:spPr>
          <a:xfrm>
            <a:off x="960120" y="1901952"/>
            <a:ext cx="4069080" cy="1325880"/>
          </a:xfrm>
          <a:prstGeom prst="rect">
            <a:avLst/>
          </a:prstGeom>
          <a:noFill/>
          <a:ln/>
        </p:spPr>
        <p:txBody>
          <a:bodyPr wrap="square" lIns="254" tIns="254" rIns="254" bIns="254" rtlCol="0" anchor="t">
            <a:normAutofit/>
          </a:bodyPr>
          <a:lstStyle/>
          <a:p>
            <a:pPr indent="0" marL="0">
              <a:buNone/>
            </a:pPr>
            <a:r>
              <a:rPr lang="en-US" sz="1220" dirty="0">
                <a:solidFill>
                  <a:srgbClr val="1F2933"/>
                </a:solidFill>
              </a:rPr>
              <a:t>• Use predicted probabilities to rank clients for outreach</a:t>
            </a:r>
            <a:endParaRPr lang="en-US" sz="1220" dirty="0"/>
          </a:p>
          <a:p>
            <a:pPr indent="0" marL="0">
              <a:buNone/>
            </a:pPr>
            <a:r>
              <a:rPr lang="en-US" sz="1220" dirty="0">
                <a:solidFill>
                  <a:srgbClr val="1F2933"/>
                </a:solidFill>
              </a:rPr>
              <a:t>• Random Forest gives the strongest validation ranking metrics</a:t>
            </a:r>
            <a:endParaRPr lang="en-US" sz="1220" dirty="0"/>
          </a:p>
          <a:p>
            <a:pPr indent="0" marL="0">
              <a:buNone/>
            </a:pPr>
            <a:r>
              <a:rPr lang="en-US" sz="1220" dirty="0">
                <a:solidFill>
                  <a:srgbClr val="1F2933"/>
                </a:solidFill>
              </a:rPr>
              <a:t>• A reduced feature set can preserve similar performance</a:t>
            </a:r>
            <a:endParaRPr lang="en-US" sz="1220" dirty="0"/>
          </a:p>
          <a:p>
            <a:pPr indent="0" marL="0">
              <a:buNone/>
            </a:pPr>
            <a:r>
              <a:rPr lang="en-US" sz="1220" dirty="0">
                <a:solidFill>
                  <a:srgbClr val="1F2933"/>
                </a:solidFill>
              </a:rPr>
              <a:t>• Threshold can be adapted to campaign capacity</a:t>
            </a:r>
            <a:endParaRPr lang="en-US" sz="1220" dirty="0"/>
          </a:p>
        </p:txBody>
      </p:sp>
      <p:sp>
        <p:nvSpPr>
          <p:cNvPr id="10" name="Shape 8"/>
          <p:cNvSpPr/>
          <p:nvPr/>
        </p:nvSpPr>
        <p:spPr>
          <a:xfrm>
            <a:off x="6080760" y="1143000"/>
            <a:ext cx="5440680" cy="2788920"/>
          </a:xfrm>
          <a:prstGeom prst="roundRect">
            <a:avLst>
              <a:gd name="adj" fmla="val 2623"/>
            </a:avLst>
          </a:prstGeom>
          <a:solidFill>
            <a:srgbClr val="FFF4F4"/>
          </a:solidFill>
          <a:ln w="12700">
            <a:solidFill>
              <a:srgbClr val="D64545">
                <a:alpha val="40000"/>
              </a:srgbClr>
            </a:solidFill>
            <a:prstDash val="solid"/>
          </a:ln>
        </p:spPr>
      </p:sp>
      <p:sp>
        <p:nvSpPr>
          <p:cNvPr id="11" name="Text 9"/>
          <p:cNvSpPr/>
          <p:nvPr/>
        </p:nvSpPr>
        <p:spPr>
          <a:xfrm>
            <a:off x="6400800" y="1508760"/>
            <a:ext cx="2834640" cy="228600"/>
          </a:xfrm>
          <a:prstGeom prst="rect">
            <a:avLst/>
          </a:prstGeom>
          <a:noFill/>
          <a:ln/>
        </p:spPr>
        <p:txBody>
          <a:bodyPr wrap="square" lIns="0" tIns="0" rIns="0" bIns="0" rtlCol="0" anchor="ctr"/>
          <a:lstStyle/>
          <a:p>
            <a:pPr indent="0" marL="0">
              <a:buNone/>
            </a:pPr>
            <a:r>
              <a:rPr lang="en-US" sz="1400" b="1" dirty="0">
                <a:solidFill>
                  <a:srgbClr val="12385B"/>
                </a:solidFill>
              </a:rPr>
              <a:t>Critical limitation: duration</a:t>
            </a:r>
            <a:endParaRPr lang="en-US" sz="1400" dirty="0"/>
          </a:p>
        </p:txBody>
      </p:sp>
      <p:sp>
        <p:nvSpPr>
          <p:cNvPr id="12" name="Text 10"/>
          <p:cNvSpPr/>
          <p:nvPr/>
        </p:nvSpPr>
        <p:spPr>
          <a:xfrm>
            <a:off x="6400800" y="1901952"/>
            <a:ext cx="4434840" cy="1325880"/>
          </a:xfrm>
          <a:prstGeom prst="rect">
            <a:avLst/>
          </a:prstGeom>
          <a:noFill/>
          <a:ln/>
        </p:spPr>
        <p:txBody>
          <a:bodyPr wrap="square" lIns="254" tIns="254" rIns="254" bIns="254" rtlCol="0" anchor="t">
            <a:normAutofit/>
          </a:bodyPr>
          <a:lstStyle/>
          <a:p>
            <a:pPr indent="0" marL="0">
              <a:buNone/>
            </a:pPr>
            <a:r>
              <a:rPr lang="en-US" sz="1220" dirty="0">
                <a:solidFill>
                  <a:srgbClr val="1F2933"/>
                </a:solidFill>
              </a:rPr>
              <a:t>• duration is highly predictive but known only after the call starts</a:t>
            </a:r>
            <a:endParaRPr lang="en-US" sz="1220" dirty="0"/>
          </a:p>
          <a:p>
            <a:pPr indent="0" marL="0">
              <a:buNone/>
            </a:pPr>
            <a:r>
              <a:rPr lang="en-US" sz="1220" dirty="0">
                <a:solidFill>
                  <a:srgbClr val="1F2933"/>
                </a:solidFill>
              </a:rPr>
              <a:t>• Good for explaining past outcomes</a:t>
            </a:r>
            <a:endParaRPr lang="en-US" sz="1220" dirty="0"/>
          </a:p>
          <a:p>
            <a:pPr indent="0" marL="0">
              <a:buNone/>
            </a:pPr>
            <a:r>
              <a:rPr lang="en-US" sz="1220" dirty="0">
                <a:solidFill>
                  <a:srgbClr val="1F2933"/>
                </a:solidFill>
              </a:rPr>
              <a:t>• Problematic for pre-campaign targeting</a:t>
            </a:r>
            <a:endParaRPr lang="en-US" sz="1220" dirty="0"/>
          </a:p>
          <a:p>
            <a:pPr indent="0" marL="0">
              <a:buNone/>
            </a:pPr>
            <a:r>
              <a:rPr lang="en-US" sz="1220" dirty="0">
                <a:solidFill>
                  <a:srgbClr val="1F2933"/>
                </a:solidFill>
              </a:rPr>
              <a:t>• A duration-free robustness check is necessary</a:t>
            </a:r>
            <a:endParaRPr lang="en-US" sz="1220" dirty="0"/>
          </a:p>
        </p:txBody>
      </p:sp>
      <p:sp>
        <p:nvSpPr>
          <p:cNvPr id="13" name="Shape 11"/>
          <p:cNvSpPr/>
          <p:nvPr/>
        </p:nvSpPr>
        <p:spPr>
          <a:xfrm>
            <a:off x="960120" y="4480560"/>
            <a:ext cx="1508760" cy="411480"/>
          </a:xfrm>
          <a:prstGeom prst="rect">
            <a:avLst/>
          </a:prstGeom>
          <a:solidFill>
            <a:srgbClr val="12385B"/>
          </a:solidFill>
          <a:ln w="12700">
            <a:solidFill>
              <a:srgbClr val="12385B"/>
            </a:solidFill>
            <a:prstDash val="solid"/>
          </a:ln>
        </p:spPr>
      </p:sp>
      <p:sp>
        <p:nvSpPr>
          <p:cNvPr id="14" name="Text 12"/>
          <p:cNvSpPr/>
          <p:nvPr/>
        </p:nvSpPr>
        <p:spPr>
          <a:xfrm>
            <a:off x="996696" y="4562856"/>
            <a:ext cx="1435608" cy="128016"/>
          </a:xfrm>
          <a:prstGeom prst="rect">
            <a:avLst/>
          </a:prstGeom>
          <a:noFill/>
          <a:ln/>
        </p:spPr>
        <p:txBody>
          <a:bodyPr wrap="square" lIns="0" tIns="0" rIns="0" bIns="0" rtlCol="0" anchor="ctr"/>
          <a:lstStyle/>
          <a:p>
            <a:pPr algn="ctr" indent="0" marL="0">
              <a:buNone/>
            </a:pPr>
            <a:r>
              <a:rPr lang="en-US" sz="850" b="1" dirty="0">
                <a:solidFill>
                  <a:srgbClr val="FFFFFF"/>
                </a:solidFill>
              </a:rPr>
              <a:t>Model</a:t>
            </a:r>
            <a:endParaRPr lang="en-US" sz="850" dirty="0"/>
          </a:p>
        </p:txBody>
      </p:sp>
      <p:sp>
        <p:nvSpPr>
          <p:cNvPr id="15" name="Shape 13"/>
          <p:cNvSpPr/>
          <p:nvPr/>
        </p:nvSpPr>
        <p:spPr>
          <a:xfrm>
            <a:off x="2468880" y="4480560"/>
            <a:ext cx="1005840" cy="411480"/>
          </a:xfrm>
          <a:prstGeom prst="rect">
            <a:avLst/>
          </a:prstGeom>
          <a:solidFill>
            <a:srgbClr val="12385B"/>
          </a:solidFill>
          <a:ln w="12700">
            <a:solidFill>
              <a:srgbClr val="12385B"/>
            </a:solidFill>
            <a:prstDash val="solid"/>
          </a:ln>
        </p:spPr>
      </p:sp>
      <p:sp>
        <p:nvSpPr>
          <p:cNvPr id="16" name="Text 14"/>
          <p:cNvSpPr/>
          <p:nvPr/>
        </p:nvSpPr>
        <p:spPr>
          <a:xfrm>
            <a:off x="2505456" y="4562856"/>
            <a:ext cx="932688" cy="128016"/>
          </a:xfrm>
          <a:prstGeom prst="rect">
            <a:avLst/>
          </a:prstGeom>
          <a:noFill/>
          <a:ln/>
        </p:spPr>
        <p:txBody>
          <a:bodyPr wrap="square" lIns="0" tIns="0" rIns="0" bIns="0" rtlCol="0" anchor="ctr"/>
          <a:lstStyle/>
          <a:p>
            <a:pPr algn="ctr" indent="0" marL="0">
              <a:buNone/>
            </a:pPr>
            <a:r>
              <a:rPr lang="en-US" sz="850" b="1" dirty="0">
                <a:solidFill>
                  <a:srgbClr val="FFFFFF"/>
                </a:solidFill>
              </a:rPr>
              <a:t>Balanced Acc.</a:t>
            </a:r>
            <a:endParaRPr lang="en-US" sz="850" dirty="0"/>
          </a:p>
        </p:txBody>
      </p:sp>
      <p:sp>
        <p:nvSpPr>
          <p:cNvPr id="17" name="Shape 15"/>
          <p:cNvSpPr/>
          <p:nvPr/>
        </p:nvSpPr>
        <p:spPr>
          <a:xfrm>
            <a:off x="3474720" y="4480560"/>
            <a:ext cx="777240" cy="411480"/>
          </a:xfrm>
          <a:prstGeom prst="rect">
            <a:avLst/>
          </a:prstGeom>
          <a:solidFill>
            <a:srgbClr val="12385B"/>
          </a:solidFill>
          <a:ln w="12700">
            <a:solidFill>
              <a:srgbClr val="12385B"/>
            </a:solidFill>
            <a:prstDash val="solid"/>
          </a:ln>
        </p:spPr>
      </p:sp>
      <p:sp>
        <p:nvSpPr>
          <p:cNvPr id="18" name="Text 16"/>
          <p:cNvSpPr/>
          <p:nvPr/>
        </p:nvSpPr>
        <p:spPr>
          <a:xfrm>
            <a:off x="3511296" y="4562856"/>
            <a:ext cx="704088" cy="128016"/>
          </a:xfrm>
          <a:prstGeom prst="rect">
            <a:avLst/>
          </a:prstGeom>
          <a:noFill/>
          <a:ln/>
        </p:spPr>
        <p:txBody>
          <a:bodyPr wrap="square" lIns="0" tIns="0" rIns="0" bIns="0" rtlCol="0" anchor="ctr"/>
          <a:lstStyle/>
          <a:p>
            <a:pPr algn="ctr" indent="0" marL="0">
              <a:buNone/>
            </a:pPr>
            <a:r>
              <a:rPr lang="en-US" sz="850" b="1" dirty="0">
                <a:solidFill>
                  <a:srgbClr val="FFFFFF"/>
                </a:solidFill>
              </a:rPr>
              <a:t>F1</a:t>
            </a:r>
            <a:endParaRPr lang="en-US" sz="850" dirty="0"/>
          </a:p>
        </p:txBody>
      </p:sp>
      <p:sp>
        <p:nvSpPr>
          <p:cNvPr id="19" name="Shape 17"/>
          <p:cNvSpPr/>
          <p:nvPr/>
        </p:nvSpPr>
        <p:spPr>
          <a:xfrm>
            <a:off x="4251960" y="4480560"/>
            <a:ext cx="822960" cy="411480"/>
          </a:xfrm>
          <a:prstGeom prst="rect">
            <a:avLst/>
          </a:prstGeom>
          <a:solidFill>
            <a:srgbClr val="12385B"/>
          </a:solidFill>
          <a:ln w="12700">
            <a:solidFill>
              <a:srgbClr val="12385B"/>
            </a:solidFill>
            <a:prstDash val="solid"/>
          </a:ln>
        </p:spPr>
      </p:sp>
      <p:sp>
        <p:nvSpPr>
          <p:cNvPr id="20" name="Text 18"/>
          <p:cNvSpPr/>
          <p:nvPr/>
        </p:nvSpPr>
        <p:spPr>
          <a:xfrm>
            <a:off x="4288536" y="4562856"/>
            <a:ext cx="749808" cy="128016"/>
          </a:xfrm>
          <a:prstGeom prst="rect">
            <a:avLst/>
          </a:prstGeom>
          <a:noFill/>
          <a:ln/>
        </p:spPr>
        <p:txBody>
          <a:bodyPr wrap="square" lIns="0" tIns="0" rIns="0" bIns="0" rtlCol="0" anchor="ctr"/>
          <a:lstStyle/>
          <a:p>
            <a:pPr algn="ctr" indent="0" marL="0">
              <a:buNone/>
            </a:pPr>
            <a:r>
              <a:rPr lang="en-US" sz="850" b="1" dirty="0">
                <a:solidFill>
                  <a:srgbClr val="FFFFFF"/>
                </a:solidFill>
              </a:rPr>
              <a:t>ROC-AUC</a:t>
            </a:r>
            <a:endParaRPr lang="en-US" sz="850" dirty="0"/>
          </a:p>
        </p:txBody>
      </p:sp>
      <p:sp>
        <p:nvSpPr>
          <p:cNvPr id="21" name="Shape 19"/>
          <p:cNvSpPr/>
          <p:nvPr/>
        </p:nvSpPr>
        <p:spPr>
          <a:xfrm>
            <a:off x="5074920" y="4480560"/>
            <a:ext cx="822960" cy="411480"/>
          </a:xfrm>
          <a:prstGeom prst="rect">
            <a:avLst/>
          </a:prstGeom>
          <a:solidFill>
            <a:srgbClr val="12385B"/>
          </a:solidFill>
          <a:ln w="12700">
            <a:solidFill>
              <a:srgbClr val="12385B"/>
            </a:solidFill>
            <a:prstDash val="solid"/>
          </a:ln>
        </p:spPr>
      </p:sp>
      <p:sp>
        <p:nvSpPr>
          <p:cNvPr id="22" name="Text 20"/>
          <p:cNvSpPr/>
          <p:nvPr/>
        </p:nvSpPr>
        <p:spPr>
          <a:xfrm>
            <a:off x="5111496" y="4562856"/>
            <a:ext cx="749808" cy="128016"/>
          </a:xfrm>
          <a:prstGeom prst="rect">
            <a:avLst/>
          </a:prstGeom>
          <a:noFill/>
          <a:ln/>
        </p:spPr>
        <p:txBody>
          <a:bodyPr wrap="square" lIns="0" tIns="0" rIns="0" bIns="0" rtlCol="0" anchor="ctr"/>
          <a:lstStyle/>
          <a:p>
            <a:pPr algn="ctr" indent="0" marL="0">
              <a:buNone/>
            </a:pPr>
            <a:r>
              <a:rPr lang="en-US" sz="850" b="1" dirty="0">
                <a:solidFill>
                  <a:srgbClr val="FFFFFF"/>
                </a:solidFill>
              </a:rPr>
              <a:t>PR-AUC</a:t>
            </a:r>
            <a:endParaRPr lang="en-US" sz="850" dirty="0"/>
          </a:p>
        </p:txBody>
      </p:sp>
      <p:sp>
        <p:nvSpPr>
          <p:cNvPr id="23" name="Shape 21"/>
          <p:cNvSpPr/>
          <p:nvPr/>
        </p:nvSpPr>
        <p:spPr>
          <a:xfrm>
            <a:off x="960120" y="4892040"/>
            <a:ext cx="1508760" cy="411480"/>
          </a:xfrm>
          <a:prstGeom prst="rect">
            <a:avLst/>
          </a:prstGeom>
          <a:solidFill>
            <a:srgbClr val="F5F7FA"/>
          </a:solidFill>
          <a:ln w="12700">
            <a:solidFill>
              <a:srgbClr val="D8DEE6">
                <a:alpha val="90000"/>
              </a:srgbClr>
            </a:solidFill>
            <a:prstDash val="solid"/>
          </a:ln>
        </p:spPr>
      </p:sp>
      <p:sp>
        <p:nvSpPr>
          <p:cNvPr id="24" name="Text 22"/>
          <p:cNvSpPr/>
          <p:nvPr/>
        </p:nvSpPr>
        <p:spPr>
          <a:xfrm>
            <a:off x="996696" y="4974336"/>
            <a:ext cx="1435608" cy="128016"/>
          </a:xfrm>
          <a:prstGeom prst="rect">
            <a:avLst/>
          </a:prstGeom>
          <a:noFill/>
          <a:ln/>
        </p:spPr>
        <p:txBody>
          <a:bodyPr wrap="square" lIns="0" tIns="0" rIns="0" bIns="0" rtlCol="0" anchor="ctr">
            <a:normAutofit/>
          </a:bodyPr>
          <a:lstStyle/>
          <a:p>
            <a:pPr algn="l" indent="0" marL="0">
              <a:buNone/>
            </a:pPr>
            <a:r>
              <a:rPr lang="en-US" sz="820" b="1" dirty="0">
                <a:solidFill>
                  <a:srgbClr val="12385B"/>
                </a:solidFill>
              </a:rPr>
              <a:t>RF tuned</a:t>
            </a:r>
            <a:endParaRPr lang="en-US" sz="820" dirty="0"/>
          </a:p>
        </p:txBody>
      </p:sp>
      <p:sp>
        <p:nvSpPr>
          <p:cNvPr id="25" name="Shape 23"/>
          <p:cNvSpPr/>
          <p:nvPr/>
        </p:nvSpPr>
        <p:spPr>
          <a:xfrm>
            <a:off x="2468880" y="4892040"/>
            <a:ext cx="1005840" cy="411480"/>
          </a:xfrm>
          <a:prstGeom prst="rect">
            <a:avLst/>
          </a:prstGeom>
          <a:solidFill>
            <a:srgbClr val="F5F7FA"/>
          </a:solidFill>
          <a:ln w="12700">
            <a:solidFill>
              <a:srgbClr val="D8DEE6">
                <a:alpha val="90000"/>
              </a:srgbClr>
            </a:solidFill>
            <a:prstDash val="solid"/>
          </a:ln>
        </p:spPr>
      </p:sp>
      <p:sp>
        <p:nvSpPr>
          <p:cNvPr id="26" name="Text 24"/>
          <p:cNvSpPr/>
          <p:nvPr/>
        </p:nvSpPr>
        <p:spPr>
          <a:xfrm>
            <a:off x="2505456" y="4974336"/>
            <a:ext cx="932688" cy="128016"/>
          </a:xfrm>
          <a:prstGeom prst="rect">
            <a:avLst/>
          </a:prstGeom>
          <a:noFill/>
          <a:ln/>
        </p:spPr>
        <p:txBody>
          <a:bodyPr wrap="square" lIns="0" tIns="0" rIns="0" bIns="0" rtlCol="0" anchor="ctr">
            <a:normAutofit/>
          </a:bodyPr>
          <a:lstStyle/>
          <a:p>
            <a:pPr algn="ctr" indent="0" marL="0">
              <a:buNone/>
            </a:pPr>
            <a:r>
              <a:rPr lang="en-US" sz="820" dirty="0">
                <a:solidFill>
                  <a:srgbClr val="1F2933"/>
                </a:solidFill>
              </a:rPr>
              <a:t>0.774</a:t>
            </a:r>
            <a:endParaRPr lang="en-US" sz="820" dirty="0"/>
          </a:p>
        </p:txBody>
      </p:sp>
      <p:sp>
        <p:nvSpPr>
          <p:cNvPr id="27" name="Shape 25"/>
          <p:cNvSpPr/>
          <p:nvPr/>
        </p:nvSpPr>
        <p:spPr>
          <a:xfrm>
            <a:off x="3474720" y="4892040"/>
            <a:ext cx="777240" cy="411480"/>
          </a:xfrm>
          <a:prstGeom prst="rect">
            <a:avLst/>
          </a:prstGeom>
          <a:solidFill>
            <a:srgbClr val="F5F7FA"/>
          </a:solidFill>
          <a:ln w="12700">
            <a:solidFill>
              <a:srgbClr val="D8DEE6">
                <a:alpha val="90000"/>
              </a:srgbClr>
            </a:solidFill>
            <a:prstDash val="solid"/>
          </a:ln>
        </p:spPr>
      </p:sp>
      <p:sp>
        <p:nvSpPr>
          <p:cNvPr id="28" name="Text 26"/>
          <p:cNvSpPr/>
          <p:nvPr/>
        </p:nvSpPr>
        <p:spPr>
          <a:xfrm>
            <a:off x="3511296" y="4974336"/>
            <a:ext cx="704088" cy="128016"/>
          </a:xfrm>
          <a:prstGeom prst="rect">
            <a:avLst/>
          </a:prstGeom>
          <a:noFill/>
          <a:ln/>
        </p:spPr>
        <p:txBody>
          <a:bodyPr wrap="square" lIns="0" tIns="0" rIns="0" bIns="0" rtlCol="0" anchor="ctr">
            <a:normAutofit/>
          </a:bodyPr>
          <a:lstStyle/>
          <a:p>
            <a:pPr algn="ctr" indent="0" marL="0">
              <a:buNone/>
            </a:pPr>
            <a:r>
              <a:rPr lang="en-US" sz="820" dirty="0">
                <a:solidFill>
                  <a:srgbClr val="1F2933"/>
                </a:solidFill>
              </a:rPr>
              <a:t>0.594</a:t>
            </a:r>
            <a:endParaRPr lang="en-US" sz="820" dirty="0"/>
          </a:p>
        </p:txBody>
      </p:sp>
      <p:sp>
        <p:nvSpPr>
          <p:cNvPr id="29" name="Shape 27"/>
          <p:cNvSpPr/>
          <p:nvPr/>
        </p:nvSpPr>
        <p:spPr>
          <a:xfrm>
            <a:off x="4251960" y="4892040"/>
            <a:ext cx="822960" cy="411480"/>
          </a:xfrm>
          <a:prstGeom prst="rect">
            <a:avLst/>
          </a:prstGeom>
          <a:solidFill>
            <a:srgbClr val="F5F7FA"/>
          </a:solidFill>
          <a:ln w="12700">
            <a:solidFill>
              <a:srgbClr val="D8DEE6">
                <a:alpha val="90000"/>
              </a:srgbClr>
            </a:solidFill>
            <a:prstDash val="solid"/>
          </a:ln>
        </p:spPr>
      </p:sp>
      <p:sp>
        <p:nvSpPr>
          <p:cNvPr id="30" name="Text 28"/>
          <p:cNvSpPr/>
          <p:nvPr/>
        </p:nvSpPr>
        <p:spPr>
          <a:xfrm>
            <a:off x="4288536" y="4974336"/>
            <a:ext cx="749808" cy="128016"/>
          </a:xfrm>
          <a:prstGeom prst="rect">
            <a:avLst/>
          </a:prstGeom>
          <a:noFill/>
          <a:ln/>
        </p:spPr>
        <p:txBody>
          <a:bodyPr wrap="square" lIns="0" tIns="0" rIns="0" bIns="0" rtlCol="0" anchor="ctr">
            <a:normAutofit/>
          </a:bodyPr>
          <a:lstStyle/>
          <a:p>
            <a:pPr algn="ctr" indent="0" marL="0">
              <a:buNone/>
            </a:pPr>
            <a:r>
              <a:rPr lang="en-US" sz="820" dirty="0">
                <a:solidFill>
                  <a:srgbClr val="1F2933"/>
                </a:solidFill>
              </a:rPr>
              <a:t>0.929</a:t>
            </a:r>
            <a:endParaRPr lang="en-US" sz="820" dirty="0"/>
          </a:p>
        </p:txBody>
      </p:sp>
      <p:sp>
        <p:nvSpPr>
          <p:cNvPr id="31" name="Shape 29"/>
          <p:cNvSpPr/>
          <p:nvPr/>
        </p:nvSpPr>
        <p:spPr>
          <a:xfrm>
            <a:off x="5074920" y="4892040"/>
            <a:ext cx="822960" cy="411480"/>
          </a:xfrm>
          <a:prstGeom prst="rect">
            <a:avLst/>
          </a:prstGeom>
          <a:solidFill>
            <a:srgbClr val="F5F7FA"/>
          </a:solidFill>
          <a:ln w="12700">
            <a:solidFill>
              <a:srgbClr val="D8DEE6">
                <a:alpha val="90000"/>
              </a:srgbClr>
            </a:solidFill>
            <a:prstDash val="solid"/>
          </a:ln>
        </p:spPr>
      </p:sp>
      <p:sp>
        <p:nvSpPr>
          <p:cNvPr id="32" name="Text 30"/>
          <p:cNvSpPr/>
          <p:nvPr/>
        </p:nvSpPr>
        <p:spPr>
          <a:xfrm>
            <a:off x="5111496" y="4974336"/>
            <a:ext cx="749808" cy="128016"/>
          </a:xfrm>
          <a:prstGeom prst="rect">
            <a:avLst/>
          </a:prstGeom>
          <a:noFill/>
          <a:ln/>
        </p:spPr>
        <p:txBody>
          <a:bodyPr wrap="square" lIns="0" tIns="0" rIns="0" bIns="0" rtlCol="0" anchor="ctr">
            <a:normAutofit/>
          </a:bodyPr>
          <a:lstStyle/>
          <a:p>
            <a:pPr algn="ctr" indent="0" marL="0">
              <a:buNone/>
            </a:pPr>
            <a:r>
              <a:rPr lang="en-US" sz="820" dirty="0">
                <a:solidFill>
                  <a:srgbClr val="1F2933"/>
                </a:solidFill>
              </a:rPr>
              <a:t>0.615</a:t>
            </a:r>
            <a:endParaRPr lang="en-US" sz="820" dirty="0"/>
          </a:p>
        </p:txBody>
      </p:sp>
      <p:sp>
        <p:nvSpPr>
          <p:cNvPr id="33" name="Shape 31"/>
          <p:cNvSpPr/>
          <p:nvPr/>
        </p:nvSpPr>
        <p:spPr>
          <a:xfrm>
            <a:off x="960120" y="5303520"/>
            <a:ext cx="1508760" cy="411480"/>
          </a:xfrm>
          <a:prstGeom prst="rect">
            <a:avLst/>
          </a:prstGeom>
          <a:solidFill>
            <a:srgbClr val="FFFFFF"/>
          </a:solidFill>
          <a:ln w="12700">
            <a:solidFill>
              <a:srgbClr val="D8DEE6">
                <a:alpha val="90000"/>
              </a:srgbClr>
            </a:solidFill>
            <a:prstDash val="solid"/>
          </a:ln>
        </p:spPr>
      </p:sp>
      <p:sp>
        <p:nvSpPr>
          <p:cNvPr id="34" name="Text 32"/>
          <p:cNvSpPr/>
          <p:nvPr/>
        </p:nvSpPr>
        <p:spPr>
          <a:xfrm>
            <a:off x="996696" y="5385816"/>
            <a:ext cx="1435608" cy="128016"/>
          </a:xfrm>
          <a:prstGeom prst="rect">
            <a:avLst/>
          </a:prstGeom>
          <a:noFill/>
          <a:ln/>
        </p:spPr>
        <p:txBody>
          <a:bodyPr wrap="square" lIns="0" tIns="0" rIns="0" bIns="0" rtlCol="0" anchor="ctr">
            <a:normAutofit/>
          </a:bodyPr>
          <a:lstStyle/>
          <a:p>
            <a:pPr algn="l" indent="0" marL="0">
              <a:buNone/>
            </a:pPr>
            <a:r>
              <a:rPr lang="en-US" sz="820" b="1" dirty="0">
                <a:solidFill>
                  <a:srgbClr val="12385B"/>
                </a:solidFill>
              </a:rPr>
              <a:t>Without duration</a:t>
            </a:r>
            <a:endParaRPr lang="en-US" sz="820" dirty="0"/>
          </a:p>
        </p:txBody>
      </p:sp>
      <p:sp>
        <p:nvSpPr>
          <p:cNvPr id="35" name="Shape 33"/>
          <p:cNvSpPr/>
          <p:nvPr/>
        </p:nvSpPr>
        <p:spPr>
          <a:xfrm>
            <a:off x="2468880" y="5303520"/>
            <a:ext cx="1005840" cy="411480"/>
          </a:xfrm>
          <a:prstGeom prst="rect">
            <a:avLst/>
          </a:prstGeom>
          <a:solidFill>
            <a:srgbClr val="FFFFFF"/>
          </a:solidFill>
          <a:ln w="12700">
            <a:solidFill>
              <a:srgbClr val="D8DEE6">
                <a:alpha val="90000"/>
              </a:srgbClr>
            </a:solidFill>
            <a:prstDash val="solid"/>
          </a:ln>
        </p:spPr>
      </p:sp>
      <p:sp>
        <p:nvSpPr>
          <p:cNvPr id="36" name="Text 34"/>
          <p:cNvSpPr/>
          <p:nvPr/>
        </p:nvSpPr>
        <p:spPr>
          <a:xfrm>
            <a:off x="2505456" y="5385816"/>
            <a:ext cx="932688" cy="128016"/>
          </a:xfrm>
          <a:prstGeom prst="rect">
            <a:avLst/>
          </a:prstGeom>
          <a:noFill/>
          <a:ln/>
        </p:spPr>
        <p:txBody>
          <a:bodyPr wrap="square" lIns="0" tIns="0" rIns="0" bIns="0" rtlCol="0" anchor="ctr">
            <a:normAutofit/>
          </a:bodyPr>
          <a:lstStyle/>
          <a:p>
            <a:pPr algn="ctr" indent="0" marL="0">
              <a:buNone/>
            </a:pPr>
            <a:r>
              <a:rPr lang="en-US" sz="820" dirty="0">
                <a:solidFill>
                  <a:srgbClr val="1F2933"/>
                </a:solidFill>
              </a:rPr>
              <a:t>0.663</a:t>
            </a:r>
            <a:endParaRPr lang="en-US" sz="820" dirty="0"/>
          </a:p>
        </p:txBody>
      </p:sp>
      <p:sp>
        <p:nvSpPr>
          <p:cNvPr id="37" name="Shape 35"/>
          <p:cNvSpPr/>
          <p:nvPr/>
        </p:nvSpPr>
        <p:spPr>
          <a:xfrm>
            <a:off x="3474720" y="5303520"/>
            <a:ext cx="777240" cy="411480"/>
          </a:xfrm>
          <a:prstGeom prst="rect">
            <a:avLst/>
          </a:prstGeom>
          <a:solidFill>
            <a:srgbClr val="FFFFFF"/>
          </a:solidFill>
          <a:ln w="12700">
            <a:solidFill>
              <a:srgbClr val="D8DEE6">
                <a:alpha val="90000"/>
              </a:srgbClr>
            </a:solidFill>
            <a:prstDash val="solid"/>
          </a:ln>
        </p:spPr>
      </p:sp>
      <p:sp>
        <p:nvSpPr>
          <p:cNvPr id="38" name="Text 36"/>
          <p:cNvSpPr/>
          <p:nvPr/>
        </p:nvSpPr>
        <p:spPr>
          <a:xfrm>
            <a:off x="3511296" y="5385816"/>
            <a:ext cx="704088" cy="128016"/>
          </a:xfrm>
          <a:prstGeom prst="rect">
            <a:avLst/>
          </a:prstGeom>
          <a:noFill/>
          <a:ln/>
        </p:spPr>
        <p:txBody>
          <a:bodyPr wrap="square" lIns="0" tIns="0" rIns="0" bIns="0" rtlCol="0" anchor="ctr">
            <a:normAutofit/>
          </a:bodyPr>
          <a:lstStyle/>
          <a:p>
            <a:pPr algn="ctr" indent="0" marL="0">
              <a:buNone/>
            </a:pPr>
            <a:r>
              <a:rPr lang="en-US" sz="820" dirty="0">
                <a:solidFill>
                  <a:srgbClr val="1F2933"/>
                </a:solidFill>
              </a:rPr>
              <a:t>0.435</a:t>
            </a:r>
            <a:endParaRPr lang="en-US" sz="820" dirty="0"/>
          </a:p>
        </p:txBody>
      </p:sp>
      <p:sp>
        <p:nvSpPr>
          <p:cNvPr id="39" name="Shape 37"/>
          <p:cNvSpPr/>
          <p:nvPr/>
        </p:nvSpPr>
        <p:spPr>
          <a:xfrm>
            <a:off x="4251960" y="5303520"/>
            <a:ext cx="822960" cy="411480"/>
          </a:xfrm>
          <a:prstGeom prst="rect">
            <a:avLst/>
          </a:prstGeom>
          <a:solidFill>
            <a:srgbClr val="FFFFFF"/>
          </a:solidFill>
          <a:ln w="12700">
            <a:solidFill>
              <a:srgbClr val="D8DEE6">
                <a:alpha val="90000"/>
              </a:srgbClr>
            </a:solidFill>
            <a:prstDash val="solid"/>
          </a:ln>
        </p:spPr>
      </p:sp>
      <p:sp>
        <p:nvSpPr>
          <p:cNvPr id="40" name="Text 38"/>
          <p:cNvSpPr/>
          <p:nvPr/>
        </p:nvSpPr>
        <p:spPr>
          <a:xfrm>
            <a:off x="4288536" y="5385816"/>
            <a:ext cx="749808" cy="128016"/>
          </a:xfrm>
          <a:prstGeom prst="rect">
            <a:avLst/>
          </a:prstGeom>
          <a:noFill/>
          <a:ln/>
        </p:spPr>
        <p:txBody>
          <a:bodyPr wrap="square" lIns="0" tIns="0" rIns="0" bIns="0" rtlCol="0" anchor="ctr">
            <a:normAutofit/>
          </a:bodyPr>
          <a:lstStyle/>
          <a:p>
            <a:pPr algn="ctr" indent="0" marL="0">
              <a:buNone/>
            </a:pPr>
            <a:r>
              <a:rPr lang="en-US" sz="820" dirty="0">
                <a:solidFill>
                  <a:srgbClr val="1F2933"/>
                </a:solidFill>
              </a:rPr>
              <a:t>0.792</a:t>
            </a:r>
            <a:endParaRPr lang="en-US" sz="820" dirty="0"/>
          </a:p>
        </p:txBody>
      </p:sp>
      <p:sp>
        <p:nvSpPr>
          <p:cNvPr id="41" name="Shape 39"/>
          <p:cNvSpPr/>
          <p:nvPr/>
        </p:nvSpPr>
        <p:spPr>
          <a:xfrm>
            <a:off x="5074920" y="5303520"/>
            <a:ext cx="822960" cy="411480"/>
          </a:xfrm>
          <a:prstGeom prst="rect">
            <a:avLst/>
          </a:prstGeom>
          <a:solidFill>
            <a:srgbClr val="FFFFFF"/>
          </a:solidFill>
          <a:ln w="12700">
            <a:solidFill>
              <a:srgbClr val="D8DEE6">
                <a:alpha val="90000"/>
              </a:srgbClr>
            </a:solidFill>
            <a:prstDash val="solid"/>
          </a:ln>
        </p:spPr>
      </p:sp>
      <p:sp>
        <p:nvSpPr>
          <p:cNvPr id="42" name="Text 40"/>
          <p:cNvSpPr/>
          <p:nvPr/>
        </p:nvSpPr>
        <p:spPr>
          <a:xfrm>
            <a:off x="5111496" y="5385816"/>
            <a:ext cx="749808" cy="128016"/>
          </a:xfrm>
          <a:prstGeom prst="rect">
            <a:avLst/>
          </a:prstGeom>
          <a:noFill/>
          <a:ln/>
        </p:spPr>
        <p:txBody>
          <a:bodyPr wrap="square" lIns="0" tIns="0" rIns="0" bIns="0" rtlCol="0" anchor="ctr">
            <a:normAutofit/>
          </a:bodyPr>
          <a:lstStyle/>
          <a:p>
            <a:pPr algn="ctr" indent="0" marL="0">
              <a:buNone/>
            </a:pPr>
            <a:r>
              <a:rPr lang="en-US" sz="820" dirty="0">
                <a:solidFill>
                  <a:srgbClr val="1F2933"/>
                </a:solidFill>
              </a:rPr>
              <a:t>0.444</a:t>
            </a:r>
            <a:endParaRPr lang="en-US" sz="820" dirty="0"/>
          </a:p>
        </p:txBody>
      </p:sp>
      <p:sp>
        <p:nvSpPr>
          <p:cNvPr id="43" name="Shape 41"/>
          <p:cNvSpPr/>
          <p:nvPr/>
        </p:nvSpPr>
        <p:spPr>
          <a:xfrm>
            <a:off x="6263640" y="4160520"/>
            <a:ext cx="5074920" cy="1737360"/>
          </a:xfrm>
          <a:prstGeom prst="roundRect">
            <a:avLst>
              <a:gd name="adj" fmla="val 3158"/>
            </a:avLst>
          </a:prstGeom>
          <a:solidFill>
            <a:srgbClr val="FFFFFF"/>
          </a:solidFill>
          <a:ln w="12700">
            <a:solidFill>
              <a:srgbClr val="D8DEE6">
                <a:alpha val="85000"/>
              </a:srgbClr>
            </a:solidFill>
            <a:prstDash val="solid"/>
          </a:ln>
        </p:spPr>
      </p:sp>
      <p:sp>
        <p:nvSpPr>
          <p:cNvPr id="44" name="Text 42"/>
          <p:cNvSpPr/>
          <p:nvPr/>
        </p:nvSpPr>
        <p:spPr>
          <a:xfrm>
            <a:off x="6373368" y="4242816"/>
            <a:ext cx="4855464" cy="164592"/>
          </a:xfrm>
          <a:prstGeom prst="rect">
            <a:avLst/>
          </a:prstGeom>
          <a:noFill/>
          <a:ln/>
        </p:spPr>
        <p:txBody>
          <a:bodyPr wrap="square" lIns="0" tIns="0" rIns="0" bIns="0" rtlCol="0" anchor="ctr"/>
          <a:lstStyle/>
          <a:p>
            <a:pPr indent="0" marL="0">
              <a:buNone/>
            </a:pPr>
            <a:r>
              <a:rPr lang="en-US" sz="1020" b="1" dirty="0">
                <a:solidFill>
                  <a:srgbClr val="12385B"/>
                </a:solidFill>
              </a:rPr>
              <a:t>SHAP summary explanation</a:t>
            </a:r>
            <a:endParaRPr lang="en-US" sz="1020" dirty="0"/>
          </a:p>
        </p:txBody>
      </p:sp>
      <p:pic>
        <p:nvPicPr>
          <p:cNvPr id="45" name="Image 0" descr="/mnt/data/key_extracted_plots/18_shap_summary.png">    </p:cNvPr>
          <p:cNvPicPr>
            <a:picLocks noChangeAspect="1"/>
          </p:cNvPicPr>
          <p:nvPr/>
        </p:nvPicPr>
        <p:blipFill>
          <a:blip r:embed="rId1"/>
          <a:stretch>
            <a:fillRect/>
          </a:stretch>
        </p:blipFill>
        <p:spPr>
          <a:xfrm>
            <a:off x="8642688" y="4462272"/>
            <a:ext cx="316824" cy="1325880"/>
          </a:xfrm>
          <a:prstGeom prst="rect">
            <a:avLst/>
          </a:prstGeom>
        </p:spPr>
      </p:pic>
      <p:sp>
        <p:nvSpPr>
          <p:cNvPr id="46" name="Text 43"/>
          <p:cNvSpPr/>
          <p:nvPr/>
        </p:nvSpPr>
        <p:spPr>
          <a:xfrm>
            <a:off x="868680" y="6080760"/>
            <a:ext cx="10424160" cy="201168"/>
          </a:xfrm>
          <a:prstGeom prst="rect">
            <a:avLst/>
          </a:prstGeom>
          <a:noFill/>
          <a:ln/>
        </p:spPr>
        <p:txBody>
          <a:bodyPr wrap="square" lIns="0" tIns="0" rIns="0" bIns="0" rtlCol="0" anchor="ctr"/>
          <a:lstStyle/>
          <a:p>
            <a:pPr algn="ctr" indent="0" marL="0">
              <a:buNone/>
            </a:pPr>
            <a:r>
              <a:rPr lang="en-US" sz="1150" b="1" dirty="0">
                <a:solidFill>
                  <a:srgbClr val="12385B"/>
                </a:solidFill>
              </a:rPr>
              <a:t>Recommended deployment: decision-support ranking tool, monitored on future campaigns, with a duration-free version for pre-call targeting.</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Politecnico di Milano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Bank Marketing Subscription Prediction</dc:title>
  <dc:subject>FinTech final project presentation</dc:subject>
  <dc:creator>OpenAI</dc:creator>
  <cp:lastModifiedBy>OpenAI</cp:lastModifiedBy>
  <cp:revision>1</cp:revision>
  <dcterms:created xsi:type="dcterms:W3CDTF">2026-05-26T14:55:20Z</dcterms:created>
  <dcterms:modified xsi:type="dcterms:W3CDTF">2026-05-26T14:55:20Z</dcterms:modified>
</cp:coreProperties>
</file>