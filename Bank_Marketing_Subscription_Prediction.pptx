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4"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90" y="11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4210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project as a supervised learning solution for a real bank marketing use case. Point out the actual dataset size and the major target imbalance shown on the right.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problem is operational: contact capacity is limited, so the bank needs a ranked list of clients. The model supports that prioritization by estimating subscription probabilities.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plots to discuss data imbalance and heterogeneity by campaign month and previous campaign outcome. Stress that because the positive class is only 11.7 percent, evaluation requires metrics beyond accuracy.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Emphasize that stratified splitting preserves the target distribution and that pipelines prevent leakage from preprocessing into validation or test evaluation.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two preprocessing pipelines differ. Logistic Regression needs standardized numerical variables; Random Forest does not. Both handle categorical variables with one-hot encoding and are wrapped in pipelines.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table to show why accuracy alone is insufficient. The baseline accuracy is high because most clients do not subscribe, but its precision, recall and F1 for the positive class are zero. Random Forest gives stronger ranking metrics than Logistic Regression.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held-out test metrics for the tuned Random Forest. The preferred model is chosen because it combines strong ranking performance with reasonable precision and recall, and it offers useful interpretability through feature importances.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thresholding as the bridge from model scores to marketing action. A lower threshold increases recall and contact volume, while a higher threshold prioritizes precision and a smaller campaign list.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feature importances were aggregated back to original variables after one-hot encoding. The Top 10 model performs similarly and even improves F1 and recall on the test set, which supports simpler deployment.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practical takeaway. The model is valuable for prioritization, but the duration variable creates leakage for pre-call targeting because it is only known after the call begins. Therefore, deployment should use a duration-free model or treat duration only as an explanatory feature.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512521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802826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7520094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2087783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718334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3091549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013311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01349712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6/1/2026</a:t>
            </a:fld>
            <a:endParaRPr lang="en-US" dirty="0"/>
          </a:p>
        </p:txBody>
      </p:sp>
    </p:spTree>
    <p:extLst>
      <p:ext uri="{BB962C8B-B14F-4D97-AF65-F5344CB8AC3E}">
        <p14:creationId xmlns:p14="http://schemas.microsoft.com/office/powerpoint/2010/main" val="37785720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77809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8605164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458490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4967430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367717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7403844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107267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885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6/1/2026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3126470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731520" y="1143000"/>
            <a:ext cx="6675120" cy="1234440"/>
          </a:xfrm>
          <a:prstGeom prst="rect">
            <a:avLst/>
          </a:prstGeom>
          <a:noFill/>
          <a:ln/>
        </p:spPr>
        <p:txBody>
          <a:bodyPr wrap="square" lIns="0" tIns="0" rIns="0" bIns="0" rtlCol="0" anchor="ctr"/>
          <a:lstStyle/>
          <a:p>
            <a:pPr marL="0" indent="0">
              <a:buNone/>
            </a:pPr>
            <a:r>
              <a:rPr lang="en-US" sz="3600" b="1" dirty="0">
                <a:solidFill>
                  <a:srgbClr val="12385B"/>
                </a:solidFill>
                <a:latin typeface="Arial" panose="020B0604020202020204" pitchFamily="34" charset="0"/>
                <a:ea typeface="Aptos Display" pitchFamily="34" charset="-122"/>
                <a:cs typeface="Arial" panose="020B0604020202020204" pitchFamily="34" charset="0"/>
              </a:rPr>
              <a:t>Bank Marketing</a:t>
            </a:r>
            <a:endParaRPr lang="en-US" sz="3600" dirty="0">
              <a:latin typeface="Arial" panose="020B0604020202020204" pitchFamily="34" charset="0"/>
              <a:cs typeface="Arial" panose="020B0604020202020204" pitchFamily="34" charset="0"/>
            </a:endParaRPr>
          </a:p>
          <a:p>
            <a:pPr marL="0" indent="0">
              <a:buNone/>
            </a:pPr>
            <a:r>
              <a:rPr lang="en-US" sz="3600" b="1" dirty="0">
                <a:solidFill>
                  <a:srgbClr val="12385B"/>
                </a:solidFill>
                <a:latin typeface="Arial" panose="020B0604020202020204" pitchFamily="34" charset="0"/>
                <a:ea typeface="Aptos Display" pitchFamily="34" charset="-122"/>
                <a:cs typeface="Arial" panose="020B0604020202020204" pitchFamily="34" charset="0"/>
              </a:rPr>
              <a:t>Subscription </a:t>
            </a:r>
            <a:r>
              <a:rPr lang="en-US" sz="3200" b="1" dirty="0">
                <a:solidFill>
                  <a:srgbClr val="12385B"/>
                </a:solidFill>
                <a:latin typeface="Arial" panose="020B0604020202020204" pitchFamily="34" charset="0"/>
                <a:ea typeface="Aptos Display" pitchFamily="34" charset="-122"/>
                <a:cs typeface="Arial" panose="020B0604020202020204" pitchFamily="34" charset="0"/>
              </a:rPr>
              <a:t>Prediction</a:t>
            </a:r>
            <a:endParaRPr lang="en-US" sz="3600" dirty="0">
              <a:latin typeface="Arial" panose="020B0604020202020204" pitchFamily="34" charset="0"/>
              <a:cs typeface="Arial" panose="020B0604020202020204" pitchFamily="34" charset="0"/>
            </a:endParaRPr>
          </a:p>
        </p:txBody>
      </p:sp>
      <p:sp>
        <p:nvSpPr>
          <p:cNvPr id="5" name="Shape 3"/>
          <p:cNvSpPr/>
          <p:nvPr/>
        </p:nvSpPr>
        <p:spPr>
          <a:xfrm>
            <a:off x="749808" y="2788920"/>
            <a:ext cx="1920240" cy="0"/>
          </a:xfrm>
          <a:prstGeom prst="line">
            <a:avLst/>
          </a:prstGeom>
          <a:noFill/>
          <a:ln w="50800">
            <a:solidFill>
              <a:srgbClr val="149C7E"/>
            </a:solidFill>
            <a:prstDash val="solid"/>
          </a:ln>
        </p:spPr>
        <p:txBody>
          <a:bodyPr/>
          <a:lstStyle/>
          <a:p>
            <a:endParaRPr lang="en-GB">
              <a:latin typeface="Arial" panose="020B0604020202020204" pitchFamily="34" charset="0"/>
              <a:cs typeface="Arial" panose="020B0604020202020204" pitchFamily="34" charset="0"/>
            </a:endParaRPr>
          </a:p>
        </p:txBody>
      </p:sp>
      <p:sp>
        <p:nvSpPr>
          <p:cNvPr id="6" name="Text 4"/>
          <p:cNvSpPr/>
          <p:nvPr/>
        </p:nvSpPr>
        <p:spPr>
          <a:xfrm>
            <a:off x="749808" y="3063240"/>
            <a:ext cx="6309360" cy="274320"/>
          </a:xfrm>
          <a:prstGeom prst="rect">
            <a:avLst/>
          </a:prstGeom>
          <a:noFill/>
          <a:ln/>
        </p:spPr>
        <p:txBody>
          <a:bodyPr wrap="square" lIns="0" tIns="0" rIns="0" bIns="0" rtlCol="0" anchor="ctr"/>
          <a:lstStyle/>
          <a:p>
            <a:pPr marL="0" indent="0">
              <a:buNone/>
            </a:pPr>
            <a:r>
              <a:rPr lang="en-US" sz="1600" dirty="0">
                <a:solidFill>
                  <a:srgbClr val="5B6770"/>
                </a:solidFill>
                <a:latin typeface="Arial" panose="020B0604020202020204" pitchFamily="34" charset="0"/>
                <a:cs typeface="Arial" panose="020B0604020202020204" pitchFamily="34" charset="0"/>
              </a:rPr>
              <a:t>FinTech final project  </a:t>
            </a:r>
          </a:p>
          <a:p>
            <a:pPr marL="0" indent="0">
              <a:buNone/>
            </a:pPr>
            <a:r>
              <a:rPr lang="en-US" sz="1600" dirty="0">
                <a:solidFill>
                  <a:srgbClr val="5B6770"/>
                </a:solidFill>
                <a:latin typeface="Arial" panose="020B0604020202020204" pitchFamily="34" charset="0"/>
                <a:cs typeface="Arial" panose="020B0604020202020204" pitchFamily="34" charset="0"/>
              </a:rPr>
              <a:t>Portuguese bank direct marketing dataset</a:t>
            </a:r>
            <a:endParaRPr lang="en-US" sz="1600" dirty="0">
              <a:latin typeface="Arial" panose="020B0604020202020204" pitchFamily="34" charset="0"/>
              <a:cs typeface="Arial" panose="020B0604020202020204" pitchFamily="34" charset="0"/>
            </a:endParaRPr>
          </a:p>
        </p:txBody>
      </p:sp>
      <p:sp>
        <p:nvSpPr>
          <p:cNvPr id="7" name="Text 5"/>
          <p:cNvSpPr/>
          <p:nvPr/>
        </p:nvSpPr>
        <p:spPr>
          <a:xfrm>
            <a:off x="749808" y="5102352"/>
            <a:ext cx="3840480" cy="228600"/>
          </a:xfrm>
          <a:prstGeom prst="rect">
            <a:avLst/>
          </a:prstGeom>
          <a:noFill/>
          <a:ln/>
        </p:spPr>
        <p:txBody>
          <a:bodyPr wrap="square" lIns="0" tIns="0" rIns="0" bIns="0" rtlCol="0" anchor="ctr"/>
          <a:lstStyle/>
          <a:p>
            <a:pPr marL="0" indent="0">
              <a:buNone/>
            </a:pPr>
            <a:r>
              <a:rPr lang="en-US" sz="1500" b="1" dirty="0">
                <a:solidFill>
                  <a:srgbClr val="1F2933"/>
                </a:solidFill>
                <a:latin typeface="Arial" panose="020B0604020202020204" pitchFamily="34" charset="0"/>
                <a:cs typeface="Arial" panose="020B0604020202020204" pitchFamily="34" charset="0"/>
              </a:rPr>
              <a:t>Salvatore Mariano Librici</a:t>
            </a:r>
            <a:endParaRPr lang="en-US" sz="1500" dirty="0">
              <a:latin typeface="Arial" panose="020B0604020202020204" pitchFamily="34" charset="0"/>
              <a:cs typeface="Arial" panose="020B0604020202020204" pitchFamily="34" charset="0"/>
            </a:endParaRPr>
          </a:p>
        </p:txBody>
      </p:sp>
      <p:sp>
        <p:nvSpPr>
          <p:cNvPr id="8" name="Text 6"/>
          <p:cNvSpPr/>
          <p:nvPr/>
        </p:nvSpPr>
        <p:spPr>
          <a:xfrm>
            <a:off x="749808" y="5422392"/>
            <a:ext cx="3840480" cy="201168"/>
          </a:xfrm>
          <a:prstGeom prst="rect">
            <a:avLst/>
          </a:prstGeom>
          <a:noFill/>
          <a:ln/>
        </p:spPr>
        <p:txBody>
          <a:bodyPr wrap="square" lIns="0" tIns="0" rIns="0" bIns="0" rtlCol="0" anchor="ctr"/>
          <a:lstStyle/>
          <a:p>
            <a:pPr marL="0" indent="0">
              <a:buNone/>
            </a:pPr>
            <a:r>
              <a:rPr lang="en-US" sz="1150" dirty="0">
                <a:solidFill>
                  <a:srgbClr val="5B6770"/>
                </a:solidFill>
                <a:latin typeface="Arial" panose="020B0604020202020204" pitchFamily="34" charset="0"/>
                <a:cs typeface="Arial" panose="020B0604020202020204" pitchFamily="34" charset="0"/>
              </a:rPr>
              <a:t>FinTech — Politecnico di Milano</a:t>
            </a:r>
            <a:endParaRPr lang="en-US" sz="1150" dirty="0">
              <a:latin typeface="Arial" panose="020B0604020202020204" pitchFamily="34" charset="0"/>
              <a:cs typeface="Arial" panose="020B0604020202020204" pitchFamily="34" charset="0"/>
            </a:endParaRPr>
          </a:p>
        </p:txBody>
      </p:sp>
      <p:sp>
        <p:nvSpPr>
          <p:cNvPr id="9" name="Shape 7"/>
          <p:cNvSpPr/>
          <p:nvPr/>
        </p:nvSpPr>
        <p:spPr>
          <a:xfrm>
            <a:off x="6022848" y="756364"/>
            <a:ext cx="3246120" cy="2423160"/>
          </a:xfrm>
          <a:prstGeom prst="roundRect">
            <a:avLst>
              <a:gd name="adj" fmla="val 2264"/>
            </a:avLst>
          </a:prstGeom>
          <a:solidFill>
            <a:srgbClr val="FFFFFF"/>
          </a:solidFill>
          <a:ln w="12700">
            <a:solidFill>
              <a:srgbClr val="D8DEE6">
                <a:alpha val="85000"/>
              </a:srgbClr>
            </a:solidFill>
            <a:prstDash val="solid"/>
          </a:ln>
        </p:spPr>
        <p:txBody>
          <a:bodyPr/>
          <a:lstStyle/>
          <a:p>
            <a:endParaRPr lang="en-GB"/>
          </a:p>
        </p:txBody>
      </p:sp>
      <p:sp>
        <p:nvSpPr>
          <p:cNvPr id="10" name="Text 8"/>
          <p:cNvSpPr/>
          <p:nvPr/>
        </p:nvSpPr>
        <p:spPr>
          <a:xfrm>
            <a:off x="6132576" y="838660"/>
            <a:ext cx="3026664" cy="164592"/>
          </a:xfrm>
          <a:prstGeom prst="rect">
            <a:avLst/>
          </a:prstGeom>
          <a:noFill/>
          <a:ln/>
        </p:spPr>
        <p:txBody>
          <a:bodyPr wrap="square" lIns="0" tIns="0" rIns="0" bIns="0" rtlCol="0" anchor="ctr"/>
          <a:lstStyle/>
          <a:p>
            <a:pPr marL="0" indent="0">
              <a:buNone/>
            </a:pPr>
            <a:r>
              <a:rPr lang="en-US" sz="1020" b="1" dirty="0">
                <a:solidFill>
                  <a:srgbClr val="12385B"/>
                </a:solidFill>
                <a:latin typeface="Arial" panose="020B0604020202020204" pitchFamily="34" charset="0"/>
                <a:cs typeface="Arial" panose="020B0604020202020204" pitchFamily="34" charset="0"/>
              </a:rPr>
              <a:t>Real target imbalance</a:t>
            </a:r>
            <a:endParaRPr lang="en-US" sz="1020" dirty="0">
              <a:latin typeface="Arial" panose="020B0604020202020204" pitchFamily="34" charset="0"/>
              <a:cs typeface="Arial" panose="020B0604020202020204" pitchFamily="34" charset="0"/>
            </a:endParaRPr>
          </a:p>
        </p:txBody>
      </p:sp>
      <p:pic>
        <p:nvPicPr>
          <p:cNvPr id="11" name="Image 0" descr="/mnt/data/key_extracted_plots/02_target_distribution_count.png"/>
          <p:cNvPicPr>
            <a:picLocks noChangeAspect="1"/>
          </p:cNvPicPr>
          <p:nvPr/>
        </p:nvPicPr>
        <p:blipFill>
          <a:blip r:embed="rId3"/>
          <a:stretch>
            <a:fillRect/>
          </a:stretch>
        </p:blipFill>
        <p:spPr>
          <a:xfrm>
            <a:off x="6290119" y="1058116"/>
            <a:ext cx="2711577" cy="2011680"/>
          </a:xfrm>
          <a:prstGeom prst="rect">
            <a:avLst/>
          </a:prstGeom>
        </p:spPr>
      </p:pic>
      <p:sp>
        <p:nvSpPr>
          <p:cNvPr id="12" name="Shape 9"/>
          <p:cNvSpPr/>
          <p:nvPr/>
        </p:nvSpPr>
        <p:spPr>
          <a:xfrm>
            <a:off x="6022848" y="3521303"/>
            <a:ext cx="150876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rial" panose="020B0604020202020204" pitchFamily="34" charset="0"/>
              <a:cs typeface="Arial" panose="020B0604020202020204" pitchFamily="34" charset="0"/>
            </a:endParaRPr>
          </a:p>
        </p:txBody>
      </p:sp>
      <p:sp>
        <p:nvSpPr>
          <p:cNvPr id="13" name="Shape 10"/>
          <p:cNvSpPr/>
          <p:nvPr/>
        </p:nvSpPr>
        <p:spPr>
          <a:xfrm>
            <a:off x="6022848" y="3521303"/>
            <a:ext cx="54864" cy="777240"/>
          </a:xfrm>
          <a:prstGeom prst="rect">
            <a:avLst/>
          </a:prstGeom>
          <a:solidFill>
            <a:srgbClr val="1F77B4"/>
          </a:solidFill>
          <a:ln w="12700">
            <a:solidFill>
              <a:srgbClr val="1F77B4"/>
            </a:solidFill>
            <a:prstDash val="solid"/>
          </a:ln>
        </p:spPr>
        <p:txBody>
          <a:bodyPr/>
          <a:lstStyle/>
          <a:p>
            <a:endParaRPr lang="en-GB">
              <a:latin typeface="Arial" panose="020B0604020202020204" pitchFamily="34" charset="0"/>
              <a:cs typeface="Arial" panose="020B0604020202020204" pitchFamily="34" charset="0"/>
            </a:endParaRPr>
          </a:p>
        </p:txBody>
      </p:sp>
      <p:sp>
        <p:nvSpPr>
          <p:cNvPr id="14" name="Text 11"/>
          <p:cNvSpPr/>
          <p:nvPr/>
        </p:nvSpPr>
        <p:spPr>
          <a:xfrm>
            <a:off x="6169152" y="3649319"/>
            <a:ext cx="1307592" cy="256032"/>
          </a:xfrm>
          <a:prstGeom prst="rect">
            <a:avLst/>
          </a:prstGeom>
          <a:noFill/>
          <a:ln/>
        </p:spPr>
        <p:txBody>
          <a:bodyPr wrap="square" lIns="0" tIns="0" rIns="0" bIns="0" rtlCol="0" anchor="ctr"/>
          <a:lstStyle/>
          <a:p>
            <a:pPr marL="0" indent="0" algn="ctr">
              <a:buNone/>
            </a:pPr>
            <a:r>
              <a:rPr lang="en-US" sz="1800" b="1" dirty="0">
                <a:solidFill>
                  <a:srgbClr val="1F77B4"/>
                </a:solidFill>
                <a:latin typeface="Arial" panose="020B0604020202020204" pitchFamily="34" charset="0"/>
                <a:cs typeface="Arial" panose="020B0604020202020204" pitchFamily="34" charset="0"/>
              </a:rPr>
              <a:t>45,211</a:t>
            </a:r>
            <a:endParaRPr lang="en-US" sz="1800" dirty="0">
              <a:latin typeface="Arial" panose="020B0604020202020204" pitchFamily="34" charset="0"/>
              <a:cs typeface="Arial" panose="020B0604020202020204" pitchFamily="34" charset="0"/>
            </a:endParaRPr>
          </a:p>
        </p:txBody>
      </p:sp>
      <p:sp>
        <p:nvSpPr>
          <p:cNvPr id="15" name="Text 12"/>
          <p:cNvSpPr/>
          <p:nvPr/>
        </p:nvSpPr>
        <p:spPr>
          <a:xfrm>
            <a:off x="6132576" y="3960215"/>
            <a:ext cx="132588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rial" panose="020B0604020202020204" pitchFamily="34" charset="0"/>
                <a:cs typeface="Arial" panose="020B0604020202020204" pitchFamily="34" charset="0"/>
              </a:rPr>
              <a:t>Clients contacted</a:t>
            </a:r>
            <a:endParaRPr lang="en-US" sz="850" dirty="0">
              <a:latin typeface="Arial" panose="020B0604020202020204" pitchFamily="34" charset="0"/>
              <a:cs typeface="Arial" panose="020B0604020202020204" pitchFamily="34" charset="0"/>
            </a:endParaRPr>
          </a:p>
        </p:txBody>
      </p:sp>
      <p:sp>
        <p:nvSpPr>
          <p:cNvPr id="16" name="Shape 13"/>
          <p:cNvSpPr/>
          <p:nvPr/>
        </p:nvSpPr>
        <p:spPr>
          <a:xfrm>
            <a:off x="7760208" y="3521303"/>
            <a:ext cx="150876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rial" panose="020B0604020202020204" pitchFamily="34" charset="0"/>
              <a:cs typeface="Arial" panose="020B0604020202020204" pitchFamily="34" charset="0"/>
            </a:endParaRPr>
          </a:p>
        </p:txBody>
      </p:sp>
      <p:sp>
        <p:nvSpPr>
          <p:cNvPr id="17" name="Shape 14"/>
          <p:cNvSpPr/>
          <p:nvPr/>
        </p:nvSpPr>
        <p:spPr>
          <a:xfrm>
            <a:off x="7760208" y="3521303"/>
            <a:ext cx="54864" cy="777240"/>
          </a:xfrm>
          <a:prstGeom prst="rect">
            <a:avLst/>
          </a:prstGeom>
          <a:solidFill>
            <a:srgbClr val="149C7E"/>
          </a:solidFill>
          <a:ln w="12700">
            <a:solidFill>
              <a:srgbClr val="149C7E"/>
            </a:solidFill>
            <a:prstDash val="solid"/>
          </a:ln>
        </p:spPr>
        <p:txBody>
          <a:bodyPr/>
          <a:lstStyle/>
          <a:p>
            <a:endParaRPr lang="en-GB">
              <a:latin typeface="Arial" panose="020B0604020202020204" pitchFamily="34" charset="0"/>
              <a:cs typeface="Arial" panose="020B0604020202020204" pitchFamily="34" charset="0"/>
            </a:endParaRPr>
          </a:p>
        </p:txBody>
      </p:sp>
      <p:sp>
        <p:nvSpPr>
          <p:cNvPr id="18" name="Text 15"/>
          <p:cNvSpPr/>
          <p:nvPr/>
        </p:nvSpPr>
        <p:spPr>
          <a:xfrm>
            <a:off x="7906512" y="3649319"/>
            <a:ext cx="1307592" cy="256032"/>
          </a:xfrm>
          <a:prstGeom prst="rect">
            <a:avLst/>
          </a:prstGeom>
          <a:noFill/>
          <a:ln/>
        </p:spPr>
        <p:txBody>
          <a:bodyPr wrap="square" lIns="0" tIns="0" rIns="0" bIns="0" rtlCol="0" anchor="ctr"/>
          <a:lstStyle/>
          <a:p>
            <a:pPr marL="0" indent="0" algn="ctr">
              <a:buNone/>
            </a:pPr>
            <a:r>
              <a:rPr lang="en-US" sz="1800" b="1" dirty="0">
                <a:solidFill>
                  <a:srgbClr val="149C7E"/>
                </a:solidFill>
                <a:latin typeface="Arial" panose="020B0604020202020204" pitchFamily="34" charset="0"/>
                <a:cs typeface="Arial" panose="020B0604020202020204" pitchFamily="34" charset="0"/>
              </a:rPr>
              <a:t>11.7%</a:t>
            </a:r>
            <a:endParaRPr lang="en-US" sz="1800" dirty="0">
              <a:latin typeface="Arial" panose="020B0604020202020204" pitchFamily="34" charset="0"/>
              <a:cs typeface="Arial" panose="020B0604020202020204" pitchFamily="34" charset="0"/>
            </a:endParaRPr>
          </a:p>
        </p:txBody>
      </p:sp>
      <p:sp>
        <p:nvSpPr>
          <p:cNvPr id="19" name="Text 16"/>
          <p:cNvSpPr/>
          <p:nvPr/>
        </p:nvSpPr>
        <p:spPr>
          <a:xfrm>
            <a:off x="7869936" y="3960215"/>
            <a:ext cx="132588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rial" panose="020B0604020202020204" pitchFamily="34" charset="0"/>
                <a:cs typeface="Arial" panose="020B0604020202020204" pitchFamily="34" charset="0"/>
              </a:rPr>
              <a:t>Positive class</a:t>
            </a:r>
            <a:endParaRPr lang="en-US" sz="850" dirty="0">
              <a:latin typeface="Arial" panose="020B0604020202020204" pitchFamily="34" charset="0"/>
              <a:cs typeface="Arial" panose="020B0604020202020204" pitchFamily="34" charset="0"/>
            </a:endParaRPr>
          </a:p>
        </p:txBody>
      </p:sp>
      <p:sp>
        <p:nvSpPr>
          <p:cNvPr id="20" name="Text 17"/>
          <p:cNvSpPr/>
          <p:nvPr/>
        </p:nvSpPr>
        <p:spPr>
          <a:xfrm>
            <a:off x="6022848" y="4710023"/>
            <a:ext cx="3200400" cy="502920"/>
          </a:xfrm>
          <a:prstGeom prst="rect">
            <a:avLst/>
          </a:prstGeom>
          <a:noFill/>
          <a:ln/>
        </p:spPr>
        <p:txBody>
          <a:bodyPr wrap="square" lIns="0" tIns="0" rIns="0" bIns="0" rtlCol="0" anchor="ctr">
            <a:normAutofit fontScale="92500" lnSpcReduction="10000"/>
          </a:bodyPr>
          <a:lstStyle/>
          <a:p>
            <a:pPr marL="0" indent="0" algn="ctr">
              <a:buNone/>
            </a:pPr>
            <a:r>
              <a:rPr lang="en-US" sz="1300" b="1" dirty="0">
                <a:solidFill>
                  <a:srgbClr val="12385B"/>
                </a:solidFill>
                <a:latin typeface="Arial" panose="020B0604020202020204" pitchFamily="34" charset="0"/>
                <a:cs typeface="Arial" panose="020B0604020202020204" pitchFamily="34" charset="0"/>
              </a:rPr>
              <a:t>From historical campaign outcomes to a client ranking for smarter marketing contacts</a:t>
            </a:r>
            <a:endParaRPr lang="en-US" sz="13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9C7E"/>
          </a:solidFill>
          <a:ln w="12700">
            <a:solidFill>
              <a:srgbClr val="149C7E"/>
            </a:solidFill>
            <a:prstDash val="solid"/>
          </a:ln>
        </p:spPr>
        <p:txBody>
          <a:bodyPr/>
          <a:lstStyle/>
          <a:p>
            <a:endParaRPr lang="en-GB"/>
          </a:p>
        </p:txBody>
      </p:sp>
      <p:sp>
        <p:nvSpPr>
          <p:cNvPr id="3" name="Text 1"/>
          <p:cNvSpPr/>
          <p:nvPr/>
        </p:nvSpPr>
        <p:spPr>
          <a:xfrm>
            <a:off x="502920" y="310896"/>
            <a:ext cx="8138160" cy="384048"/>
          </a:xfrm>
          <a:prstGeom prst="rect">
            <a:avLst/>
          </a:prstGeom>
          <a:noFill/>
          <a:ln/>
        </p:spPr>
        <p:txBody>
          <a:bodyPr wrap="square" lIns="0" tIns="0" rIns="0" bIns="0" rtlCol="0" anchor="ctr"/>
          <a:lstStyle/>
          <a:p>
            <a:pPr marL="0" indent="0">
              <a:buNone/>
            </a:pPr>
            <a:r>
              <a:rPr lang="en-US" sz="2600" b="1" dirty="0">
                <a:solidFill>
                  <a:srgbClr val="12385B"/>
                </a:solidFill>
                <a:latin typeface="Aptos" panose="020B0004020202020204" pitchFamily="34" charset="0"/>
                <a:ea typeface="Aptos Display" pitchFamily="34" charset="-122"/>
                <a:cs typeface="Aptos Display" pitchFamily="34" charset="-120"/>
              </a:rPr>
              <a:t>Business Problem</a:t>
            </a:r>
            <a:endParaRPr lang="en-US" sz="2600" dirty="0">
              <a:latin typeface="Aptos" panose="020B0004020202020204" pitchFamily="34" charset="0"/>
            </a:endParaRPr>
          </a:p>
        </p:txBody>
      </p:sp>
      <p:sp>
        <p:nvSpPr>
          <p:cNvPr id="4" name="Text 2"/>
          <p:cNvSpPr/>
          <p:nvPr/>
        </p:nvSpPr>
        <p:spPr>
          <a:xfrm>
            <a:off x="521208" y="749808"/>
            <a:ext cx="10789920" cy="237744"/>
          </a:xfrm>
          <a:prstGeom prst="rect">
            <a:avLst/>
          </a:prstGeom>
          <a:noFill/>
          <a:ln/>
        </p:spPr>
        <p:txBody>
          <a:bodyPr wrap="square" lIns="0" tIns="0" rIns="0" bIns="0" rtlCol="0" anchor="ctr"/>
          <a:lstStyle/>
          <a:p>
            <a:pPr marL="0" indent="0">
              <a:buNone/>
            </a:pPr>
            <a:r>
              <a:rPr lang="en-US" sz="1050" dirty="0">
                <a:solidFill>
                  <a:srgbClr val="5B6770"/>
                </a:solidFill>
                <a:latin typeface="Aptos" panose="020B0004020202020204" pitchFamily="34" charset="0"/>
              </a:rPr>
              <a:t>Predict which clients will subscribe to a term deposit and prioritize marketing resources.</a:t>
            </a:r>
            <a:endParaRPr lang="en-US" sz="1050" dirty="0">
              <a:latin typeface="Aptos" panose="020B0004020202020204" pitchFamily="34" charset="0"/>
            </a:endParaRPr>
          </a:p>
        </p:txBody>
      </p:sp>
      <p:sp>
        <p:nvSpPr>
          <p:cNvPr id="5" name="Text 3"/>
          <p:cNvSpPr/>
          <p:nvPr/>
        </p:nvSpPr>
        <p:spPr>
          <a:xfrm>
            <a:off x="502920" y="6483096"/>
            <a:ext cx="4572000" cy="164592"/>
          </a:xfrm>
          <a:prstGeom prst="rect">
            <a:avLst/>
          </a:prstGeom>
          <a:noFill/>
          <a:ln/>
        </p:spPr>
        <p:txBody>
          <a:bodyPr wrap="square" lIns="0" tIns="0" rIns="0" bIns="0" rtlCol="0" anchor="ctr"/>
          <a:lstStyle/>
          <a:p>
            <a:pPr marL="0" indent="0">
              <a:buNone/>
            </a:pPr>
            <a:r>
              <a:rPr lang="en-US" sz="800" dirty="0">
                <a:solidFill>
                  <a:srgbClr val="7B8794"/>
                </a:solidFill>
              </a:rPr>
              <a:t>Bank Marketing Subscription Prediction</a:t>
            </a:r>
            <a:endParaRPr lang="en-US" sz="800" dirty="0"/>
          </a:p>
        </p:txBody>
      </p:sp>
      <p:sp>
        <p:nvSpPr>
          <p:cNvPr id="6" name="Text 4"/>
          <p:cNvSpPr/>
          <p:nvPr/>
        </p:nvSpPr>
        <p:spPr>
          <a:xfrm>
            <a:off x="11384280" y="6464808"/>
            <a:ext cx="320040" cy="164592"/>
          </a:xfrm>
          <a:prstGeom prst="rect">
            <a:avLst/>
          </a:prstGeom>
          <a:noFill/>
          <a:ln/>
        </p:spPr>
        <p:txBody>
          <a:bodyPr wrap="square" lIns="0" tIns="0" rIns="0" bIns="0" rtlCol="0" anchor="ctr"/>
          <a:lstStyle/>
          <a:p>
            <a:pPr marL="0" indent="0" algn="r">
              <a:buNone/>
            </a:pPr>
            <a:r>
              <a:rPr lang="en-US" sz="800" dirty="0">
                <a:solidFill>
                  <a:srgbClr val="7B8794"/>
                </a:solidFill>
              </a:rPr>
              <a:t>02</a:t>
            </a:r>
            <a:endParaRPr lang="en-US" sz="800" dirty="0"/>
          </a:p>
        </p:txBody>
      </p:sp>
      <p:sp>
        <p:nvSpPr>
          <p:cNvPr id="7" name="Text 5"/>
          <p:cNvSpPr/>
          <p:nvPr/>
        </p:nvSpPr>
        <p:spPr>
          <a:xfrm>
            <a:off x="640080" y="1426464"/>
            <a:ext cx="2926080" cy="228600"/>
          </a:xfrm>
          <a:prstGeom prst="rect">
            <a:avLst/>
          </a:prstGeom>
          <a:noFill/>
          <a:ln/>
        </p:spPr>
        <p:txBody>
          <a:bodyPr wrap="square" lIns="0" tIns="0" rIns="0" bIns="0" rtlCol="0" anchor="ctr"/>
          <a:lstStyle/>
          <a:p>
            <a:pPr marL="0" indent="0">
              <a:buNone/>
            </a:pPr>
            <a:r>
              <a:rPr lang="en-US" sz="1400" b="1" dirty="0">
                <a:solidFill>
                  <a:srgbClr val="12385B"/>
                </a:solidFill>
                <a:latin typeface="Aptos" panose="020B0004020202020204" pitchFamily="34" charset="0"/>
              </a:rPr>
              <a:t>Core decision question</a:t>
            </a:r>
            <a:endParaRPr lang="en-US" sz="1400" dirty="0">
              <a:latin typeface="Aptos" panose="020B0004020202020204" pitchFamily="34" charset="0"/>
            </a:endParaRPr>
          </a:p>
        </p:txBody>
      </p:sp>
      <p:sp>
        <p:nvSpPr>
          <p:cNvPr id="8" name="Text 6"/>
          <p:cNvSpPr/>
          <p:nvPr/>
        </p:nvSpPr>
        <p:spPr>
          <a:xfrm>
            <a:off x="640079" y="1600200"/>
            <a:ext cx="5234509" cy="502920"/>
          </a:xfrm>
          <a:prstGeom prst="rect">
            <a:avLst/>
          </a:prstGeom>
          <a:noFill/>
          <a:ln/>
        </p:spPr>
        <p:txBody>
          <a:bodyPr wrap="square" lIns="0" tIns="0" rIns="0" bIns="0" rtlCol="0" anchor="ctr">
            <a:normAutofit fontScale="92500"/>
          </a:bodyPr>
          <a:lstStyle/>
          <a:p>
            <a:pPr marL="0" indent="0">
              <a:buNone/>
            </a:pPr>
            <a:r>
              <a:rPr lang="en-US" sz="2200" b="1" dirty="0">
                <a:solidFill>
                  <a:srgbClr val="12385B"/>
                </a:solidFill>
                <a:latin typeface="Aptos" panose="020B0004020202020204" pitchFamily="34" charset="0"/>
              </a:rPr>
              <a:t>Which clients should the bank contact first?</a:t>
            </a:r>
            <a:endParaRPr lang="en-US" sz="2200" dirty="0">
              <a:latin typeface="Aptos" panose="020B0004020202020204" pitchFamily="34" charset="0"/>
            </a:endParaRPr>
          </a:p>
        </p:txBody>
      </p:sp>
      <p:sp>
        <p:nvSpPr>
          <p:cNvPr id="9" name="Text 7"/>
          <p:cNvSpPr/>
          <p:nvPr/>
        </p:nvSpPr>
        <p:spPr>
          <a:xfrm>
            <a:off x="685800" y="2331720"/>
            <a:ext cx="4297680" cy="1234440"/>
          </a:xfrm>
          <a:prstGeom prst="rect">
            <a:avLst/>
          </a:prstGeom>
          <a:noFill/>
          <a:ln/>
        </p:spPr>
        <p:txBody>
          <a:bodyPr wrap="square" lIns="254" tIns="254" rIns="254" bIns="254" rtlCol="0" anchor="t">
            <a:normAutofit/>
          </a:bodyPr>
          <a:lstStyle/>
          <a:p>
            <a:pPr marL="0" indent="0">
              <a:buNone/>
            </a:pPr>
            <a:r>
              <a:rPr lang="en-US" sz="1300" dirty="0">
                <a:solidFill>
                  <a:srgbClr val="1F2933"/>
                </a:solidFill>
                <a:latin typeface="Aptos" panose="020B0004020202020204" pitchFamily="34" charset="0"/>
              </a:rPr>
              <a:t>• Each phone call has cost and capacity limits</a:t>
            </a:r>
            <a:endParaRPr lang="en-US" sz="1300" dirty="0">
              <a:latin typeface="Aptos" panose="020B0004020202020204" pitchFamily="34" charset="0"/>
            </a:endParaRPr>
          </a:p>
          <a:p>
            <a:pPr marL="0" indent="0">
              <a:buNone/>
            </a:pPr>
            <a:r>
              <a:rPr lang="en-US" sz="1300" dirty="0">
                <a:solidFill>
                  <a:srgbClr val="1F2933"/>
                </a:solidFill>
                <a:latin typeface="Aptos" panose="020B0004020202020204" pitchFamily="34" charset="0"/>
              </a:rPr>
              <a:t>• Most clients do not subscribe</a:t>
            </a:r>
            <a:endParaRPr lang="en-US" sz="1300" dirty="0">
              <a:latin typeface="Aptos" panose="020B0004020202020204" pitchFamily="34" charset="0"/>
            </a:endParaRPr>
          </a:p>
          <a:p>
            <a:pPr marL="0" indent="0">
              <a:buNone/>
            </a:pPr>
            <a:r>
              <a:rPr lang="en-US" sz="1300" dirty="0">
                <a:solidFill>
                  <a:srgbClr val="1F2933"/>
                </a:solidFill>
                <a:latin typeface="Aptos" panose="020B0004020202020204" pitchFamily="34" charset="0"/>
              </a:rPr>
              <a:t>• The useful output is a probability ranking, not only a yes/no label</a:t>
            </a:r>
            <a:endParaRPr lang="en-US" sz="1300" dirty="0">
              <a:latin typeface="Aptos" panose="020B0004020202020204" pitchFamily="34" charset="0"/>
            </a:endParaRPr>
          </a:p>
        </p:txBody>
      </p:sp>
      <p:sp>
        <p:nvSpPr>
          <p:cNvPr id="10" name="Shape 8"/>
          <p:cNvSpPr/>
          <p:nvPr/>
        </p:nvSpPr>
        <p:spPr>
          <a:xfrm>
            <a:off x="5257800" y="2057400"/>
            <a:ext cx="914400" cy="502920"/>
          </a:xfrm>
          <a:prstGeom prst="rightArrow">
            <a:avLst/>
          </a:prstGeom>
          <a:solidFill>
            <a:srgbClr val="149C7E"/>
          </a:solidFill>
          <a:ln w="12700">
            <a:solidFill>
              <a:srgbClr val="149C7E"/>
            </a:solidFill>
            <a:prstDash val="solid"/>
          </a:ln>
        </p:spPr>
        <p:txBody>
          <a:bodyPr/>
          <a:lstStyle/>
          <a:p>
            <a:endParaRPr lang="en-GB">
              <a:latin typeface="Aptos" panose="020B0004020202020204" pitchFamily="34" charset="0"/>
            </a:endParaRPr>
          </a:p>
        </p:txBody>
      </p:sp>
      <p:sp>
        <p:nvSpPr>
          <p:cNvPr id="11" name="Shape 9"/>
          <p:cNvSpPr/>
          <p:nvPr/>
        </p:nvSpPr>
        <p:spPr>
          <a:xfrm>
            <a:off x="6492240" y="1257300"/>
            <a:ext cx="4617720" cy="2148840"/>
          </a:xfrm>
          <a:prstGeom prst="roundRect">
            <a:avLst>
              <a:gd name="adj" fmla="val 2581"/>
            </a:avLst>
          </a:prstGeom>
          <a:solidFill>
            <a:srgbClr val="EAF3FA"/>
          </a:solidFill>
          <a:ln w="12700">
            <a:solidFill>
              <a:srgbClr val="D8DEE6">
                <a:alpha val="70000"/>
              </a:srgbClr>
            </a:solidFill>
            <a:prstDash val="solid"/>
          </a:ln>
        </p:spPr>
        <p:txBody>
          <a:bodyPr/>
          <a:lstStyle/>
          <a:p>
            <a:endParaRPr lang="en-GB">
              <a:latin typeface="Aptos" panose="020B0004020202020204" pitchFamily="34" charset="0"/>
            </a:endParaRPr>
          </a:p>
        </p:txBody>
      </p:sp>
      <p:sp>
        <p:nvSpPr>
          <p:cNvPr id="12" name="Text 10"/>
          <p:cNvSpPr/>
          <p:nvPr/>
        </p:nvSpPr>
        <p:spPr>
          <a:xfrm>
            <a:off x="6812280" y="1645920"/>
            <a:ext cx="2194560" cy="228600"/>
          </a:xfrm>
          <a:prstGeom prst="rect">
            <a:avLst/>
          </a:prstGeom>
          <a:noFill/>
          <a:ln/>
        </p:spPr>
        <p:txBody>
          <a:bodyPr wrap="square" lIns="0" tIns="0" rIns="0" bIns="0" rtlCol="0" anchor="ctr"/>
          <a:lstStyle/>
          <a:p>
            <a:pPr marL="0" indent="0">
              <a:buNone/>
            </a:pPr>
            <a:r>
              <a:rPr lang="en-US" sz="1400" b="1" dirty="0">
                <a:solidFill>
                  <a:srgbClr val="12385B"/>
                </a:solidFill>
                <a:latin typeface="Aptos" panose="020B0004020202020204" pitchFamily="34" charset="0"/>
              </a:rPr>
              <a:t>Business value</a:t>
            </a:r>
            <a:endParaRPr lang="en-US" sz="1400" dirty="0">
              <a:latin typeface="Aptos" panose="020B0004020202020204" pitchFamily="34" charset="0"/>
            </a:endParaRPr>
          </a:p>
        </p:txBody>
      </p:sp>
      <p:sp>
        <p:nvSpPr>
          <p:cNvPr id="13" name="Text 11"/>
          <p:cNvSpPr/>
          <p:nvPr/>
        </p:nvSpPr>
        <p:spPr>
          <a:xfrm>
            <a:off x="6858000" y="2057400"/>
            <a:ext cx="4160520" cy="1371600"/>
          </a:xfrm>
          <a:prstGeom prst="rect">
            <a:avLst/>
          </a:prstGeom>
          <a:noFill/>
          <a:ln/>
        </p:spPr>
        <p:txBody>
          <a:bodyPr wrap="square" lIns="254" tIns="254" rIns="254" bIns="254" rtlCol="0" anchor="t">
            <a:normAutofit/>
          </a:bodyPr>
          <a:lstStyle/>
          <a:p>
            <a:pPr marL="0" indent="0">
              <a:buNone/>
            </a:pPr>
            <a:r>
              <a:rPr lang="en-US" sz="1260" dirty="0">
                <a:solidFill>
                  <a:srgbClr val="1F2933"/>
                </a:solidFill>
                <a:latin typeface="Aptos" panose="020B0004020202020204" pitchFamily="34" charset="0"/>
              </a:rPr>
              <a:t>• Rank clients by subscription probability</a:t>
            </a:r>
            <a:endParaRPr lang="en-US" sz="1260" dirty="0">
              <a:latin typeface="Aptos" panose="020B0004020202020204" pitchFamily="34" charset="0"/>
            </a:endParaRPr>
          </a:p>
          <a:p>
            <a:pPr marL="0" indent="0">
              <a:buNone/>
            </a:pPr>
            <a:r>
              <a:rPr lang="en-US" sz="1260" dirty="0">
                <a:solidFill>
                  <a:srgbClr val="1F2933"/>
                </a:solidFill>
                <a:latin typeface="Aptos" panose="020B0004020202020204" pitchFamily="34" charset="0"/>
              </a:rPr>
              <a:t>• Focus calls on higher-potential segments</a:t>
            </a:r>
            <a:endParaRPr lang="en-US" sz="1260" dirty="0">
              <a:latin typeface="Aptos" panose="020B0004020202020204" pitchFamily="34" charset="0"/>
            </a:endParaRPr>
          </a:p>
          <a:p>
            <a:pPr marL="0" indent="0">
              <a:buNone/>
            </a:pPr>
            <a:r>
              <a:rPr lang="en-US" sz="1260" dirty="0">
                <a:solidFill>
                  <a:srgbClr val="1F2933"/>
                </a:solidFill>
                <a:latin typeface="Aptos" panose="020B0004020202020204" pitchFamily="34" charset="0"/>
              </a:rPr>
              <a:t>• Improve ROI by reducing low-value contacts</a:t>
            </a:r>
            <a:endParaRPr lang="en-US" sz="1260" dirty="0">
              <a:latin typeface="Aptos" panose="020B0004020202020204" pitchFamily="34" charset="0"/>
            </a:endParaRPr>
          </a:p>
          <a:p>
            <a:pPr marL="0" indent="0">
              <a:buNone/>
            </a:pPr>
            <a:r>
              <a:rPr lang="en-US" sz="1260" dirty="0">
                <a:solidFill>
                  <a:srgbClr val="1F2933"/>
                </a:solidFill>
                <a:latin typeface="Aptos" panose="020B0004020202020204" pitchFamily="34" charset="0"/>
              </a:rPr>
              <a:t>• Adapt threshold to campaign budget</a:t>
            </a:r>
            <a:endParaRPr lang="en-US" sz="1260" dirty="0">
              <a:latin typeface="Aptos" panose="020B0004020202020204" pitchFamily="34" charset="0"/>
            </a:endParaRPr>
          </a:p>
        </p:txBody>
      </p:sp>
      <p:sp>
        <p:nvSpPr>
          <p:cNvPr id="14" name="Shape 12"/>
          <p:cNvSpPr/>
          <p:nvPr/>
        </p:nvSpPr>
        <p:spPr>
          <a:xfrm>
            <a:off x="685800" y="4800600"/>
            <a:ext cx="10744200" cy="822960"/>
          </a:xfrm>
          <a:prstGeom prst="roundRect">
            <a:avLst>
              <a:gd name="adj" fmla="val 8889"/>
            </a:avLst>
          </a:prstGeom>
          <a:solidFill>
            <a:srgbClr val="E7F6F2"/>
          </a:solidFill>
          <a:ln w="12700">
            <a:solidFill>
              <a:srgbClr val="149C7E">
                <a:alpha val="30000"/>
              </a:srgbClr>
            </a:solidFill>
            <a:prstDash val="solid"/>
          </a:ln>
        </p:spPr>
        <p:txBody>
          <a:bodyPr/>
          <a:lstStyle/>
          <a:p>
            <a:endParaRPr lang="en-GB">
              <a:latin typeface="Aptos" panose="020B0004020202020204" pitchFamily="34" charset="0"/>
            </a:endParaRPr>
          </a:p>
        </p:txBody>
      </p:sp>
      <p:sp>
        <p:nvSpPr>
          <p:cNvPr id="15" name="Text 13"/>
          <p:cNvSpPr/>
          <p:nvPr/>
        </p:nvSpPr>
        <p:spPr>
          <a:xfrm>
            <a:off x="960120" y="5047488"/>
            <a:ext cx="10149840" cy="219456"/>
          </a:xfrm>
          <a:prstGeom prst="rect">
            <a:avLst/>
          </a:prstGeom>
          <a:noFill/>
          <a:ln/>
        </p:spPr>
        <p:txBody>
          <a:bodyPr wrap="square" lIns="0" tIns="0" rIns="0" bIns="0" rtlCol="0" anchor="ctr"/>
          <a:lstStyle/>
          <a:p>
            <a:pPr marL="0" indent="0" algn="ctr">
              <a:buNone/>
            </a:pPr>
            <a:r>
              <a:rPr lang="en-US" sz="1300" b="1" dirty="0">
                <a:solidFill>
                  <a:srgbClr val="12385B"/>
                </a:solidFill>
                <a:latin typeface="Aptos" panose="020B0004020202020204" pitchFamily="34" charset="0"/>
              </a:rPr>
              <a:t>Target: y = yes / no  →  encoded as no = 0, yes = 1  →  evaluated as an imbalanced binary classification problem</a:t>
            </a:r>
            <a:endParaRPr lang="en-US" sz="1300" dirty="0">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9C7E"/>
          </a:solidFill>
          <a:ln w="12700">
            <a:solidFill>
              <a:srgbClr val="149C7E"/>
            </a:solidFill>
            <a:prstDash val="solid"/>
          </a:ln>
        </p:spPr>
        <p:txBody>
          <a:bodyPr/>
          <a:lstStyle/>
          <a:p>
            <a:endParaRPr lang="en-GB"/>
          </a:p>
        </p:txBody>
      </p:sp>
      <p:sp>
        <p:nvSpPr>
          <p:cNvPr id="3" name="Text 1"/>
          <p:cNvSpPr/>
          <p:nvPr/>
        </p:nvSpPr>
        <p:spPr>
          <a:xfrm>
            <a:off x="502920" y="310896"/>
            <a:ext cx="8138160" cy="384048"/>
          </a:xfrm>
          <a:prstGeom prst="rect">
            <a:avLst/>
          </a:prstGeom>
          <a:noFill/>
          <a:ln/>
        </p:spPr>
        <p:txBody>
          <a:bodyPr wrap="square" lIns="0" tIns="0" rIns="0" bIns="0" rtlCol="0" anchor="ctr"/>
          <a:lstStyle/>
          <a:p>
            <a:pPr marL="0" indent="0">
              <a:buNone/>
            </a:pPr>
            <a:r>
              <a:rPr lang="en-US" sz="2600" b="1" dirty="0">
                <a:solidFill>
                  <a:srgbClr val="12385B"/>
                </a:solidFill>
                <a:latin typeface="Aptos" panose="020B0004020202020204" pitchFamily="34" charset="0"/>
                <a:ea typeface="Aptos Display" pitchFamily="34" charset="-122"/>
                <a:cs typeface="Aptos Display" pitchFamily="34" charset="-120"/>
              </a:rPr>
              <a:t>Dataset and Target</a:t>
            </a:r>
            <a:endParaRPr lang="en-US" sz="2600" dirty="0">
              <a:latin typeface="Aptos" panose="020B0004020202020204" pitchFamily="34" charset="0"/>
            </a:endParaRPr>
          </a:p>
        </p:txBody>
      </p:sp>
      <p:sp>
        <p:nvSpPr>
          <p:cNvPr id="4" name="Text 2"/>
          <p:cNvSpPr/>
          <p:nvPr/>
        </p:nvSpPr>
        <p:spPr>
          <a:xfrm>
            <a:off x="521208" y="749808"/>
            <a:ext cx="10789920" cy="237744"/>
          </a:xfrm>
          <a:prstGeom prst="rect">
            <a:avLst/>
          </a:prstGeom>
          <a:noFill/>
          <a:ln/>
        </p:spPr>
        <p:txBody>
          <a:bodyPr wrap="square" lIns="0" tIns="0" rIns="0" bIns="0" rtlCol="0" anchor="ctr"/>
          <a:lstStyle/>
          <a:p>
            <a:pPr marL="0" indent="0">
              <a:buNone/>
            </a:pPr>
            <a:r>
              <a:rPr lang="en-US" sz="1050" dirty="0">
                <a:solidFill>
                  <a:srgbClr val="5B6770"/>
                </a:solidFill>
                <a:latin typeface="Aptos" panose="020B0004020202020204" pitchFamily="34" charset="0"/>
              </a:rPr>
              <a:t>Dataset4.csv contains client, campaign and previous-outcome variables; the target is highly imbalanced.</a:t>
            </a:r>
            <a:endParaRPr lang="en-US" sz="1050" dirty="0">
              <a:latin typeface="Aptos" panose="020B0004020202020204" pitchFamily="34" charset="0"/>
            </a:endParaRPr>
          </a:p>
        </p:txBody>
      </p:sp>
      <p:sp>
        <p:nvSpPr>
          <p:cNvPr id="5" name="Text 3"/>
          <p:cNvSpPr/>
          <p:nvPr/>
        </p:nvSpPr>
        <p:spPr>
          <a:xfrm>
            <a:off x="502920" y="6483096"/>
            <a:ext cx="4572000" cy="164592"/>
          </a:xfrm>
          <a:prstGeom prst="rect">
            <a:avLst/>
          </a:prstGeom>
          <a:noFill/>
          <a:ln/>
        </p:spPr>
        <p:txBody>
          <a:bodyPr wrap="square" lIns="0" tIns="0" rIns="0" bIns="0" rtlCol="0" anchor="ctr"/>
          <a:lstStyle/>
          <a:p>
            <a:pPr marL="0" indent="0">
              <a:buNone/>
            </a:pPr>
            <a:r>
              <a:rPr lang="en-US" sz="800" dirty="0">
                <a:solidFill>
                  <a:srgbClr val="7B8794"/>
                </a:solidFill>
              </a:rPr>
              <a:t>Bank Marketing Subscription Prediction</a:t>
            </a:r>
            <a:endParaRPr lang="en-US" sz="800" dirty="0"/>
          </a:p>
        </p:txBody>
      </p:sp>
      <p:sp>
        <p:nvSpPr>
          <p:cNvPr id="6" name="Text 4"/>
          <p:cNvSpPr/>
          <p:nvPr/>
        </p:nvSpPr>
        <p:spPr>
          <a:xfrm>
            <a:off x="11384280" y="6464808"/>
            <a:ext cx="320040" cy="164592"/>
          </a:xfrm>
          <a:prstGeom prst="rect">
            <a:avLst/>
          </a:prstGeom>
          <a:noFill/>
          <a:ln/>
        </p:spPr>
        <p:txBody>
          <a:bodyPr wrap="square" lIns="0" tIns="0" rIns="0" bIns="0" rtlCol="0" anchor="ctr"/>
          <a:lstStyle/>
          <a:p>
            <a:pPr marL="0" indent="0" algn="r">
              <a:buNone/>
            </a:pPr>
            <a:r>
              <a:rPr lang="en-US" sz="800" dirty="0">
                <a:solidFill>
                  <a:srgbClr val="7B8794"/>
                </a:solidFill>
              </a:rPr>
              <a:t>03</a:t>
            </a:r>
            <a:endParaRPr lang="en-US" sz="800" dirty="0"/>
          </a:p>
        </p:txBody>
      </p:sp>
      <p:sp>
        <p:nvSpPr>
          <p:cNvPr id="7" name="Shape 5"/>
          <p:cNvSpPr/>
          <p:nvPr/>
        </p:nvSpPr>
        <p:spPr>
          <a:xfrm>
            <a:off x="640080" y="1234440"/>
            <a:ext cx="173736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8" name="Shape 6"/>
          <p:cNvSpPr/>
          <p:nvPr/>
        </p:nvSpPr>
        <p:spPr>
          <a:xfrm>
            <a:off x="640080" y="1234440"/>
            <a:ext cx="54864" cy="777240"/>
          </a:xfrm>
          <a:prstGeom prst="rect">
            <a:avLst/>
          </a:prstGeom>
          <a:solidFill>
            <a:srgbClr val="1F77B4"/>
          </a:solidFill>
          <a:ln w="12700">
            <a:solidFill>
              <a:srgbClr val="1F77B4"/>
            </a:solidFill>
            <a:prstDash val="solid"/>
          </a:ln>
        </p:spPr>
        <p:txBody>
          <a:bodyPr/>
          <a:lstStyle/>
          <a:p>
            <a:endParaRPr lang="en-GB">
              <a:latin typeface="Aptos" panose="020B0004020202020204" pitchFamily="34" charset="0"/>
            </a:endParaRPr>
          </a:p>
        </p:txBody>
      </p:sp>
      <p:sp>
        <p:nvSpPr>
          <p:cNvPr id="9" name="Text 7"/>
          <p:cNvSpPr/>
          <p:nvPr/>
        </p:nvSpPr>
        <p:spPr>
          <a:xfrm>
            <a:off x="786384" y="1362456"/>
            <a:ext cx="1536192" cy="256032"/>
          </a:xfrm>
          <a:prstGeom prst="rect">
            <a:avLst/>
          </a:prstGeom>
          <a:noFill/>
          <a:ln/>
        </p:spPr>
        <p:txBody>
          <a:bodyPr wrap="square" lIns="0" tIns="0" rIns="0" bIns="0" rtlCol="0" anchor="ctr"/>
          <a:lstStyle/>
          <a:p>
            <a:pPr marL="0" indent="0" algn="ctr">
              <a:buNone/>
            </a:pPr>
            <a:r>
              <a:rPr lang="en-US" sz="1800" b="1" dirty="0">
                <a:solidFill>
                  <a:srgbClr val="1F77B4"/>
                </a:solidFill>
                <a:latin typeface="Aptos" panose="020B0004020202020204" pitchFamily="34" charset="0"/>
              </a:rPr>
              <a:t>39,922</a:t>
            </a:r>
            <a:endParaRPr lang="en-US" sz="1800" dirty="0">
              <a:latin typeface="Aptos" panose="020B0004020202020204" pitchFamily="34" charset="0"/>
            </a:endParaRPr>
          </a:p>
        </p:txBody>
      </p:sp>
      <p:sp>
        <p:nvSpPr>
          <p:cNvPr id="10" name="Text 8"/>
          <p:cNvSpPr/>
          <p:nvPr/>
        </p:nvSpPr>
        <p:spPr>
          <a:xfrm>
            <a:off x="749808" y="1673352"/>
            <a:ext cx="155448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no subscriptions</a:t>
            </a:r>
            <a:endParaRPr lang="en-US" sz="850" dirty="0">
              <a:latin typeface="Aptos" panose="020B0004020202020204" pitchFamily="34" charset="0"/>
            </a:endParaRPr>
          </a:p>
        </p:txBody>
      </p:sp>
      <p:sp>
        <p:nvSpPr>
          <p:cNvPr id="11" name="Shape 9"/>
          <p:cNvSpPr/>
          <p:nvPr/>
        </p:nvSpPr>
        <p:spPr>
          <a:xfrm>
            <a:off x="2560320" y="1234440"/>
            <a:ext cx="173736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12" name="Shape 10"/>
          <p:cNvSpPr/>
          <p:nvPr/>
        </p:nvSpPr>
        <p:spPr>
          <a:xfrm>
            <a:off x="2560320" y="1234440"/>
            <a:ext cx="54864" cy="777240"/>
          </a:xfrm>
          <a:prstGeom prst="rect">
            <a:avLst/>
          </a:prstGeom>
          <a:solidFill>
            <a:srgbClr val="149C7E"/>
          </a:solidFill>
          <a:ln w="12700">
            <a:solidFill>
              <a:srgbClr val="149C7E"/>
            </a:solidFill>
            <a:prstDash val="solid"/>
          </a:ln>
        </p:spPr>
        <p:txBody>
          <a:bodyPr/>
          <a:lstStyle/>
          <a:p>
            <a:endParaRPr lang="en-GB">
              <a:latin typeface="Aptos" panose="020B0004020202020204" pitchFamily="34" charset="0"/>
            </a:endParaRPr>
          </a:p>
        </p:txBody>
      </p:sp>
      <p:sp>
        <p:nvSpPr>
          <p:cNvPr id="13" name="Text 11"/>
          <p:cNvSpPr/>
          <p:nvPr/>
        </p:nvSpPr>
        <p:spPr>
          <a:xfrm>
            <a:off x="2706624" y="1362456"/>
            <a:ext cx="1536192" cy="256032"/>
          </a:xfrm>
          <a:prstGeom prst="rect">
            <a:avLst/>
          </a:prstGeom>
          <a:noFill/>
          <a:ln/>
        </p:spPr>
        <p:txBody>
          <a:bodyPr wrap="square" lIns="0" tIns="0" rIns="0" bIns="0" rtlCol="0" anchor="ctr"/>
          <a:lstStyle/>
          <a:p>
            <a:pPr marL="0" indent="0" algn="ctr">
              <a:buNone/>
            </a:pPr>
            <a:r>
              <a:rPr lang="en-US" sz="1800" b="1" dirty="0">
                <a:solidFill>
                  <a:srgbClr val="149C7E"/>
                </a:solidFill>
                <a:latin typeface="Aptos" panose="020B0004020202020204" pitchFamily="34" charset="0"/>
              </a:rPr>
              <a:t>5,289</a:t>
            </a:r>
            <a:endParaRPr lang="en-US" sz="1800" dirty="0">
              <a:latin typeface="Aptos" panose="020B0004020202020204" pitchFamily="34" charset="0"/>
            </a:endParaRPr>
          </a:p>
        </p:txBody>
      </p:sp>
      <p:sp>
        <p:nvSpPr>
          <p:cNvPr id="14" name="Text 12"/>
          <p:cNvSpPr/>
          <p:nvPr/>
        </p:nvSpPr>
        <p:spPr>
          <a:xfrm>
            <a:off x="2670048" y="1673352"/>
            <a:ext cx="155448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yes subscriptions</a:t>
            </a:r>
            <a:endParaRPr lang="en-US" sz="850" dirty="0">
              <a:latin typeface="Aptos" panose="020B0004020202020204" pitchFamily="34" charset="0"/>
            </a:endParaRPr>
          </a:p>
        </p:txBody>
      </p:sp>
      <p:sp>
        <p:nvSpPr>
          <p:cNvPr id="15" name="Shape 13"/>
          <p:cNvSpPr/>
          <p:nvPr/>
        </p:nvSpPr>
        <p:spPr>
          <a:xfrm>
            <a:off x="4480560" y="1234440"/>
            <a:ext cx="141732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16" name="Shape 14"/>
          <p:cNvSpPr/>
          <p:nvPr/>
        </p:nvSpPr>
        <p:spPr>
          <a:xfrm>
            <a:off x="4480560" y="1234440"/>
            <a:ext cx="54864" cy="777240"/>
          </a:xfrm>
          <a:prstGeom prst="rect">
            <a:avLst/>
          </a:prstGeom>
          <a:solidFill>
            <a:srgbClr val="149C7E"/>
          </a:solidFill>
          <a:ln w="12700">
            <a:solidFill>
              <a:srgbClr val="149C7E"/>
            </a:solidFill>
            <a:prstDash val="solid"/>
          </a:ln>
        </p:spPr>
        <p:txBody>
          <a:bodyPr/>
          <a:lstStyle/>
          <a:p>
            <a:endParaRPr lang="en-GB">
              <a:latin typeface="Aptos" panose="020B0004020202020204" pitchFamily="34" charset="0"/>
            </a:endParaRPr>
          </a:p>
        </p:txBody>
      </p:sp>
      <p:sp>
        <p:nvSpPr>
          <p:cNvPr id="17" name="Text 15"/>
          <p:cNvSpPr/>
          <p:nvPr/>
        </p:nvSpPr>
        <p:spPr>
          <a:xfrm>
            <a:off x="4626864" y="1362456"/>
            <a:ext cx="1216152" cy="256032"/>
          </a:xfrm>
          <a:prstGeom prst="rect">
            <a:avLst/>
          </a:prstGeom>
          <a:noFill/>
          <a:ln/>
        </p:spPr>
        <p:txBody>
          <a:bodyPr wrap="square" lIns="0" tIns="0" rIns="0" bIns="0" rtlCol="0" anchor="ctr"/>
          <a:lstStyle/>
          <a:p>
            <a:pPr marL="0" indent="0" algn="ctr">
              <a:buNone/>
            </a:pPr>
            <a:r>
              <a:rPr lang="en-US" sz="1800" b="1" dirty="0">
                <a:solidFill>
                  <a:srgbClr val="149C7E"/>
                </a:solidFill>
                <a:latin typeface="Aptos" panose="020B0004020202020204" pitchFamily="34" charset="0"/>
              </a:rPr>
              <a:t>11.7%</a:t>
            </a:r>
            <a:endParaRPr lang="en-US" sz="1800" dirty="0">
              <a:latin typeface="Aptos" panose="020B0004020202020204" pitchFamily="34" charset="0"/>
            </a:endParaRPr>
          </a:p>
        </p:txBody>
      </p:sp>
      <p:sp>
        <p:nvSpPr>
          <p:cNvPr id="18" name="Text 16"/>
          <p:cNvSpPr/>
          <p:nvPr/>
        </p:nvSpPr>
        <p:spPr>
          <a:xfrm>
            <a:off x="4590288" y="1673352"/>
            <a:ext cx="123444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yes share</a:t>
            </a:r>
            <a:endParaRPr lang="en-US" sz="850" dirty="0">
              <a:latin typeface="Aptos" panose="020B0004020202020204" pitchFamily="34" charset="0"/>
            </a:endParaRPr>
          </a:p>
        </p:txBody>
      </p:sp>
      <p:sp>
        <p:nvSpPr>
          <p:cNvPr id="19" name="Shape 17"/>
          <p:cNvSpPr/>
          <p:nvPr/>
        </p:nvSpPr>
        <p:spPr>
          <a:xfrm>
            <a:off x="640080" y="2240280"/>
            <a:ext cx="5257800" cy="2834640"/>
          </a:xfrm>
          <a:prstGeom prst="roundRect">
            <a:avLst>
              <a:gd name="adj" fmla="val 1935"/>
            </a:avLst>
          </a:prstGeom>
          <a:solidFill>
            <a:srgbClr val="FFFFFF"/>
          </a:solidFill>
          <a:ln w="12700">
            <a:solidFill>
              <a:srgbClr val="D8DEE6">
                <a:alpha val="85000"/>
              </a:srgbClr>
            </a:solidFill>
            <a:prstDash val="solid"/>
          </a:ln>
        </p:spPr>
        <p:txBody>
          <a:bodyPr/>
          <a:lstStyle/>
          <a:p>
            <a:endParaRPr lang="en-GB">
              <a:latin typeface="Aptos" panose="020B0004020202020204" pitchFamily="34" charset="0"/>
            </a:endParaRPr>
          </a:p>
        </p:txBody>
      </p:sp>
      <p:sp>
        <p:nvSpPr>
          <p:cNvPr id="20" name="Text 18"/>
          <p:cNvSpPr/>
          <p:nvPr/>
        </p:nvSpPr>
        <p:spPr>
          <a:xfrm>
            <a:off x="749808" y="2322576"/>
            <a:ext cx="5038344" cy="164592"/>
          </a:xfrm>
          <a:prstGeom prst="rect">
            <a:avLst/>
          </a:prstGeom>
          <a:noFill/>
          <a:ln/>
        </p:spPr>
        <p:txBody>
          <a:bodyPr wrap="square" lIns="0" tIns="0" rIns="0" bIns="0" rtlCol="0" anchor="ctr"/>
          <a:lstStyle/>
          <a:p>
            <a:pPr marL="0" indent="0">
              <a:buNone/>
            </a:pPr>
            <a:r>
              <a:rPr lang="en-US" sz="1020" b="1" dirty="0">
                <a:solidFill>
                  <a:srgbClr val="12385B"/>
                </a:solidFill>
                <a:latin typeface="Aptos" panose="020B0004020202020204" pitchFamily="34" charset="0"/>
              </a:rPr>
              <a:t>Target distribution</a:t>
            </a:r>
            <a:endParaRPr lang="en-US" sz="1020" dirty="0">
              <a:latin typeface="Aptos" panose="020B0004020202020204" pitchFamily="34" charset="0"/>
            </a:endParaRPr>
          </a:p>
        </p:txBody>
      </p:sp>
      <p:pic>
        <p:nvPicPr>
          <p:cNvPr id="21" name="Image 0" descr="/mnt/data/key_extracted_plots/02_target_distribution_count.png"/>
          <p:cNvPicPr>
            <a:picLocks noChangeAspect="1"/>
          </p:cNvPicPr>
          <p:nvPr/>
        </p:nvPicPr>
        <p:blipFill>
          <a:blip r:embed="rId3"/>
          <a:stretch>
            <a:fillRect/>
          </a:stretch>
        </p:blipFill>
        <p:spPr>
          <a:xfrm>
            <a:off x="1635871" y="2542032"/>
            <a:ext cx="3266218" cy="2423160"/>
          </a:xfrm>
          <a:prstGeom prst="rect">
            <a:avLst/>
          </a:prstGeom>
        </p:spPr>
      </p:pic>
      <p:sp>
        <p:nvSpPr>
          <p:cNvPr id="22" name="Shape 19"/>
          <p:cNvSpPr/>
          <p:nvPr/>
        </p:nvSpPr>
        <p:spPr>
          <a:xfrm>
            <a:off x="6263640" y="1234440"/>
            <a:ext cx="5257800" cy="2240280"/>
          </a:xfrm>
          <a:prstGeom prst="roundRect">
            <a:avLst>
              <a:gd name="adj" fmla="val 2449"/>
            </a:avLst>
          </a:prstGeom>
          <a:solidFill>
            <a:srgbClr val="FFFFFF"/>
          </a:solidFill>
          <a:ln w="12700">
            <a:solidFill>
              <a:srgbClr val="D8DEE6">
                <a:alpha val="85000"/>
              </a:srgbClr>
            </a:solidFill>
            <a:prstDash val="solid"/>
          </a:ln>
        </p:spPr>
        <p:txBody>
          <a:bodyPr/>
          <a:lstStyle/>
          <a:p>
            <a:endParaRPr lang="en-GB">
              <a:latin typeface="Aptos" panose="020B0004020202020204" pitchFamily="34" charset="0"/>
            </a:endParaRPr>
          </a:p>
        </p:txBody>
      </p:sp>
      <p:sp>
        <p:nvSpPr>
          <p:cNvPr id="23" name="Text 20"/>
          <p:cNvSpPr/>
          <p:nvPr/>
        </p:nvSpPr>
        <p:spPr>
          <a:xfrm>
            <a:off x="6373368" y="1316736"/>
            <a:ext cx="5038344" cy="164592"/>
          </a:xfrm>
          <a:prstGeom prst="rect">
            <a:avLst/>
          </a:prstGeom>
          <a:noFill/>
          <a:ln/>
        </p:spPr>
        <p:txBody>
          <a:bodyPr wrap="square" lIns="0" tIns="0" rIns="0" bIns="0" rtlCol="0" anchor="ctr"/>
          <a:lstStyle/>
          <a:p>
            <a:pPr marL="0" indent="0">
              <a:buNone/>
            </a:pPr>
            <a:r>
              <a:rPr lang="en-US" sz="1020" b="1" dirty="0">
                <a:solidFill>
                  <a:srgbClr val="12385B"/>
                </a:solidFill>
                <a:latin typeface="Aptos" panose="020B0004020202020204" pitchFamily="34" charset="0"/>
              </a:rPr>
              <a:t>Subscription by month</a:t>
            </a:r>
            <a:endParaRPr lang="en-US" sz="1020" dirty="0">
              <a:latin typeface="Aptos" panose="020B0004020202020204" pitchFamily="34" charset="0"/>
            </a:endParaRPr>
          </a:p>
        </p:txBody>
      </p:sp>
      <p:pic>
        <p:nvPicPr>
          <p:cNvPr id="24" name="Image 1" descr="/mnt/data/key_extracted_plots/05_subscription_by_month.png"/>
          <p:cNvPicPr>
            <a:picLocks noChangeAspect="1"/>
          </p:cNvPicPr>
          <p:nvPr/>
        </p:nvPicPr>
        <p:blipFill>
          <a:blip r:embed="rId4"/>
          <a:stretch>
            <a:fillRect/>
          </a:stretch>
        </p:blipFill>
        <p:spPr>
          <a:xfrm>
            <a:off x="6966585" y="1536192"/>
            <a:ext cx="3851910" cy="1828800"/>
          </a:xfrm>
          <a:prstGeom prst="rect">
            <a:avLst/>
          </a:prstGeom>
        </p:spPr>
      </p:pic>
      <p:sp>
        <p:nvSpPr>
          <p:cNvPr id="25" name="Shape 21"/>
          <p:cNvSpPr/>
          <p:nvPr/>
        </p:nvSpPr>
        <p:spPr>
          <a:xfrm>
            <a:off x="6263640" y="3703320"/>
            <a:ext cx="5257800" cy="2057400"/>
          </a:xfrm>
          <a:prstGeom prst="roundRect">
            <a:avLst>
              <a:gd name="adj" fmla="val 2667"/>
            </a:avLst>
          </a:prstGeom>
          <a:solidFill>
            <a:srgbClr val="FFFFFF"/>
          </a:solidFill>
          <a:ln w="12700">
            <a:solidFill>
              <a:srgbClr val="D8DEE6">
                <a:alpha val="85000"/>
              </a:srgbClr>
            </a:solidFill>
            <a:prstDash val="solid"/>
          </a:ln>
        </p:spPr>
        <p:txBody>
          <a:bodyPr/>
          <a:lstStyle/>
          <a:p>
            <a:endParaRPr lang="en-GB">
              <a:latin typeface="Aptos" panose="020B0004020202020204" pitchFamily="34" charset="0"/>
            </a:endParaRPr>
          </a:p>
        </p:txBody>
      </p:sp>
      <p:sp>
        <p:nvSpPr>
          <p:cNvPr id="26" name="Text 22"/>
          <p:cNvSpPr/>
          <p:nvPr/>
        </p:nvSpPr>
        <p:spPr>
          <a:xfrm>
            <a:off x="6373368" y="3785616"/>
            <a:ext cx="5038344" cy="164592"/>
          </a:xfrm>
          <a:prstGeom prst="rect">
            <a:avLst/>
          </a:prstGeom>
          <a:noFill/>
          <a:ln/>
        </p:spPr>
        <p:txBody>
          <a:bodyPr wrap="square" lIns="0" tIns="0" rIns="0" bIns="0" rtlCol="0" anchor="ctr"/>
          <a:lstStyle/>
          <a:p>
            <a:r>
              <a:rPr lang="en-GB" sz="1050" b="1" dirty="0">
                <a:latin typeface="Aptos" panose="020B0004020202020204" pitchFamily="34" charset="0"/>
              </a:rPr>
              <a:t>Subscription rate based on past contact result</a:t>
            </a:r>
            <a:endParaRPr lang="en-GB" sz="1050" dirty="0">
              <a:latin typeface="Aptos" panose="020B0004020202020204" pitchFamily="34" charset="0"/>
            </a:endParaRPr>
          </a:p>
        </p:txBody>
      </p:sp>
      <p:pic>
        <p:nvPicPr>
          <p:cNvPr id="27" name="Image 2" descr="/mnt/data/key_extracted_plots/07_subscription_by_poutcome.png"/>
          <p:cNvPicPr>
            <a:picLocks noChangeAspect="1"/>
          </p:cNvPicPr>
          <p:nvPr/>
        </p:nvPicPr>
        <p:blipFill>
          <a:blip r:embed="rId5"/>
          <a:stretch>
            <a:fillRect/>
          </a:stretch>
        </p:blipFill>
        <p:spPr>
          <a:xfrm>
            <a:off x="7304730" y="4005072"/>
            <a:ext cx="3175620" cy="1645920"/>
          </a:xfrm>
          <a:prstGeom prst="rect">
            <a:avLst/>
          </a:prstGeom>
        </p:spPr>
      </p:pic>
      <p:sp>
        <p:nvSpPr>
          <p:cNvPr id="28" name="Text 23"/>
          <p:cNvSpPr/>
          <p:nvPr/>
        </p:nvSpPr>
        <p:spPr>
          <a:xfrm>
            <a:off x="731520" y="5486400"/>
            <a:ext cx="5029200" cy="292608"/>
          </a:xfrm>
          <a:prstGeom prst="rect">
            <a:avLst/>
          </a:prstGeom>
          <a:noFill/>
          <a:ln/>
        </p:spPr>
        <p:txBody>
          <a:bodyPr wrap="square" lIns="0" tIns="0" rIns="0" bIns="0" rtlCol="0" anchor="ctr">
            <a:normAutofit fontScale="92500" lnSpcReduction="20000"/>
          </a:bodyPr>
          <a:lstStyle/>
          <a:p>
            <a:pPr marL="0" indent="0">
              <a:buNone/>
            </a:pPr>
            <a:r>
              <a:rPr lang="en-US" sz="1200" b="1" dirty="0">
                <a:latin typeface="Aptos" panose="020B0004020202020204" pitchFamily="34" charset="0"/>
              </a:rPr>
              <a:t>Implication: accuracy can be misleading, because a model can look strong by mostly predicting “no”.</a:t>
            </a:r>
            <a:endParaRPr lang="en-US" sz="1200" dirty="0">
              <a:latin typeface="Aptos"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9C7E"/>
          </a:solidFill>
          <a:ln w="12700">
            <a:solidFill>
              <a:srgbClr val="149C7E"/>
            </a:solidFill>
            <a:prstDash val="solid"/>
          </a:ln>
        </p:spPr>
        <p:txBody>
          <a:bodyPr/>
          <a:lstStyle/>
          <a:p>
            <a:endParaRPr lang="en-GB"/>
          </a:p>
        </p:txBody>
      </p:sp>
      <p:sp>
        <p:nvSpPr>
          <p:cNvPr id="3" name="Text 1"/>
          <p:cNvSpPr/>
          <p:nvPr/>
        </p:nvSpPr>
        <p:spPr>
          <a:xfrm>
            <a:off x="502920" y="310896"/>
            <a:ext cx="8138160" cy="384048"/>
          </a:xfrm>
          <a:prstGeom prst="rect">
            <a:avLst/>
          </a:prstGeom>
          <a:noFill/>
          <a:ln/>
        </p:spPr>
        <p:txBody>
          <a:bodyPr wrap="square" lIns="0" tIns="0" rIns="0" bIns="0" rtlCol="0" anchor="ctr"/>
          <a:lstStyle/>
          <a:p>
            <a:pPr marL="0" indent="0">
              <a:buNone/>
            </a:pPr>
            <a:r>
              <a:rPr lang="en-US" sz="2600" b="1" dirty="0">
                <a:solidFill>
                  <a:srgbClr val="12385B"/>
                </a:solidFill>
                <a:latin typeface="Aptos" panose="020B0004020202020204" pitchFamily="34" charset="0"/>
                <a:ea typeface="Aptos Display" pitchFamily="34" charset="-122"/>
                <a:cs typeface="Aptos Display" pitchFamily="34" charset="-120"/>
              </a:rPr>
              <a:t>Methodology Overview</a:t>
            </a:r>
            <a:endParaRPr lang="en-US" sz="2600" dirty="0">
              <a:latin typeface="Aptos" panose="020B0004020202020204" pitchFamily="34" charset="0"/>
            </a:endParaRPr>
          </a:p>
        </p:txBody>
      </p:sp>
      <p:sp>
        <p:nvSpPr>
          <p:cNvPr id="4" name="Text 2"/>
          <p:cNvSpPr/>
          <p:nvPr/>
        </p:nvSpPr>
        <p:spPr>
          <a:xfrm>
            <a:off x="521208" y="749808"/>
            <a:ext cx="10789920" cy="237744"/>
          </a:xfrm>
          <a:prstGeom prst="rect">
            <a:avLst/>
          </a:prstGeom>
          <a:noFill/>
          <a:ln/>
        </p:spPr>
        <p:txBody>
          <a:bodyPr wrap="square" lIns="0" tIns="0" rIns="0" bIns="0" rtlCol="0" anchor="ctr"/>
          <a:lstStyle/>
          <a:p>
            <a:pPr marL="0" indent="0">
              <a:buNone/>
            </a:pPr>
            <a:r>
              <a:rPr lang="en-US" sz="1050" dirty="0">
                <a:solidFill>
                  <a:srgbClr val="5B6770"/>
                </a:solidFill>
              </a:rPr>
              <a:t>A reproducible machine-learning workflow from EDA to explainable business recommendations.</a:t>
            </a:r>
            <a:endParaRPr lang="en-US" sz="1050" dirty="0"/>
          </a:p>
        </p:txBody>
      </p:sp>
      <p:sp>
        <p:nvSpPr>
          <p:cNvPr id="5" name="Text 3"/>
          <p:cNvSpPr/>
          <p:nvPr/>
        </p:nvSpPr>
        <p:spPr>
          <a:xfrm>
            <a:off x="502920" y="6483096"/>
            <a:ext cx="4572000" cy="164592"/>
          </a:xfrm>
          <a:prstGeom prst="rect">
            <a:avLst/>
          </a:prstGeom>
          <a:noFill/>
          <a:ln/>
        </p:spPr>
        <p:txBody>
          <a:bodyPr wrap="square" lIns="0" tIns="0" rIns="0" bIns="0" rtlCol="0" anchor="ctr"/>
          <a:lstStyle/>
          <a:p>
            <a:pPr marL="0" indent="0">
              <a:buNone/>
            </a:pPr>
            <a:r>
              <a:rPr lang="en-US" sz="800" dirty="0">
                <a:solidFill>
                  <a:srgbClr val="7B8794"/>
                </a:solidFill>
              </a:rPr>
              <a:t>Bank Marketing Subscription Prediction</a:t>
            </a:r>
            <a:endParaRPr lang="en-US" sz="800" dirty="0"/>
          </a:p>
        </p:txBody>
      </p:sp>
      <p:sp>
        <p:nvSpPr>
          <p:cNvPr id="6" name="Text 4"/>
          <p:cNvSpPr/>
          <p:nvPr/>
        </p:nvSpPr>
        <p:spPr>
          <a:xfrm>
            <a:off x="11384280" y="6464808"/>
            <a:ext cx="320040" cy="164592"/>
          </a:xfrm>
          <a:prstGeom prst="rect">
            <a:avLst/>
          </a:prstGeom>
          <a:noFill/>
          <a:ln/>
        </p:spPr>
        <p:txBody>
          <a:bodyPr wrap="square" lIns="0" tIns="0" rIns="0" bIns="0" rtlCol="0" anchor="ctr"/>
          <a:lstStyle/>
          <a:p>
            <a:pPr marL="0" indent="0" algn="r">
              <a:buNone/>
            </a:pPr>
            <a:r>
              <a:rPr lang="en-US" sz="800" dirty="0">
                <a:solidFill>
                  <a:srgbClr val="7B8794"/>
                </a:solidFill>
              </a:rPr>
              <a:t>04</a:t>
            </a:r>
            <a:endParaRPr lang="en-US" sz="800" dirty="0"/>
          </a:p>
        </p:txBody>
      </p:sp>
      <p:sp>
        <p:nvSpPr>
          <p:cNvPr id="7" name="Shape 5"/>
          <p:cNvSpPr/>
          <p:nvPr/>
        </p:nvSpPr>
        <p:spPr>
          <a:xfrm>
            <a:off x="1296741" y="3476051"/>
            <a:ext cx="1615382" cy="1236125"/>
          </a:xfrm>
          <a:prstGeom prst="roundRect">
            <a:avLst>
              <a:gd name="adj" fmla="val 3810"/>
            </a:avLst>
          </a:prstGeom>
          <a:solidFill>
            <a:srgbClr val="E7F6F2"/>
          </a:solidFill>
          <a:ln w="12700">
            <a:solidFill>
              <a:srgbClr val="D8DEE6">
                <a:alpha val="75000"/>
              </a:srgbClr>
            </a:solidFill>
            <a:prstDash val="solid"/>
          </a:ln>
        </p:spPr>
        <p:txBody>
          <a:bodyPr/>
          <a:lstStyle/>
          <a:p>
            <a:endParaRPr lang="en-GB">
              <a:latin typeface="Aptos" panose="020B0004020202020204" pitchFamily="34" charset="0"/>
            </a:endParaRPr>
          </a:p>
        </p:txBody>
      </p:sp>
      <p:sp>
        <p:nvSpPr>
          <p:cNvPr id="8" name="Text 6"/>
          <p:cNvSpPr/>
          <p:nvPr/>
        </p:nvSpPr>
        <p:spPr>
          <a:xfrm>
            <a:off x="1433901" y="3668075"/>
            <a:ext cx="258461" cy="223031"/>
          </a:xfrm>
          <a:prstGeom prst="rect">
            <a:avLst/>
          </a:prstGeom>
          <a:noFill/>
          <a:ln/>
        </p:spPr>
        <p:txBody>
          <a:bodyPr wrap="square" lIns="0" tIns="0" rIns="0" bIns="0" rtlCol="0" anchor="ctr"/>
          <a:lstStyle/>
          <a:p>
            <a:pPr marL="0" indent="0">
              <a:buNone/>
            </a:pPr>
            <a:r>
              <a:rPr lang="en-US" sz="1800" b="1" dirty="0">
                <a:solidFill>
                  <a:srgbClr val="149C7E"/>
                </a:solidFill>
                <a:latin typeface="Aptos" panose="020B0004020202020204" pitchFamily="34" charset="0"/>
              </a:rPr>
              <a:t>1</a:t>
            </a:r>
            <a:endParaRPr lang="en-US" sz="1800" dirty="0">
              <a:latin typeface="Aptos" panose="020B0004020202020204" pitchFamily="34" charset="0"/>
            </a:endParaRPr>
          </a:p>
        </p:txBody>
      </p:sp>
      <p:sp>
        <p:nvSpPr>
          <p:cNvPr id="9" name="Text 7"/>
          <p:cNvSpPr/>
          <p:nvPr/>
        </p:nvSpPr>
        <p:spPr>
          <a:xfrm>
            <a:off x="1475262" y="3682943"/>
            <a:ext cx="1220511" cy="193294"/>
          </a:xfrm>
          <a:prstGeom prst="rect">
            <a:avLst/>
          </a:prstGeom>
          <a:noFill/>
          <a:ln/>
        </p:spPr>
        <p:txBody>
          <a:bodyPr wrap="square" lIns="0" tIns="0" rIns="0" bIns="0" rtlCol="0" anchor="ctr"/>
          <a:lstStyle/>
          <a:p>
            <a:pPr marL="0" indent="0" algn="ctr">
              <a:buNone/>
            </a:pPr>
            <a:r>
              <a:rPr lang="en-US" sz="1500" b="1" dirty="0">
                <a:solidFill>
                  <a:srgbClr val="12385B"/>
                </a:solidFill>
                <a:latin typeface="Aptos" panose="020B0004020202020204" pitchFamily="34" charset="0"/>
              </a:rPr>
              <a:t>EDA</a:t>
            </a:r>
            <a:endParaRPr lang="en-US" sz="1500" dirty="0">
              <a:latin typeface="Aptos" panose="020B0004020202020204" pitchFamily="34" charset="0"/>
            </a:endParaRPr>
          </a:p>
        </p:txBody>
      </p:sp>
      <p:sp>
        <p:nvSpPr>
          <p:cNvPr id="10" name="Text 8"/>
          <p:cNvSpPr/>
          <p:nvPr/>
        </p:nvSpPr>
        <p:spPr>
          <a:xfrm>
            <a:off x="1458279" y="4076700"/>
            <a:ext cx="1292306" cy="371719"/>
          </a:xfrm>
          <a:prstGeom prst="rect">
            <a:avLst/>
          </a:prstGeom>
          <a:noFill/>
          <a:ln/>
        </p:spPr>
        <p:txBody>
          <a:bodyPr wrap="square" lIns="0" tIns="0" rIns="0" bIns="0" rtlCol="0" anchor="ctr">
            <a:normAutofit fontScale="92500"/>
          </a:bodyPr>
          <a:lstStyle/>
          <a:p>
            <a:pPr marL="0" indent="0" algn="ctr">
              <a:buNone/>
            </a:pPr>
            <a:r>
              <a:rPr lang="en-US" sz="970" dirty="0">
                <a:solidFill>
                  <a:srgbClr val="5B6770"/>
                </a:solidFill>
                <a:latin typeface="Aptos" panose="020B0004020202020204" pitchFamily="34" charset="0"/>
              </a:rPr>
              <a:t>Distributions, imbalance, categorical patterns</a:t>
            </a:r>
            <a:endParaRPr lang="en-US" sz="970" dirty="0">
              <a:latin typeface="Aptos" panose="020B0004020202020204" pitchFamily="34" charset="0"/>
            </a:endParaRPr>
          </a:p>
        </p:txBody>
      </p:sp>
      <p:sp>
        <p:nvSpPr>
          <p:cNvPr id="12" name="Shape 10"/>
          <p:cNvSpPr/>
          <p:nvPr/>
        </p:nvSpPr>
        <p:spPr>
          <a:xfrm>
            <a:off x="2779690" y="4559231"/>
            <a:ext cx="1615382" cy="1266533"/>
          </a:xfrm>
          <a:prstGeom prst="roundRect">
            <a:avLst>
              <a:gd name="adj" fmla="val 3810"/>
            </a:avLst>
          </a:prstGeom>
          <a:solidFill>
            <a:srgbClr val="EAF3FA"/>
          </a:solidFill>
          <a:ln w="12700">
            <a:solidFill>
              <a:srgbClr val="D8DEE6">
                <a:alpha val="75000"/>
              </a:srgbClr>
            </a:solidFill>
            <a:prstDash val="solid"/>
          </a:ln>
        </p:spPr>
        <p:txBody>
          <a:bodyPr/>
          <a:lstStyle/>
          <a:p>
            <a:endParaRPr lang="en-GB" dirty="0">
              <a:latin typeface="Aptos" panose="020B0004020202020204" pitchFamily="34" charset="0"/>
            </a:endParaRPr>
          </a:p>
        </p:txBody>
      </p:sp>
      <p:sp>
        <p:nvSpPr>
          <p:cNvPr id="13" name="Text 11"/>
          <p:cNvSpPr/>
          <p:nvPr/>
        </p:nvSpPr>
        <p:spPr>
          <a:xfrm>
            <a:off x="2959522" y="4702648"/>
            <a:ext cx="258461" cy="223031"/>
          </a:xfrm>
          <a:prstGeom prst="rect">
            <a:avLst/>
          </a:prstGeom>
          <a:noFill/>
          <a:ln/>
        </p:spPr>
        <p:txBody>
          <a:bodyPr wrap="square" lIns="0" tIns="0" rIns="0" bIns="0" rtlCol="0" anchor="ctr"/>
          <a:lstStyle/>
          <a:p>
            <a:pPr marL="0" indent="0">
              <a:buNone/>
            </a:pPr>
            <a:r>
              <a:rPr lang="en-US" sz="1800" b="1" dirty="0">
                <a:solidFill>
                  <a:srgbClr val="1F77B4"/>
                </a:solidFill>
                <a:latin typeface="Aptos" panose="020B0004020202020204" pitchFamily="34" charset="0"/>
              </a:rPr>
              <a:t>2</a:t>
            </a:r>
            <a:endParaRPr lang="en-US" sz="1800" dirty="0">
              <a:latin typeface="Aptos" panose="020B0004020202020204" pitchFamily="34" charset="0"/>
            </a:endParaRPr>
          </a:p>
        </p:txBody>
      </p:sp>
      <p:sp>
        <p:nvSpPr>
          <p:cNvPr id="14" name="Text 12"/>
          <p:cNvSpPr/>
          <p:nvPr/>
        </p:nvSpPr>
        <p:spPr>
          <a:xfrm>
            <a:off x="2996192" y="4726642"/>
            <a:ext cx="1220511" cy="193294"/>
          </a:xfrm>
          <a:prstGeom prst="rect">
            <a:avLst/>
          </a:prstGeom>
          <a:noFill/>
          <a:ln/>
        </p:spPr>
        <p:txBody>
          <a:bodyPr wrap="square" lIns="0" tIns="0" rIns="0" bIns="0" rtlCol="0" anchor="ctr"/>
          <a:lstStyle/>
          <a:p>
            <a:pPr marL="0" indent="0" algn="ctr">
              <a:buNone/>
            </a:pPr>
            <a:r>
              <a:rPr lang="en-US" sz="1500" b="1" dirty="0">
                <a:solidFill>
                  <a:srgbClr val="12385B"/>
                </a:solidFill>
                <a:latin typeface="Aptos" panose="020B0004020202020204" pitchFamily="34" charset="0"/>
              </a:rPr>
              <a:t>Split</a:t>
            </a:r>
            <a:endParaRPr lang="en-US" sz="1500" dirty="0">
              <a:latin typeface="Aptos" panose="020B0004020202020204" pitchFamily="34" charset="0"/>
            </a:endParaRPr>
          </a:p>
        </p:txBody>
      </p:sp>
      <p:sp>
        <p:nvSpPr>
          <p:cNvPr id="15" name="Text 13"/>
          <p:cNvSpPr/>
          <p:nvPr/>
        </p:nvSpPr>
        <p:spPr>
          <a:xfrm>
            <a:off x="2940787" y="5223231"/>
            <a:ext cx="1292306" cy="371719"/>
          </a:xfrm>
          <a:prstGeom prst="rect">
            <a:avLst/>
          </a:prstGeom>
          <a:noFill/>
          <a:ln/>
        </p:spPr>
        <p:txBody>
          <a:bodyPr wrap="square" lIns="0" tIns="0" rIns="0" bIns="0" rtlCol="0" anchor="ctr">
            <a:normAutofit fontScale="92500"/>
          </a:bodyPr>
          <a:lstStyle/>
          <a:p>
            <a:pPr marL="0" indent="0" algn="ctr">
              <a:buNone/>
            </a:pPr>
            <a:r>
              <a:rPr lang="en-US" sz="970" dirty="0">
                <a:solidFill>
                  <a:srgbClr val="5B6770"/>
                </a:solidFill>
                <a:latin typeface="Aptos" panose="020B0004020202020204" pitchFamily="34" charset="0"/>
              </a:rPr>
              <a:t>60/20/20 train-validation-test with stratification</a:t>
            </a:r>
            <a:endParaRPr lang="en-US" sz="970" dirty="0">
              <a:latin typeface="Aptos" panose="020B0004020202020204" pitchFamily="34" charset="0"/>
            </a:endParaRPr>
          </a:p>
        </p:txBody>
      </p:sp>
      <p:sp>
        <p:nvSpPr>
          <p:cNvPr id="17" name="Shape 15"/>
          <p:cNvSpPr/>
          <p:nvPr/>
        </p:nvSpPr>
        <p:spPr>
          <a:xfrm>
            <a:off x="4273440" y="3641071"/>
            <a:ext cx="1615382" cy="1236125"/>
          </a:xfrm>
          <a:prstGeom prst="roundRect">
            <a:avLst>
              <a:gd name="adj" fmla="val 3810"/>
            </a:avLst>
          </a:prstGeom>
          <a:solidFill>
            <a:srgbClr val="E7F6F2"/>
          </a:solidFill>
          <a:ln w="12700">
            <a:solidFill>
              <a:srgbClr val="D8DEE6">
                <a:alpha val="75000"/>
              </a:srgbClr>
            </a:solidFill>
            <a:prstDash val="solid"/>
          </a:ln>
        </p:spPr>
        <p:txBody>
          <a:bodyPr/>
          <a:lstStyle/>
          <a:p>
            <a:endParaRPr lang="en-GB">
              <a:latin typeface="Aptos" panose="020B0004020202020204" pitchFamily="34" charset="0"/>
            </a:endParaRPr>
          </a:p>
        </p:txBody>
      </p:sp>
      <p:sp>
        <p:nvSpPr>
          <p:cNvPr id="18" name="Text 16"/>
          <p:cNvSpPr/>
          <p:nvPr/>
        </p:nvSpPr>
        <p:spPr>
          <a:xfrm>
            <a:off x="4386216" y="3833095"/>
            <a:ext cx="258461" cy="223031"/>
          </a:xfrm>
          <a:prstGeom prst="rect">
            <a:avLst/>
          </a:prstGeom>
          <a:noFill/>
          <a:ln/>
        </p:spPr>
        <p:txBody>
          <a:bodyPr wrap="square" lIns="0" tIns="0" rIns="0" bIns="0" rtlCol="0" anchor="ctr"/>
          <a:lstStyle/>
          <a:p>
            <a:pPr marL="0" indent="0">
              <a:buNone/>
            </a:pPr>
            <a:r>
              <a:rPr lang="en-US" sz="1800" b="1" dirty="0">
                <a:solidFill>
                  <a:srgbClr val="149C7E"/>
                </a:solidFill>
                <a:latin typeface="Aptos" panose="020B0004020202020204" pitchFamily="34" charset="0"/>
              </a:rPr>
              <a:t>3</a:t>
            </a:r>
            <a:endParaRPr lang="en-US" sz="1800" dirty="0">
              <a:latin typeface="Aptos" panose="020B0004020202020204" pitchFamily="34" charset="0"/>
            </a:endParaRPr>
          </a:p>
        </p:txBody>
      </p:sp>
      <p:sp>
        <p:nvSpPr>
          <p:cNvPr id="19" name="Text 17"/>
          <p:cNvSpPr/>
          <p:nvPr/>
        </p:nvSpPr>
        <p:spPr>
          <a:xfrm>
            <a:off x="4537731" y="3862626"/>
            <a:ext cx="1220511" cy="193294"/>
          </a:xfrm>
          <a:prstGeom prst="rect">
            <a:avLst/>
          </a:prstGeom>
          <a:noFill/>
          <a:ln/>
        </p:spPr>
        <p:txBody>
          <a:bodyPr wrap="square" lIns="0" tIns="0" rIns="0" bIns="0" rtlCol="0" anchor="ctr"/>
          <a:lstStyle/>
          <a:p>
            <a:pPr marL="0" indent="0" algn="ctr">
              <a:buNone/>
            </a:pPr>
            <a:r>
              <a:rPr lang="en-US" sz="1500" b="1" dirty="0">
                <a:solidFill>
                  <a:srgbClr val="12385B"/>
                </a:solidFill>
                <a:latin typeface="Aptos" panose="020B0004020202020204" pitchFamily="34" charset="0"/>
              </a:rPr>
              <a:t>Pipelines</a:t>
            </a:r>
            <a:endParaRPr lang="en-US" sz="1500" dirty="0">
              <a:latin typeface="Aptos" panose="020B0004020202020204" pitchFamily="34" charset="0"/>
            </a:endParaRPr>
          </a:p>
        </p:txBody>
      </p:sp>
      <p:sp>
        <p:nvSpPr>
          <p:cNvPr id="20" name="Text 18"/>
          <p:cNvSpPr/>
          <p:nvPr/>
        </p:nvSpPr>
        <p:spPr>
          <a:xfrm>
            <a:off x="4493574" y="4220973"/>
            <a:ext cx="1292306" cy="371719"/>
          </a:xfrm>
          <a:prstGeom prst="rect">
            <a:avLst/>
          </a:prstGeom>
          <a:noFill/>
          <a:ln/>
        </p:spPr>
        <p:txBody>
          <a:bodyPr wrap="square" lIns="0" tIns="0" rIns="0" bIns="0" rtlCol="0" anchor="ctr">
            <a:normAutofit fontScale="92500" lnSpcReduction="10000"/>
          </a:bodyPr>
          <a:lstStyle/>
          <a:p>
            <a:pPr marL="0" indent="0" algn="ctr">
              <a:buNone/>
            </a:pPr>
            <a:r>
              <a:rPr lang="en-US" sz="970" dirty="0">
                <a:solidFill>
                  <a:srgbClr val="5B6770"/>
                </a:solidFill>
                <a:latin typeface="Aptos" panose="020B0004020202020204" pitchFamily="34" charset="0"/>
              </a:rPr>
              <a:t>Model-specific preprocessing to avoid leakage</a:t>
            </a:r>
            <a:endParaRPr lang="en-US" sz="970" dirty="0">
              <a:latin typeface="Aptos" panose="020B0004020202020204" pitchFamily="34" charset="0"/>
            </a:endParaRPr>
          </a:p>
        </p:txBody>
      </p:sp>
      <p:sp>
        <p:nvSpPr>
          <p:cNvPr id="22" name="Shape 20"/>
          <p:cNvSpPr/>
          <p:nvPr/>
        </p:nvSpPr>
        <p:spPr>
          <a:xfrm>
            <a:off x="5594410" y="4557585"/>
            <a:ext cx="1615382" cy="1280033"/>
          </a:xfrm>
          <a:prstGeom prst="roundRect">
            <a:avLst>
              <a:gd name="adj" fmla="val 3810"/>
            </a:avLst>
          </a:prstGeom>
          <a:solidFill>
            <a:srgbClr val="EAF3FA"/>
          </a:solidFill>
          <a:ln w="12700">
            <a:solidFill>
              <a:srgbClr val="D8DEE6">
                <a:alpha val="75000"/>
              </a:srgbClr>
            </a:solidFill>
            <a:prstDash val="solid"/>
          </a:ln>
        </p:spPr>
        <p:txBody>
          <a:bodyPr/>
          <a:lstStyle/>
          <a:p>
            <a:endParaRPr lang="en-GB">
              <a:latin typeface="Aptos" panose="020B0004020202020204" pitchFamily="34" charset="0"/>
            </a:endParaRPr>
          </a:p>
        </p:txBody>
      </p:sp>
      <p:sp>
        <p:nvSpPr>
          <p:cNvPr id="23" name="Text 21"/>
          <p:cNvSpPr/>
          <p:nvPr/>
        </p:nvSpPr>
        <p:spPr>
          <a:xfrm>
            <a:off x="5704138" y="4758272"/>
            <a:ext cx="258461" cy="223031"/>
          </a:xfrm>
          <a:prstGeom prst="rect">
            <a:avLst/>
          </a:prstGeom>
          <a:noFill/>
          <a:ln/>
        </p:spPr>
        <p:txBody>
          <a:bodyPr wrap="square" lIns="0" tIns="0" rIns="0" bIns="0" rtlCol="0" anchor="ctr"/>
          <a:lstStyle/>
          <a:p>
            <a:pPr marL="0" indent="0">
              <a:buNone/>
            </a:pPr>
            <a:r>
              <a:rPr lang="en-US" sz="1800" b="1" dirty="0">
                <a:solidFill>
                  <a:srgbClr val="1F77B4"/>
                </a:solidFill>
                <a:latin typeface="Aptos" panose="020B0004020202020204" pitchFamily="34" charset="0"/>
              </a:rPr>
              <a:t>4</a:t>
            </a:r>
            <a:endParaRPr lang="en-US" sz="1800" dirty="0">
              <a:latin typeface="Aptos" panose="020B0004020202020204" pitchFamily="34" charset="0"/>
            </a:endParaRPr>
          </a:p>
        </p:txBody>
      </p:sp>
      <p:sp>
        <p:nvSpPr>
          <p:cNvPr id="24" name="Text 22"/>
          <p:cNvSpPr/>
          <p:nvPr/>
        </p:nvSpPr>
        <p:spPr>
          <a:xfrm>
            <a:off x="5823010" y="4799972"/>
            <a:ext cx="1220511" cy="193294"/>
          </a:xfrm>
          <a:prstGeom prst="rect">
            <a:avLst/>
          </a:prstGeom>
          <a:noFill/>
          <a:ln/>
        </p:spPr>
        <p:txBody>
          <a:bodyPr wrap="square" lIns="0" tIns="0" rIns="0" bIns="0" rtlCol="0" anchor="ctr"/>
          <a:lstStyle/>
          <a:p>
            <a:pPr marL="0" indent="0" algn="ctr">
              <a:buNone/>
            </a:pPr>
            <a:r>
              <a:rPr lang="en-US" sz="1500" b="1" dirty="0">
                <a:solidFill>
                  <a:srgbClr val="12385B"/>
                </a:solidFill>
                <a:latin typeface="Aptos" panose="020B0004020202020204" pitchFamily="34" charset="0"/>
              </a:rPr>
              <a:t>Models</a:t>
            </a:r>
            <a:endParaRPr lang="en-US" sz="1500" dirty="0">
              <a:latin typeface="Aptos" panose="020B0004020202020204" pitchFamily="34" charset="0"/>
            </a:endParaRPr>
          </a:p>
        </p:txBody>
      </p:sp>
      <p:sp>
        <p:nvSpPr>
          <p:cNvPr id="25" name="Text 23"/>
          <p:cNvSpPr/>
          <p:nvPr/>
        </p:nvSpPr>
        <p:spPr>
          <a:xfrm>
            <a:off x="5768146" y="5184315"/>
            <a:ext cx="1292306" cy="371719"/>
          </a:xfrm>
          <a:prstGeom prst="rect">
            <a:avLst/>
          </a:prstGeom>
          <a:noFill/>
          <a:ln/>
        </p:spPr>
        <p:txBody>
          <a:bodyPr wrap="square" lIns="0" tIns="0" rIns="0" bIns="0" rtlCol="0" anchor="ctr">
            <a:normAutofit fontScale="92500" lnSpcReduction="10000"/>
          </a:bodyPr>
          <a:lstStyle/>
          <a:p>
            <a:pPr marL="0" indent="0" algn="ctr">
              <a:buNone/>
            </a:pPr>
            <a:r>
              <a:rPr lang="en-US" sz="970" dirty="0">
                <a:solidFill>
                  <a:srgbClr val="5B6770"/>
                </a:solidFill>
                <a:latin typeface="Aptos" panose="020B0004020202020204" pitchFamily="34" charset="0"/>
              </a:rPr>
              <a:t>Baseline, Logistic Regression, Random Forest</a:t>
            </a:r>
            <a:endParaRPr lang="en-US" sz="970" dirty="0">
              <a:latin typeface="Aptos" panose="020B0004020202020204" pitchFamily="34" charset="0"/>
            </a:endParaRPr>
          </a:p>
        </p:txBody>
      </p:sp>
      <p:sp>
        <p:nvSpPr>
          <p:cNvPr id="27" name="Shape 25"/>
          <p:cNvSpPr/>
          <p:nvPr/>
        </p:nvSpPr>
        <p:spPr>
          <a:xfrm>
            <a:off x="7025698" y="3565503"/>
            <a:ext cx="1615382" cy="1305447"/>
          </a:xfrm>
          <a:prstGeom prst="roundRect">
            <a:avLst>
              <a:gd name="adj" fmla="val 3810"/>
            </a:avLst>
          </a:prstGeom>
          <a:solidFill>
            <a:srgbClr val="E7F6F2"/>
          </a:solidFill>
          <a:ln w="12700">
            <a:solidFill>
              <a:srgbClr val="D8DEE6">
                <a:alpha val="75000"/>
              </a:srgbClr>
            </a:solidFill>
            <a:prstDash val="solid"/>
          </a:ln>
        </p:spPr>
        <p:txBody>
          <a:bodyPr/>
          <a:lstStyle/>
          <a:p>
            <a:endParaRPr lang="en-GB">
              <a:latin typeface="Aptos" panose="020B0004020202020204" pitchFamily="34" charset="0"/>
            </a:endParaRPr>
          </a:p>
        </p:txBody>
      </p:sp>
      <p:sp>
        <p:nvSpPr>
          <p:cNvPr id="28" name="Text 26"/>
          <p:cNvSpPr/>
          <p:nvPr/>
        </p:nvSpPr>
        <p:spPr>
          <a:xfrm>
            <a:off x="7121624" y="3757527"/>
            <a:ext cx="258461" cy="223031"/>
          </a:xfrm>
          <a:prstGeom prst="rect">
            <a:avLst/>
          </a:prstGeom>
          <a:noFill/>
          <a:ln/>
        </p:spPr>
        <p:txBody>
          <a:bodyPr wrap="square" lIns="0" tIns="0" rIns="0" bIns="0" rtlCol="0" anchor="ctr"/>
          <a:lstStyle/>
          <a:p>
            <a:pPr marL="0" indent="0">
              <a:buNone/>
            </a:pPr>
            <a:r>
              <a:rPr lang="en-US" sz="1800" b="1" dirty="0">
                <a:solidFill>
                  <a:srgbClr val="149C7E"/>
                </a:solidFill>
                <a:latin typeface="Aptos" panose="020B0004020202020204" pitchFamily="34" charset="0"/>
              </a:rPr>
              <a:t>5</a:t>
            </a:r>
            <a:endParaRPr lang="en-US" sz="1800" dirty="0">
              <a:latin typeface="Aptos" panose="020B0004020202020204" pitchFamily="34" charset="0"/>
            </a:endParaRPr>
          </a:p>
        </p:txBody>
      </p:sp>
      <p:sp>
        <p:nvSpPr>
          <p:cNvPr id="29" name="Text 27"/>
          <p:cNvSpPr/>
          <p:nvPr/>
        </p:nvSpPr>
        <p:spPr>
          <a:xfrm>
            <a:off x="7250854" y="3773137"/>
            <a:ext cx="1220511" cy="193294"/>
          </a:xfrm>
          <a:prstGeom prst="rect">
            <a:avLst/>
          </a:prstGeom>
          <a:noFill/>
          <a:ln/>
        </p:spPr>
        <p:txBody>
          <a:bodyPr wrap="square" lIns="0" tIns="0" rIns="0" bIns="0" rtlCol="0" anchor="ctr"/>
          <a:lstStyle/>
          <a:p>
            <a:pPr marL="0" indent="0" algn="ctr">
              <a:buNone/>
            </a:pPr>
            <a:r>
              <a:rPr lang="en-US" sz="1500" b="1" dirty="0">
                <a:solidFill>
                  <a:srgbClr val="12385B"/>
                </a:solidFill>
                <a:latin typeface="Aptos" panose="020B0004020202020204" pitchFamily="34" charset="0"/>
              </a:rPr>
              <a:t>Interpret</a:t>
            </a:r>
            <a:endParaRPr lang="en-US" sz="1500" dirty="0">
              <a:latin typeface="Aptos" panose="020B0004020202020204" pitchFamily="34" charset="0"/>
            </a:endParaRPr>
          </a:p>
        </p:txBody>
      </p:sp>
      <p:sp>
        <p:nvSpPr>
          <p:cNvPr id="30" name="Text 28"/>
          <p:cNvSpPr/>
          <p:nvPr/>
        </p:nvSpPr>
        <p:spPr>
          <a:xfrm>
            <a:off x="7214956" y="4181920"/>
            <a:ext cx="1292306" cy="371719"/>
          </a:xfrm>
          <a:prstGeom prst="rect">
            <a:avLst/>
          </a:prstGeom>
          <a:noFill/>
          <a:ln/>
        </p:spPr>
        <p:txBody>
          <a:bodyPr wrap="square" lIns="0" tIns="0" rIns="0" bIns="0" rtlCol="0" anchor="ctr">
            <a:normAutofit fontScale="92500" lnSpcReduction="10000"/>
          </a:bodyPr>
          <a:lstStyle/>
          <a:p>
            <a:pPr marL="0" indent="0" algn="ctr">
              <a:buNone/>
            </a:pPr>
            <a:r>
              <a:rPr lang="en-US" sz="970" dirty="0">
                <a:solidFill>
                  <a:srgbClr val="5B6770"/>
                </a:solidFill>
                <a:latin typeface="Aptos" panose="020B0004020202020204" pitchFamily="34" charset="0"/>
              </a:rPr>
              <a:t>Feature selection, permutation importance, SHAP</a:t>
            </a:r>
            <a:endParaRPr lang="en-US" sz="970" dirty="0">
              <a:latin typeface="Aptos" panose="020B0004020202020204" pitchFamily="34" charset="0"/>
            </a:endParaRPr>
          </a:p>
        </p:txBody>
      </p:sp>
      <p:sp>
        <p:nvSpPr>
          <p:cNvPr id="31" name="Text 29"/>
          <p:cNvSpPr/>
          <p:nvPr/>
        </p:nvSpPr>
        <p:spPr>
          <a:xfrm>
            <a:off x="502920" y="1181261"/>
            <a:ext cx="2560320" cy="228600"/>
          </a:xfrm>
          <a:prstGeom prst="rect">
            <a:avLst/>
          </a:prstGeom>
          <a:noFill/>
          <a:ln/>
        </p:spPr>
        <p:txBody>
          <a:bodyPr wrap="square" lIns="0" tIns="0" rIns="0" bIns="0" rtlCol="0" anchor="ctr"/>
          <a:lstStyle/>
          <a:p>
            <a:pPr marL="0" indent="0">
              <a:buNone/>
            </a:pPr>
            <a:r>
              <a:rPr lang="en-US" sz="1400" b="1" dirty="0">
                <a:solidFill>
                  <a:srgbClr val="12385B"/>
                </a:solidFill>
                <a:latin typeface="Aptos" panose="020B0004020202020204" pitchFamily="34" charset="0"/>
              </a:rPr>
              <a:t>Evaluation metrics used:</a:t>
            </a:r>
            <a:endParaRPr lang="en-US" sz="1400" dirty="0">
              <a:latin typeface="Aptos" panose="020B0004020202020204" pitchFamily="34" charset="0"/>
            </a:endParaRPr>
          </a:p>
        </p:txBody>
      </p:sp>
      <p:sp>
        <p:nvSpPr>
          <p:cNvPr id="32" name="Text 30"/>
          <p:cNvSpPr/>
          <p:nvPr/>
        </p:nvSpPr>
        <p:spPr>
          <a:xfrm>
            <a:off x="502920" y="1592741"/>
            <a:ext cx="5385902" cy="502920"/>
          </a:xfrm>
          <a:prstGeom prst="rect">
            <a:avLst/>
          </a:prstGeom>
          <a:noFill/>
          <a:ln/>
        </p:spPr>
        <p:txBody>
          <a:bodyPr wrap="square" lIns="0" tIns="0" rIns="0" bIns="0" rtlCol="0" anchor="ctr">
            <a:normAutofit/>
          </a:bodyPr>
          <a:lstStyle/>
          <a:p>
            <a:pPr marL="0" indent="0">
              <a:buNone/>
            </a:pPr>
            <a:r>
              <a:rPr lang="en-US" sz="1500" b="1" dirty="0">
                <a:solidFill>
                  <a:srgbClr val="12385B"/>
                </a:solidFill>
                <a:latin typeface="Aptos" panose="020B0004020202020204" pitchFamily="34" charset="0"/>
              </a:rPr>
              <a:t>Accuracy · Balanced accuracy · Precision · Recall · F1-score · ROC-AUC · PR-AUC</a:t>
            </a:r>
            <a:endParaRPr lang="en-US" sz="1500" dirty="0">
              <a:latin typeface="Aptos" panose="020B0004020202020204" pitchFamily="34" charset="0"/>
            </a:endParaRPr>
          </a:p>
        </p:txBody>
      </p:sp>
      <p:sp>
        <p:nvSpPr>
          <p:cNvPr id="34" name="Text 32"/>
          <p:cNvSpPr/>
          <p:nvPr/>
        </p:nvSpPr>
        <p:spPr>
          <a:xfrm>
            <a:off x="502920" y="2406595"/>
            <a:ext cx="2834640" cy="182880"/>
          </a:xfrm>
          <a:prstGeom prst="rect">
            <a:avLst/>
          </a:prstGeom>
          <a:noFill/>
          <a:ln/>
        </p:spPr>
        <p:txBody>
          <a:bodyPr wrap="square" lIns="0" tIns="0" rIns="0" bIns="0" rtlCol="0" anchor="ctr"/>
          <a:lstStyle/>
          <a:p>
            <a:pPr marL="0" indent="0">
              <a:buNone/>
            </a:pPr>
            <a:r>
              <a:rPr lang="en-US" sz="1200" b="1" dirty="0">
                <a:solidFill>
                  <a:srgbClr val="149C7E"/>
                </a:solidFill>
                <a:latin typeface="Aptos" panose="020B0004020202020204" pitchFamily="34" charset="0"/>
              </a:rPr>
              <a:t>Main Idea:</a:t>
            </a:r>
            <a:endParaRPr lang="en-US" sz="1200" dirty="0">
              <a:latin typeface="Aptos" panose="020B0004020202020204" pitchFamily="34" charset="0"/>
            </a:endParaRPr>
          </a:p>
        </p:txBody>
      </p:sp>
      <p:sp>
        <p:nvSpPr>
          <p:cNvPr id="35" name="Text 33"/>
          <p:cNvSpPr/>
          <p:nvPr/>
        </p:nvSpPr>
        <p:spPr>
          <a:xfrm>
            <a:off x="502920" y="2717491"/>
            <a:ext cx="4160520" cy="411480"/>
          </a:xfrm>
          <a:prstGeom prst="rect">
            <a:avLst/>
          </a:prstGeom>
          <a:noFill/>
          <a:ln/>
        </p:spPr>
        <p:txBody>
          <a:bodyPr wrap="square" lIns="0" tIns="0" rIns="0" bIns="0" rtlCol="0" anchor="ctr">
            <a:normAutofit/>
          </a:bodyPr>
          <a:lstStyle/>
          <a:p>
            <a:pPr marL="0" indent="0">
              <a:buNone/>
            </a:pPr>
            <a:r>
              <a:rPr lang="en-US" sz="1150" dirty="0">
                <a:solidFill>
                  <a:srgbClr val="1F2933"/>
                </a:solidFill>
                <a:latin typeface="Aptos" panose="020B0004020202020204" pitchFamily="34" charset="0"/>
              </a:rPr>
              <a:t>Fit preprocessing only on training data; compare models on validation; report final performance on the held-out test set.</a:t>
            </a:r>
            <a:endParaRPr lang="en-US" sz="1150" dirty="0">
              <a:latin typeface="Aptos"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9C7E"/>
          </a:solidFill>
          <a:ln w="12700">
            <a:solidFill>
              <a:srgbClr val="149C7E"/>
            </a:solidFill>
            <a:prstDash val="solid"/>
          </a:ln>
        </p:spPr>
        <p:txBody>
          <a:bodyPr/>
          <a:lstStyle/>
          <a:p>
            <a:endParaRPr lang="en-GB"/>
          </a:p>
        </p:txBody>
      </p:sp>
      <p:sp>
        <p:nvSpPr>
          <p:cNvPr id="3" name="Text 1"/>
          <p:cNvSpPr/>
          <p:nvPr/>
        </p:nvSpPr>
        <p:spPr>
          <a:xfrm>
            <a:off x="502920" y="310896"/>
            <a:ext cx="8138160" cy="384048"/>
          </a:xfrm>
          <a:prstGeom prst="rect">
            <a:avLst/>
          </a:prstGeom>
          <a:noFill/>
          <a:ln/>
        </p:spPr>
        <p:txBody>
          <a:bodyPr wrap="square" lIns="0" tIns="0" rIns="0" bIns="0" rtlCol="0" anchor="ctr"/>
          <a:lstStyle/>
          <a:p>
            <a:pPr marL="0" indent="0">
              <a:buNone/>
            </a:pPr>
            <a:r>
              <a:rPr lang="en-US" sz="2600" b="1" dirty="0">
                <a:solidFill>
                  <a:srgbClr val="12385B"/>
                </a:solidFill>
                <a:latin typeface="Aptos" panose="020B0004020202020204" pitchFamily="34" charset="0"/>
                <a:ea typeface="Aptos Display" pitchFamily="34" charset="-122"/>
                <a:cs typeface="Aptos Display" pitchFamily="34" charset="-120"/>
              </a:rPr>
              <a:t>Preprocessing and Architectural Decisions</a:t>
            </a:r>
            <a:endParaRPr lang="en-US" sz="2600" dirty="0">
              <a:latin typeface="Aptos" panose="020B0004020202020204" pitchFamily="34" charset="0"/>
            </a:endParaRPr>
          </a:p>
        </p:txBody>
      </p:sp>
      <p:sp>
        <p:nvSpPr>
          <p:cNvPr id="4" name="Text 2"/>
          <p:cNvSpPr/>
          <p:nvPr/>
        </p:nvSpPr>
        <p:spPr>
          <a:xfrm>
            <a:off x="521208" y="749808"/>
            <a:ext cx="10789920" cy="237744"/>
          </a:xfrm>
          <a:prstGeom prst="rect">
            <a:avLst/>
          </a:prstGeom>
          <a:noFill/>
          <a:ln/>
        </p:spPr>
        <p:txBody>
          <a:bodyPr wrap="square" lIns="0" tIns="0" rIns="0" bIns="0" rtlCol="0" anchor="ctr"/>
          <a:lstStyle/>
          <a:p>
            <a:pPr marL="0" indent="0">
              <a:buNone/>
            </a:pPr>
            <a:r>
              <a:rPr lang="en-US" sz="1050" dirty="0">
                <a:solidFill>
                  <a:srgbClr val="5B6770"/>
                </a:solidFill>
                <a:latin typeface="Aptos" panose="020B0004020202020204" pitchFamily="34" charset="0"/>
              </a:rPr>
              <a:t>Separate pipelines were built because Logistic Regression and Random Forest need different transformations.</a:t>
            </a:r>
            <a:endParaRPr lang="en-US" sz="1050" dirty="0">
              <a:latin typeface="Aptos" panose="020B0004020202020204" pitchFamily="34" charset="0"/>
            </a:endParaRPr>
          </a:p>
        </p:txBody>
      </p:sp>
      <p:sp>
        <p:nvSpPr>
          <p:cNvPr id="5" name="Text 3"/>
          <p:cNvSpPr/>
          <p:nvPr/>
        </p:nvSpPr>
        <p:spPr>
          <a:xfrm>
            <a:off x="502920" y="6483096"/>
            <a:ext cx="4572000" cy="164592"/>
          </a:xfrm>
          <a:prstGeom prst="rect">
            <a:avLst/>
          </a:prstGeom>
          <a:noFill/>
          <a:ln/>
        </p:spPr>
        <p:txBody>
          <a:bodyPr wrap="square" lIns="0" tIns="0" rIns="0" bIns="0" rtlCol="0" anchor="ctr"/>
          <a:lstStyle/>
          <a:p>
            <a:pPr marL="0" indent="0">
              <a:buNone/>
            </a:pPr>
            <a:r>
              <a:rPr lang="en-US" sz="800" dirty="0">
                <a:solidFill>
                  <a:srgbClr val="7B8794"/>
                </a:solidFill>
              </a:rPr>
              <a:t>Bank Marketing Subscription Prediction</a:t>
            </a:r>
            <a:endParaRPr lang="en-US" sz="800" dirty="0"/>
          </a:p>
        </p:txBody>
      </p:sp>
      <p:sp>
        <p:nvSpPr>
          <p:cNvPr id="6" name="Text 4"/>
          <p:cNvSpPr/>
          <p:nvPr/>
        </p:nvSpPr>
        <p:spPr>
          <a:xfrm>
            <a:off x="11384280" y="6464808"/>
            <a:ext cx="320040" cy="164592"/>
          </a:xfrm>
          <a:prstGeom prst="rect">
            <a:avLst/>
          </a:prstGeom>
          <a:noFill/>
          <a:ln/>
        </p:spPr>
        <p:txBody>
          <a:bodyPr wrap="square" lIns="0" tIns="0" rIns="0" bIns="0" rtlCol="0" anchor="ctr"/>
          <a:lstStyle/>
          <a:p>
            <a:pPr marL="0" indent="0" algn="r">
              <a:buNone/>
            </a:pPr>
            <a:r>
              <a:rPr lang="en-US" sz="800" dirty="0">
                <a:solidFill>
                  <a:srgbClr val="7B8794"/>
                </a:solidFill>
              </a:rPr>
              <a:t>05</a:t>
            </a:r>
            <a:endParaRPr lang="en-US" sz="800" dirty="0"/>
          </a:p>
        </p:txBody>
      </p:sp>
      <p:sp>
        <p:nvSpPr>
          <p:cNvPr id="7" name="Shape 5"/>
          <p:cNvSpPr/>
          <p:nvPr/>
        </p:nvSpPr>
        <p:spPr>
          <a:xfrm>
            <a:off x="640080" y="1188720"/>
            <a:ext cx="3337560" cy="4206240"/>
          </a:xfrm>
          <a:prstGeom prst="roundRect">
            <a:avLst>
              <a:gd name="adj" fmla="val 2192"/>
            </a:avLst>
          </a:prstGeom>
          <a:solidFill>
            <a:srgbClr val="E7F6F2"/>
          </a:solidFill>
          <a:ln w="12700">
            <a:solidFill>
              <a:srgbClr val="D8DEE6">
                <a:alpha val="65000"/>
              </a:srgbClr>
            </a:solidFill>
            <a:prstDash val="solid"/>
          </a:ln>
        </p:spPr>
        <p:txBody>
          <a:bodyPr/>
          <a:lstStyle/>
          <a:p>
            <a:endParaRPr lang="en-GB">
              <a:latin typeface="Aptos" panose="020B0004020202020204" pitchFamily="34" charset="0"/>
            </a:endParaRPr>
          </a:p>
        </p:txBody>
      </p:sp>
      <p:sp>
        <p:nvSpPr>
          <p:cNvPr id="8" name="Text 6"/>
          <p:cNvSpPr/>
          <p:nvPr/>
        </p:nvSpPr>
        <p:spPr>
          <a:xfrm>
            <a:off x="914400" y="1572768"/>
            <a:ext cx="1828800" cy="228600"/>
          </a:xfrm>
          <a:prstGeom prst="rect">
            <a:avLst/>
          </a:prstGeom>
          <a:noFill/>
          <a:ln/>
        </p:spPr>
        <p:txBody>
          <a:bodyPr wrap="square" lIns="0" tIns="0" rIns="0" bIns="0" rtlCol="0" anchor="ctr"/>
          <a:lstStyle/>
          <a:p>
            <a:pPr marL="0" indent="0">
              <a:buNone/>
            </a:pPr>
            <a:r>
              <a:rPr lang="en-US" sz="1400" b="1" dirty="0">
                <a:solidFill>
                  <a:srgbClr val="12385B"/>
                </a:solidFill>
                <a:latin typeface="Aptos" panose="020B0004020202020204" pitchFamily="34" charset="0"/>
              </a:rPr>
              <a:t>Data split</a:t>
            </a:r>
            <a:endParaRPr lang="en-US" sz="1400" dirty="0">
              <a:latin typeface="Aptos" panose="020B0004020202020204" pitchFamily="34" charset="0"/>
            </a:endParaRPr>
          </a:p>
        </p:txBody>
      </p:sp>
      <p:sp>
        <p:nvSpPr>
          <p:cNvPr id="9" name="Text 7"/>
          <p:cNvSpPr/>
          <p:nvPr/>
        </p:nvSpPr>
        <p:spPr>
          <a:xfrm>
            <a:off x="914400" y="2057400"/>
            <a:ext cx="2606040" cy="1417320"/>
          </a:xfrm>
          <a:prstGeom prst="rect">
            <a:avLst/>
          </a:prstGeom>
          <a:noFill/>
          <a:ln/>
        </p:spPr>
        <p:txBody>
          <a:bodyPr wrap="square" lIns="254" tIns="254" rIns="254" bIns="254" rtlCol="0" anchor="t">
            <a:normAutofit/>
          </a:bodyPr>
          <a:lstStyle/>
          <a:p>
            <a:pPr marL="0" indent="0">
              <a:buNone/>
            </a:pPr>
            <a:r>
              <a:rPr lang="en-US" sz="1250" dirty="0">
                <a:solidFill>
                  <a:srgbClr val="1F2933"/>
                </a:solidFill>
                <a:latin typeface="Aptos" panose="020B0004020202020204" pitchFamily="34" charset="0"/>
              </a:rPr>
              <a:t>• Training: 60%</a:t>
            </a:r>
            <a:endParaRPr lang="en-US" sz="1250" dirty="0">
              <a:latin typeface="Aptos" panose="020B0004020202020204" pitchFamily="34" charset="0"/>
            </a:endParaRPr>
          </a:p>
          <a:p>
            <a:pPr marL="0" indent="0">
              <a:buNone/>
            </a:pPr>
            <a:r>
              <a:rPr lang="en-US" sz="1250" dirty="0">
                <a:solidFill>
                  <a:srgbClr val="1F2933"/>
                </a:solidFill>
                <a:latin typeface="Aptos" panose="020B0004020202020204" pitchFamily="34" charset="0"/>
              </a:rPr>
              <a:t>• Validation: 20%</a:t>
            </a:r>
            <a:endParaRPr lang="en-US" sz="1250" dirty="0">
              <a:latin typeface="Aptos" panose="020B0004020202020204" pitchFamily="34" charset="0"/>
            </a:endParaRPr>
          </a:p>
          <a:p>
            <a:pPr marL="0" indent="0">
              <a:buNone/>
            </a:pPr>
            <a:r>
              <a:rPr lang="en-US" sz="1250" dirty="0">
                <a:solidFill>
                  <a:srgbClr val="1F2933"/>
                </a:solidFill>
                <a:latin typeface="Aptos" panose="020B0004020202020204" pitchFamily="34" charset="0"/>
              </a:rPr>
              <a:t>• Test: 20%</a:t>
            </a:r>
            <a:endParaRPr lang="en-US" sz="1250" dirty="0">
              <a:latin typeface="Aptos" panose="020B0004020202020204" pitchFamily="34" charset="0"/>
            </a:endParaRPr>
          </a:p>
          <a:p>
            <a:pPr marL="0" indent="0">
              <a:buNone/>
            </a:pPr>
            <a:r>
              <a:rPr lang="en-US" sz="1250" dirty="0">
                <a:solidFill>
                  <a:srgbClr val="1F2933"/>
                </a:solidFill>
                <a:latin typeface="Aptos" panose="020B0004020202020204" pitchFamily="34" charset="0"/>
              </a:rPr>
              <a:t>• Stratified by target class</a:t>
            </a:r>
            <a:endParaRPr lang="en-US" sz="1250" dirty="0">
              <a:latin typeface="Aptos" panose="020B0004020202020204" pitchFamily="34" charset="0"/>
            </a:endParaRPr>
          </a:p>
        </p:txBody>
      </p:sp>
      <p:sp>
        <p:nvSpPr>
          <p:cNvPr id="10" name="Shape 8"/>
          <p:cNvSpPr/>
          <p:nvPr/>
        </p:nvSpPr>
        <p:spPr>
          <a:xfrm>
            <a:off x="960120" y="4069080"/>
            <a:ext cx="214884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11" name="Shape 9"/>
          <p:cNvSpPr/>
          <p:nvPr/>
        </p:nvSpPr>
        <p:spPr>
          <a:xfrm>
            <a:off x="960120" y="4069080"/>
            <a:ext cx="54864" cy="777240"/>
          </a:xfrm>
          <a:prstGeom prst="rect">
            <a:avLst/>
          </a:prstGeom>
          <a:solidFill>
            <a:srgbClr val="149C7E"/>
          </a:solidFill>
          <a:ln w="12700">
            <a:solidFill>
              <a:srgbClr val="149C7E"/>
            </a:solidFill>
            <a:prstDash val="solid"/>
          </a:ln>
        </p:spPr>
        <p:txBody>
          <a:bodyPr/>
          <a:lstStyle/>
          <a:p>
            <a:endParaRPr lang="en-GB">
              <a:latin typeface="Aptos" panose="020B0004020202020204" pitchFamily="34" charset="0"/>
            </a:endParaRPr>
          </a:p>
        </p:txBody>
      </p:sp>
      <p:sp>
        <p:nvSpPr>
          <p:cNvPr id="12" name="Text 10"/>
          <p:cNvSpPr/>
          <p:nvPr/>
        </p:nvSpPr>
        <p:spPr>
          <a:xfrm>
            <a:off x="1106424" y="4197096"/>
            <a:ext cx="1947672" cy="256032"/>
          </a:xfrm>
          <a:prstGeom prst="rect">
            <a:avLst/>
          </a:prstGeom>
          <a:noFill/>
          <a:ln/>
        </p:spPr>
        <p:txBody>
          <a:bodyPr wrap="square" lIns="0" tIns="0" rIns="0" bIns="0" rtlCol="0" anchor="ctr"/>
          <a:lstStyle/>
          <a:p>
            <a:pPr marL="0" indent="0" algn="ctr">
              <a:buNone/>
            </a:pPr>
            <a:r>
              <a:rPr lang="en-US" sz="1800" b="1" dirty="0">
                <a:solidFill>
                  <a:srgbClr val="149C7E"/>
                </a:solidFill>
                <a:latin typeface="Aptos" panose="020B0004020202020204" pitchFamily="34" charset="0"/>
              </a:rPr>
              <a:t>≈11.7%</a:t>
            </a:r>
            <a:endParaRPr lang="en-US" sz="1800" dirty="0">
              <a:latin typeface="Aptos" panose="020B0004020202020204" pitchFamily="34" charset="0"/>
            </a:endParaRPr>
          </a:p>
        </p:txBody>
      </p:sp>
      <p:sp>
        <p:nvSpPr>
          <p:cNvPr id="13" name="Text 11"/>
          <p:cNvSpPr/>
          <p:nvPr/>
        </p:nvSpPr>
        <p:spPr>
          <a:xfrm>
            <a:off x="1069848" y="4507992"/>
            <a:ext cx="196596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positive rate retained</a:t>
            </a:r>
            <a:endParaRPr lang="en-US" sz="850" dirty="0">
              <a:latin typeface="Aptos" panose="020B0004020202020204" pitchFamily="34" charset="0"/>
            </a:endParaRPr>
          </a:p>
        </p:txBody>
      </p:sp>
      <p:sp>
        <p:nvSpPr>
          <p:cNvPr id="14" name="Shape 12"/>
          <p:cNvSpPr/>
          <p:nvPr/>
        </p:nvSpPr>
        <p:spPr>
          <a:xfrm>
            <a:off x="4343400" y="1188720"/>
            <a:ext cx="3337560" cy="4206240"/>
          </a:xfrm>
          <a:prstGeom prst="roundRect">
            <a:avLst>
              <a:gd name="adj" fmla="val 2192"/>
            </a:avLst>
          </a:prstGeom>
          <a:solidFill>
            <a:srgbClr val="EAF3FA"/>
          </a:solidFill>
          <a:ln w="12700">
            <a:solidFill>
              <a:srgbClr val="D8DEE6">
                <a:alpha val="65000"/>
              </a:srgbClr>
            </a:solidFill>
            <a:prstDash val="solid"/>
          </a:ln>
        </p:spPr>
        <p:txBody>
          <a:bodyPr/>
          <a:lstStyle/>
          <a:p>
            <a:endParaRPr lang="en-GB">
              <a:latin typeface="Aptos" panose="020B0004020202020204" pitchFamily="34" charset="0"/>
            </a:endParaRPr>
          </a:p>
        </p:txBody>
      </p:sp>
      <p:sp>
        <p:nvSpPr>
          <p:cNvPr id="15" name="Text 13"/>
          <p:cNvSpPr/>
          <p:nvPr/>
        </p:nvSpPr>
        <p:spPr>
          <a:xfrm>
            <a:off x="4617720" y="1572768"/>
            <a:ext cx="2286000" cy="228600"/>
          </a:xfrm>
          <a:prstGeom prst="rect">
            <a:avLst/>
          </a:prstGeom>
          <a:noFill/>
          <a:ln/>
        </p:spPr>
        <p:txBody>
          <a:bodyPr wrap="square" lIns="0" tIns="0" rIns="0" bIns="0" rtlCol="0" anchor="ctr"/>
          <a:lstStyle/>
          <a:p>
            <a:pPr marL="0" indent="0">
              <a:buNone/>
            </a:pPr>
            <a:r>
              <a:rPr lang="en-US" sz="1400" b="1" dirty="0">
                <a:solidFill>
                  <a:srgbClr val="12385B"/>
                </a:solidFill>
                <a:latin typeface="Aptos" panose="020B0004020202020204" pitchFamily="34" charset="0"/>
              </a:rPr>
              <a:t>Logistic Regression</a:t>
            </a:r>
            <a:endParaRPr lang="en-US" sz="1400" dirty="0">
              <a:latin typeface="Aptos" panose="020B0004020202020204" pitchFamily="34" charset="0"/>
            </a:endParaRPr>
          </a:p>
        </p:txBody>
      </p:sp>
      <p:sp>
        <p:nvSpPr>
          <p:cNvPr id="16" name="Text 14"/>
          <p:cNvSpPr/>
          <p:nvPr/>
        </p:nvSpPr>
        <p:spPr>
          <a:xfrm>
            <a:off x="4617720" y="2057400"/>
            <a:ext cx="2606040" cy="1280160"/>
          </a:xfrm>
          <a:prstGeom prst="rect">
            <a:avLst/>
          </a:prstGeom>
          <a:noFill/>
          <a:ln/>
        </p:spPr>
        <p:txBody>
          <a:bodyPr wrap="square" lIns="254" tIns="254" rIns="254" bIns="254" rtlCol="0" anchor="t">
            <a:normAutofit/>
          </a:bodyPr>
          <a:lstStyle/>
          <a:p>
            <a:pPr marL="0" indent="0">
              <a:buNone/>
            </a:pPr>
            <a:r>
              <a:rPr lang="en-US" sz="1250" dirty="0">
                <a:solidFill>
                  <a:srgbClr val="1F2933"/>
                </a:solidFill>
                <a:latin typeface="Aptos" panose="020B0004020202020204" pitchFamily="34" charset="0"/>
              </a:rPr>
              <a:t>• StandardScaler for numerical features</a:t>
            </a:r>
            <a:endParaRPr lang="en-US" sz="1250" dirty="0">
              <a:latin typeface="Aptos" panose="020B0004020202020204" pitchFamily="34" charset="0"/>
            </a:endParaRPr>
          </a:p>
          <a:p>
            <a:pPr marL="0" indent="0">
              <a:buNone/>
            </a:pPr>
            <a:r>
              <a:rPr lang="en-US" sz="1250" dirty="0">
                <a:solidFill>
                  <a:srgbClr val="1F2933"/>
                </a:solidFill>
                <a:latin typeface="Aptos" panose="020B0004020202020204" pitchFamily="34" charset="0"/>
              </a:rPr>
              <a:t>• OneHotEncoder for categorical features</a:t>
            </a:r>
            <a:endParaRPr lang="en-US" sz="1250" dirty="0">
              <a:latin typeface="Aptos" panose="020B0004020202020204" pitchFamily="34" charset="0"/>
            </a:endParaRPr>
          </a:p>
          <a:p>
            <a:pPr marL="0" indent="0">
              <a:buNone/>
            </a:pPr>
            <a:r>
              <a:rPr lang="en-US" sz="1250" dirty="0">
                <a:solidFill>
                  <a:srgbClr val="1F2933"/>
                </a:solidFill>
                <a:latin typeface="Aptos" panose="020B0004020202020204" pitchFamily="34" charset="0"/>
              </a:rPr>
              <a:t>• Simple, interpretable benchmark</a:t>
            </a:r>
            <a:endParaRPr lang="en-US" sz="1250" dirty="0">
              <a:latin typeface="Aptos" panose="020B0004020202020204" pitchFamily="34" charset="0"/>
            </a:endParaRPr>
          </a:p>
        </p:txBody>
      </p:sp>
      <p:sp>
        <p:nvSpPr>
          <p:cNvPr id="17" name="Shape 15"/>
          <p:cNvSpPr/>
          <p:nvPr/>
        </p:nvSpPr>
        <p:spPr>
          <a:xfrm>
            <a:off x="4663440" y="4069080"/>
            <a:ext cx="214884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18" name="Shape 16"/>
          <p:cNvSpPr/>
          <p:nvPr/>
        </p:nvSpPr>
        <p:spPr>
          <a:xfrm>
            <a:off x="4663440" y="4069080"/>
            <a:ext cx="54864" cy="777240"/>
          </a:xfrm>
          <a:prstGeom prst="rect">
            <a:avLst/>
          </a:prstGeom>
          <a:solidFill>
            <a:srgbClr val="1F77B4"/>
          </a:solidFill>
          <a:ln w="12700">
            <a:solidFill>
              <a:srgbClr val="1F77B4"/>
            </a:solidFill>
            <a:prstDash val="solid"/>
          </a:ln>
        </p:spPr>
        <p:txBody>
          <a:bodyPr/>
          <a:lstStyle/>
          <a:p>
            <a:endParaRPr lang="en-GB">
              <a:latin typeface="Aptos" panose="020B0004020202020204" pitchFamily="34" charset="0"/>
            </a:endParaRPr>
          </a:p>
        </p:txBody>
      </p:sp>
      <p:sp>
        <p:nvSpPr>
          <p:cNvPr id="19" name="Text 17"/>
          <p:cNvSpPr/>
          <p:nvPr/>
        </p:nvSpPr>
        <p:spPr>
          <a:xfrm>
            <a:off x="4809744" y="4197096"/>
            <a:ext cx="1947672" cy="256032"/>
          </a:xfrm>
          <a:prstGeom prst="rect">
            <a:avLst/>
          </a:prstGeom>
          <a:noFill/>
          <a:ln/>
        </p:spPr>
        <p:txBody>
          <a:bodyPr wrap="square" lIns="0" tIns="0" rIns="0" bIns="0" rtlCol="0" anchor="ctr"/>
          <a:lstStyle/>
          <a:p>
            <a:pPr marL="0" indent="0" algn="ctr">
              <a:buNone/>
            </a:pPr>
            <a:r>
              <a:rPr lang="en-US" sz="1800" b="1" dirty="0">
                <a:solidFill>
                  <a:srgbClr val="1F77B4"/>
                </a:solidFill>
                <a:latin typeface="Aptos" panose="020B0004020202020204" pitchFamily="34" charset="0"/>
              </a:rPr>
              <a:t>0.907</a:t>
            </a:r>
            <a:endParaRPr lang="en-US" sz="1800" dirty="0">
              <a:latin typeface="Aptos" panose="020B0004020202020204" pitchFamily="34" charset="0"/>
            </a:endParaRPr>
          </a:p>
        </p:txBody>
      </p:sp>
      <p:sp>
        <p:nvSpPr>
          <p:cNvPr id="20" name="Text 18"/>
          <p:cNvSpPr/>
          <p:nvPr/>
        </p:nvSpPr>
        <p:spPr>
          <a:xfrm>
            <a:off x="4773168" y="4507992"/>
            <a:ext cx="196596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validation ROC-AUC</a:t>
            </a:r>
            <a:endParaRPr lang="en-US" sz="850" dirty="0">
              <a:latin typeface="Aptos" panose="020B0004020202020204" pitchFamily="34" charset="0"/>
            </a:endParaRPr>
          </a:p>
        </p:txBody>
      </p:sp>
      <p:sp>
        <p:nvSpPr>
          <p:cNvPr id="21" name="Shape 19"/>
          <p:cNvSpPr/>
          <p:nvPr/>
        </p:nvSpPr>
        <p:spPr>
          <a:xfrm>
            <a:off x="8046720" y="1188720"/>
            <a:ext cx="3429000" cy="4206240"/>
          </a:xfrm>
          <a:prstGeom prst="roundRect">
            <a:avLst>
              <a:gd name="adj" fmla="val 2133"/>
            </a:avLst>
          </a:prstGeom>
          <a:solidFill>
            <a:srgbClr val="F5F7FA"/>
          </a:solidFill>
          <a:ln w="12700">
            <a:solidFill>
              <a:srgbClr val="D8DEE6">
                <a:alpha val="65000"/>
              </a:srgbClr>
            </a:solidFill>
            <a:prstDash val="solid"/>
          </a:ln>
        </p:spPr>
        <p:txBody>
          <a:bodyPr/>
          <a:lstStyle/>
          <a:p>
            <a:endParaRPr lang="en-GB">
              <a:latin typeface="Aptos" panose="020B0004020202020204" pitchFamily="34" charset="0"/>
            </a:endParaRPr>
          </a:p>
        </p:txBody>
      </p:sp>
      <p:sp>
        <p:nvSpPr>
          <p:cNvPr id="22" name="Text 20"/>
          <p:cNvSpPr/>
          <p:nvPr/>
        </p:nvSpPr>
        <p:spPr>
          <a:xfrm>
            <a:off x="8321040" y="1572768"/>
            <a:ext cx="2103120" cy="228600"/>
          </a:xfrm>
          <a:prstGeom prst="rect">
            <a:avLst/>
          </a:prstGeom>
          <a:noFill/>
          <a:ln/>
        </p:spPr>
        <p:txBody>
          <a:bodyPr wrap="square" lIns="0" tIns="0" rIns="0" bIns="0" rtlCol="0" anchor="ctr"/>
          <a:lstStyle/>
          <a:p>
            <a:pPr marL="0" indent="0">
              <a:buNone/>
            </a:pPr>
            <a:r>
              <a:rPr lang="en-US" sz="1400" b="1" dirty="0">
                <a:solidFill>
                  <a:srgbClr val="12385B"/>
                </a:solidFill>
                <a:latin typeface="Aptos" panose="020B0004020202020204" pitchFamily="34" charset="0"/>
              </a:rPr>
              <a:t>Random Forest</a:t>
            </a:r>
            <a:endParaRPr lang="en-US" sz="1400" dirty="0">
              <a:latin typeface="Aptos" panose="020B0004020202020204" pitchFamily="34" charset="0"/>
            </a:endParaRPr>
          </a:p>
        </p:txBody>
      </p:sp>
      <p:sp>
        <p:nvSpPr>
          <p:cNvPr id="23" name="Text 21"/>
          <p:cNvSpPr/>
          <p:nvPr/>
        </p:nvSpPr>
        <p:spPr>
          <a:xfrm>
            <a:off x="8321040" y="2057400"/>
            <a:ext cx="2697480" cy="1280160"/>
          </a:xfrm>
          <a:prstGeom prst="rect">
            <a:avLst/>
          </a:prstGeom>
          <a:noFill/>
          <a:ln/>
        </p:spPr>
        <p:txBody>
          <a:bodyPr wrap="square" lIns="254" tIns="254" rIns="254" bIns="254" rtlCol="0" anchor="t">
            <a:normAutofit/>
          </a:bodyPr>
          <a:lstStyle/>
          <a:p>
            <a:pPr marL="0" indent="0">
              <a:buNone/>
            </a:pPr>
            <a:r>
              <a:rPr lang="en-US" sz="1250" dirty="0">
                <a:solidFill>
                  <a:srgbClr val="1F2933"/>
                </a:solidFill>
                <a:latin typeface="Aptos" panose="020B0004020202020204" pitchFamily="34" charset="0"/>
              </a:rPr>
              <a:t>• Numerical features passed through</a:t>
            </a:r>
            <a:endParaRPr lang="en-US" sz="1250" dirty="0">
              <a:latin typeface="Aptos" panose="020B0004020202020204" pitchFamily="34" charset="0"/>
            </a:endParaRPr>
          </a:p>
          <a:p>
            <a:pPr marL="0" indent="0">
              <a:buNone/>
            </a:pPr>
            <a:r>
              <a:rPr lang="en-US" sz="1250" dirty="0">
                <a:solidFill>
                  <a:srgbClr val="1F2933"/>
                </a:solidFill>
                <a:latin typeface="Aptos" panose="020B0004020202020204" pitchFamily="34" charset="0"/>
              </a:rPr>
              <a:t>• OneHotEncoder for categorical features</a:t>
            </a:r>
            <a:endParaRPr lang="en-US" sz="1250" dirty="0">
              <a:latin typeface="Aptos" panose="020B0004020202020204" pitchFamily="34" charset="0"/>
            </a:endParaRPr>
          </a:p>
          <a:p>
            <a:pPr marL="0" indent="0">
              <a:buNone/>
            </a:pPr>
            <a:r>
              <a:rPr lang="en-US" sz="1250" dirty="0">
                <a:solidFill>
                  <a:srgbClr val="1F2933"/>
                </a:solidFill>
                <a:latin typeface="Aptos" panose="020B0004020202020204" pitchFamily="34" charset="0"/>
              </a:rPr>
              <a:t>• Captures nonlinear effects and interactions</a:t>
            </a:r>
            <a:endParaRPr lang="en-US" sz="1250" dirty="0">
              <a:latin typeface="Aptos" panose="020B0004020202020204" pitchFamily="34" charset="0"/>
            </a:endParaRPr>
          </a:p>
        </p:txBody>
      </p:sp>
      <p:sp>
        <p:nvSpPr>
          <p:cNvPr id="24" name="Shape 22"/>
          <p:cNvSpPr/>
          <p:nvPr/>
        </p:nvSpPr>
        <p:spPr>
          <a:xfrm>
            <a:off x="8366760" y="4069080"/>
            <a:ext cx="214884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25" name="Shape 23"/>
          <p:cNvSpPr/>
          <p:nvPr/>
        </p:nvSpPr>
        <p:spPr>
          <a:xfrm>
            <a:off x="8366760" y="4069080"/>
            <a:ext cx="54864" cy="777240"/>
          </a:xfrm>
          <a:prstGeom prst="rect">
            <a:avLst/>
          </a:prstGeom>
          <a:solidFill>
            <a:srgbClr val="149C7E"/>
          </a:solidFill>
          <a:ln w="12700">
            <a:solidFill>
              <a:srgbClr val="149C7E"/>
            </a:solidFill>
            <a:prstDash val="solid"/>
          </a:ln>
        </p:spPr>
        <p:txBody>
          <a:bodyPr/>
          <a:lstStyle/>
          <a:p>
            <a:endParaRPr lang="en-GB">
              <a:latin typeface="Aptos" panose="020B0004020202020204" pitchFamily="34" charset="0"/>
            </a:endParaRPr>
          </a:p>
        </p:txBody>
      </p:sp>
      <p:sp>
        <p:nvSpPr>
          <p:cNvPr id="26" name="Text 24"/>
          <p:cNvSpPr/>
          <p:nvPr/>
        </p:nvSpPr>
        <p:spPr>
          <a:xfrm>
            <a:off x="8513064" y="4197096"/>
            <a:ext cx="1947672" cy="256032"/>
          </a:xfrm>
          <a:prstGeom prst="rect">
            <a:avLst/>
          </a:prstGeom>
          <a:noFill/>
          <a:ln/>
        </p:spPr>
        <p:txBody>
          <a:bodyPr wrap="square" lIns="0" tIns="0" rIns="0" bIns="0" rtlCol="0" anchor="ctr"/>
          <a:lstStyle/>
          <a:p>
            <a:pPr marL="0" indent="0" algn="ctr">
              <a:buNone/>
            </a:pPr>
            <a:r>
              <a:rPr lang="en-US" sz="1800" b="1" dirty="0">
                <a:solidFill>
                  <a:srgbClr val="149C7E"/>
                </a:solidFill>
                <a:latin typeface="Aptos" panose="020B0004020202020204" pitchFamily="34" charset="0"/>
              </a:rPr>
              <a:t>0.929</a:t>
            </a:r>
            <a:endParaRPr lang="en-US" sz="1800" dirty="0">
              <a:latin typeface="Aptos" panose="020B0004020202020204" pitchFamily="34" charset="0"/>
            </a:endParaRPr>
          </a:p>
        </p:txBody>
      </p:sp>
      <p:sp>
        <p:nvSpPr>
          <p:cNvPr id="27" name="Text 25"/>
          <p:cNvSpPr/>
          <p:nvPr/>
        </p:nvSpPr>
        <p:spPr>
          <a:xfrm>
            <a:off x="8476488" y="4507992"/>
            <a:ext cx="196596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validation ROC-AUC</a:t>
            </a:r>
            <a:endParaRPr lang="en-US" sz="850" dirty="0">
              <a:latin typeface="Aptos" panose="020B00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9C7E"/>
          </a:solidFill>
          <a:ln w="12700">
            <a:solidFill>
              <a:srgbClr val="149C7E"/>
            </a:solidFill>
            <a:prstDash val="solid"/>
          </a:ln>
        </p:spPr>
        <p:txBody>
          <a:bodyPr/>
          <a:lstStyle/>
          <a:p>
            <a:endParaRPr lang="en-GB"/>
          </a:p>
        </p:txBody>
      </p:sp>
      <p:sp>
        <p:nvSpPr>
          <p:cNvPr id="3" name="Text 1"/>
          <p:cNvSpPr/>
          <p:nvPr/>
        </p:nvSpPr>
        <p:spPr>
          <a:xfrm>
            <a:off x="502920" y="310896"/>
            <a:ext cx="8138160" cy="384048"/>
          </a:xfrm>
          <a:prstGeom prst="rect">
            <a:avLst/>
          </a:prstGeom>
          <a:noFill/>
          <a:ln/>
        </p:spPr>
        <p:txBody>
          <a:bodyPr wrap="square" lIns="0" tIns="0" rIns="0" bIns="0" rtlCol="0" anchor="ctr"/>
          <a:lstStyle/>
          <a:p>
            <a:pPr marL="0" indent="0">
              <a:buNone/>
            </a:pPr>
            <a:r>
              <a:rPr lang="en-US" sz="2600" b="1" dirty="0">
                <a:solidFill>
                  <a:srgbClr val="12385B"/>
                </a:solidFill>
                <a:latin typeface="Aptos" panose="020B0004020202020204" pitchFamily="34" charset="0"/>
                <a:ea typeface="Aptos Display" pitchFamily="34" charset="-122"/>
                <a:cs typeface="Aptos Display" pitchFamily="34" charset="-120"/>
              </a:rPr>
              <a:t>Models Compared</a:t>
            </a:r>
            <a:endParaRPr lang="en-US" sz="2600" dirty="0">
              <a:latin typeface="Aptos" panose="020B0004020202020204" pitchFamily="34" charset="0"/>
            </a:endParaRPr>
          </a:p>
        </p:txBody>
      </p:sp>
      <p:sp>
        <p:nvSpPr>
          <p:cNvPr id="4" name="Text 2"/>
          <p:cNvSpPr/>
          <p:nvPr/>
        </p:nvSpPr>
        <p:spPr>
          <a:xfrm>
            <a:off x="521208" y="749808"/>
            <a:ext cx="10789920" cy="237744"/>
          </a:xfrm>
          <a:prstGeom prst="rect">
            <a:avLst/>
          </a:prstGeom>
          <a:noFill/>
          <a:ln/>
        </p:spPr>
        <p:txBody>
          <a:bodyPr wrap="square" lIns="0" tIns="0" rIns="0" bIns="0" rtlCol="0" anchor="ctr"/>
          <a:lstStyle/>
          <a:p>
            <a:pPr marL="0" indent="0">
              <a:buNone/>
            </a:pPr>
            <a:r>
              <a:rPr lang="en-US" sz="1050" dirty="0">
                <a:solidFill>
                  <a:srgbClr val="5B6770"/>
                </a:solidFill>
              </a:rPr>
              <a:t>The baseline exposes the limits of accuracy; the Random Forest is the strongest predictive model.</a:t>
            </a:r>
            <a:endParaRPr lang="en-US" sz="1050" dirty="0"/>
          </a:p>
        </p:txBody>
      </p:sp>
      <p:sp>
        <p:nvSpPr>
          <p:cNvPr id="5" name="Text 3"/>
          <p:cNvSpPr/>
          <p:nvPr/>
        </p:nvSpPr>
        <p:spPr>
          <a:xfrm>
            <a:off x="502920" y="6483096"/>
            <a:ext cx="4572000" cy="164592"/>
          </a:xfrm>
          <a:prstGeom prst="rect">
            <a:avLst/>
          </a:prstGeom>
          <a:noFill/>
          <a:ln/>
        </p:spPr>
        <p:txBody>
          <a:bodyPr wrap="square" lIns="0" tIns="0" rIns="0" bIns="0" rtlCol="0" anchor="ctr"/>
          <a:lstStyle/>
          <a:p>
            <a:pPr marL="0" indent="0">
              <a:buNone/>
            </a:pPr>
            <a:r>
              <a:rPr lang="en-US" sz="800" dirty="0">
                <a:solidFill>
                  <a:srgbClr val="7B8794"/>
                </a:solidFill>
              </a:rPr>
              <a:t>Bank Marketing Subscription Prediction</a:t>
            </a:r>
            <a:endParaRPr lang="en-US" sz="800" dirty="0"/>
          </a:p>
        </p:txBody>
      </p:sp>
      <p:sp>
        <p:nvSpPr>
          <p:cNvPr id="6" name="Text 4"/>
          <p:cNvSpPr/>
          <p:nvPr/>
        </p:nvSpPr>
        <p:spPr>
          <a:xfrm>
            <a:off x="11384280" y="6464808"/>
            <a:ext cx="320040" cy="164592"/>
          </a:xfrm>
          <a:prstGeom prst="rect">
            <a:avLst/>
          </a:prstGeom>
          <a:noFill/>
          <a:ln/>
        </p:spPr>
        <p:txBody>
          <a:bodyPr wrap="square" lIns="0" tIns="0" rIns="0" bIns="0" rtlCol="0" anchor="ctr"/>
          <a:lstStyle/>
          <a:p>
            <a:pPr marL="0" indent="0" algn="r">
              <a:buNone/>
            </a:pPr>
            <a:r>
              <a:rPr lang="en-US" sz="800" dirty="0">
                <a:solidFill>
                  <a:srgbClr val="7B8794"/>
                </a:solidFill>
              </a:rPr>
              <a:t>06</a:t>
            </a:r>
            <a:endParaRPr lang="en-US" sz="800" dirty="0"/>
          </a:p>
        </p:txBody>
      </p:sp>
      <p:sp>
        <p:nvSpPr>
          <p:cNvPr id="7" name="Shape 5"/>
          <p:cNvSpPr/>
          <p:nvPr/>
        </p:nvSpPr>
        <p:spPr>
          <a:xfrm>
            <a:off x="654518" y="1216152"/>
            <a:ext cx="1645920" cy="438912"/>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8" name="Text 6"/>
          <p:cNvSpPr/>
          <p:nvPr/>
        </p:nvSpPr>
        <p:spPr>
          <a:xfrm>
            <a:off x="691094" y="1298448"/>
            <a:ext cx="157276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Model</a:t>
            </a:r>
            <a:endParaRPr lang="en-US" sz="850" dirty="0">
              <a:latin typeface="Aptos" panose="020B0004020202020204" pitchFamily="34" charset="0"/>
            </a:endParaRPr>
          </a:p>
        </p:txBody>
      </p:sp>
      <p:sp>
        <p:nvSpPr>
          <p:cNvPr id="9" name="Shape 7"/>
          <p:cNvSpPr/>
          <p:nvPr/>
        </p:nvSpPr>
        <p:spPr>
          <a:xfrm>
            <a:off x="2300438" y="1216152"/>
            <a:ext cx="1005840" cy="438912"/>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10" name="Text 8"/>
          <p:cNvSpPr/>
          <p:nvPr/>
        </p:nvSpPr>
        <p:spPr>
          <a:xfrm>
            <a:off x="2337014" y="1298448"/>
            <a:ext cx="93268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Accuracy</a:t>
            </a:r>
            <a:endParaRPr lang="en-US" sz="850" dirty="0">
              <a:latin typeface="Aptos" panose="020B0004020202020204" pitchFamily="34" charset="0"/>
            </a:endParaRPr>
          </a:p>
        </p:txBody>
      </p:sp>
      <p:sp>
        <p:nvSpPr>
          <p:cNvPr id="11" name="Shape 9"/>
          <p:cNvSpPr/>
          <p:nvPr/>
        </p:nvSpPr>
        <p:spPr>
          <a:xfrm>
            <a:off x="3306278" y="1216152"/>
            <a:ext cx="1234440" cy="438912"/>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12" name="Text 10"/>
          <p:cNvSpPr/>
          <p:nvPr/>
        </p:nvSpPr>
        <p:spPr>
          <a:xfrm>
            <a:off x="3342854" y="1298448"/>
            <a:ext cx="116128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Balanced Acc.</a:t>
            </a:r>
            <a:endParaRPr lang="en-US" sz="850" dirty="0">
              <a:latin typeface="Aptos" panose="020B0004020202020204" pitchFamily="34" charset="0"/>
            </a:endParaRPr>
          </a:p>
        </p:txBody>
      </p:sp>
      <p:sp>
        <p:nvSpPr>
          <p:cNvPr id="13" name="Shape 11"/>
          <p:cNvSpPr/>
          <p:nvPr/>
        </p:nvSpPr>
        <p:spPr>
          <a:xfrm>
            <a:off x="4540718" y="1216152"/>
            <a:ext cx="1143000" cy="438912"/>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14" name="Text 12"/>
          <p:cNvSpPr/>
          <p:nvPr/>
        </p:nvSpPr>
        <p:spPr>
          <a:xfrm>
            <a:off x="4577294" y="1298448"/>
            <a:ext cx="106984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Precision</a:t>
            </a:r>
            <a:endParaRPr lang="en-US" sz="850" dirty="0">
              <a:latin typeface="Aptos" panose="020B0004020202020204" pitchFamily="34" charset="0"/>
            </a:endParaRPr>
          </a:p>
        </p:txBody>
      </p:sp>
      <p:sp>
        <p:nvSpPr>
          <p:cNvPr id="15" name="Shape 13"/>
          <p:cNvSpPr/>
          <p:nvPr/>
        </p:nvSpPr>
        <p:spPr>
          <a:xfrm>
            <a:off x="5683718" y="1216152"/>
            <a:ext cx="914400" cy="438912"/>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16" name="Text 14"/>
          <p:cNvSpPr/>
          <p:nvPr/>
        </p:nvSpPr>
        <p:spPr>
          <a:xfrm>
            <a:off x="5720294" y="1298448"/>
            <a:ext cx="84124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Recall</a:t>
            </a:r>
            <a:endParaRPr lang="en-US" sz="850" dirty="0">
              <a:latin typeface="Aptos" panose="020B0004020202020204" pitchFamily="34" charset="0"/>
            </a:endParaRPr>
          </a:p>
        </p:txBody>
      </p:sp>
      <p:sp>
        <p:nvSpPr>
          <p:cNvPr id="17" name="Shape 15"/>
          <p:cNvSpPr/>
          <p:nvPr/>
        </p:nvSpPr>
        <p:spPr>
          <a:xfrm>
            <a:off x="6598118" y="1216152"/>
            <a:ext cx="777240" cy="438912"/>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18" name="Text 16"/>
          <p:cNvSpPr/>
          <p:nvPr/>
        </p:nvSpPr>
        <p:spPr>
          <a:xfrm>
            <a:off x="6634694" y="1298448"/>
            <a:ext cx="70408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F1</a:t>
            </a:r>
            <a:endParaRPr lang="en-US" sz="850" dirty="0">
              <a:latin typeface="Aptos" panose="020B0004020202020204" pitchFamily="34" charset="0"/>
            </a:endParaRPr>
          </a:p>
        </p:txBody>
      </p:sp>
      <p:sp>
        <p:nvSpPr>
          <p:cNvPr id="19" name="Shape 17"/>
          <p:cNvSpPr/>
          <p:nvPr/>
        </p:nvSpPr>
        <p:spPr>
          <a:xfrm>
            <a:off x="7375358" y="1216152"/>
            <a:ext cx="1143000" cy="438912"/>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20" name="Text 18"/>
          <p:cNvSpPr/>
          <p:nvPr/>
        </p:nvSpPr>
        <p:spPr>
          <a:xfrm>
            <a:off x="7411934" y="1298448"/>
            <a:ext cx="106984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ROC-AUC</a:t>
            </a:r>
            <a:endParaRPr lang="en-US" sz="850" dirty="0">
              <a:latin typeface="Aptos" panose="020B0004020202020204" pitchFamily="34" charset="0"/>
            </a:endParaRPr>
          </a:p>
        </p:txBody>
      </p:sp>
      <p:sp>
        <p:nvSpPr>
          <p:cNvPr id="21" name="Shape 19"/>
          <p:cNvSpPr/>
          <p:nvPr/>
        </p:nvSpPr>
        <p:spPr>
          <a:xfrm>
            <a:off x="8518358" y="1216152"/>
            <a:ext cx="1097280" cy="438912"/>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22" name="Text 20"/>
          <p:cNvSpPr/>
          <p:nvPr/>
        </p:nvSpPr>
        <p:spPr>
          <a:xfrm>
            <a:off x="8554934" y="1298448"/>
            <a:ext cx="102412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PR-AUC</a:t>
            </a:r>
            <a:endParaRPr lang="en-US" sz="850" dirty="0">
              <a:latin typeface="Aptos" panose="020B0004020202020204" pitchFamily="34" charset="0"/>
            </a:endParaRPr>
          </a:p>
        </p:txBody>
      </p:sp>
      <p:sp>
        <p:nvSpPr>
          <p:cNvPr id="23" name="Shape 21"/>
          <p:cNvSpPr/>
          <p:nvPr/>
        </p:nvSpPr>
        <p:spPr>
          <a:xfrm>
            <a:off x="654518" y="1655064"/>
            <a:ext cx="164592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24" name="Text 22"/>
          <p:cNvSpPr/>
          <p:nvPr/>
        </p:nvSpPr>
        <p:spPr>
          <a:xfrm>
            <a:off x="691094" y="1737360"/>
            <a:ext cx="157276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latin typeface="Aptos" panose="020B0004020202020204" pitchFamily="34" charset="0"/>
              </a:rPr>
              <a:t>Baseline</a:t>
            </a:r>
            <a:endParaRPr lang="en-US" sz="820" dirty="0">
              <a:latin typeface="Aptos" panose="020B0004020202020204" pitchFamily="34" charset="0"/>
            </a:endParaRPr>
          </a:p>
        </p:txBody>
      </p:sp>
      <p:sp>
        <p:nvSpPr>
          <p:cNvPr id="25" name="Shape 23"/>
          <p:cNvSpPr/>
          <p:nvPr/>
        </p:nvSpPr>
        <p:spPr>
          <a:xfrm>
            <a:off x="2300438" y="1655064"/>
            <a:ext cx="100584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26" name="Text 24"/>
          <p:cNvSpPr/>
          <p:nvPr/>
        </p:nvSpPr>
        <p:spPr>
          <a:xfrm>
            <a:off x="2337014" y="1737360"/>
            <a:ext cx="9326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0.883</a:t>
            </a:r>
            <a:endParaRPr lang="en-US" sz="820" dirty="0">
              <a:latin typeface="Aptos" panose="020B0004020202020204" pitchFamily="34" charset="0"/>
            </a:endParaRPr>
          </a:p>
        </p:txBody>
      </p:sp>
      <p:sp>
        <p:nvSpPr>
          <p:cNvPr id="27" name="Shape 25"/>
          <p:cNvSpPr/>
          <p:nvPr/>
        </p:nvSpPr>
        <p:spPr>
          <a:xfrm>
            <a:off x="3306278" y="1655064"/>
            <a:ext cx="123444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28" name="Text 26"/>
          <p:cNvSpPr/>
          <p:nvPr/>
        </p:nvSpPr>
        <p:spPr>
          <a:xfrm>
            <a:off x="3342854" y="1737360"/>
            <a:ext cx="11612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0.500</a:t>
            </a:r>
            <a:endParaRPr lang="en-US" sz="820" dirty="0">
              <a:latin typeface="Aptos" panose="020B0004020202020204" pitchFamily="34" charset="0"/>
            </a:endParaRPr>
          </a:p>
        </p:txBody>
      </p:sp>
      <p:sp>
        <p:nvSpPr>
          <p:cNvPr id="29" name="Shape 27"/>
          <p:cNvSpPr/>
          <p:nvPr/>
        </p:nvSpPr>
        <p:spPr>
          <a:xfrm>
            <a:off x="4540718" y="1655064"/>
            <a:ext cx="114300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0" name="Text 28"/>
          <p:cNvSpPr/>
          <p:nvPr/>
        </p:nvSpPr>
        <p:spPr>
          <a:xfrm>
            <a:off x="4577294" y="1737360"/>
            <a:ext cx="10698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0.000</a:t>
            </a:r>
            <a:endParaRPr lang="en-US" sz="820" dirty="0">
              <a:latin typeface="Aptos" panose="020B0004020202020204" pitchFamily="34" charset="0"/>
            </a:endParaRPr>
          </a:p>
        </p:txBody>
      </p:sp>
      <p:sp>
        <p:nvSpPr>
          <p:cNvPr id="31" name="Shape 29"/>
          <p:cNvSpPr/>
          <p:nvPr/>
        </p:nvSpPr>
        <p:spPr>
          <a:xfrm>
            <a:off x="5683718" y="1655064"/>
            <a:ext cx="91440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2" name="Text 30"/>
          <p:cNvSpPr/>
          <p:nvPr/>
        </p:nvSpPr>
        <p:spPr>
          <a:xfrm>
            <a:off x="5720294" y="1737360"/>
            <a:ext cx="8412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0.000</a:t>
            </a:r>
            <a:endParaRPr lang="en-US" sz="820" dirty="0">
              <a:latin typeface="Aptos" panose="020B0004020202020204" pitchFamily="34" charset="0"/>
            </a:endParaRPr>
          </a:p>
        </p:txBody>
      </p:sp>
      <p:sp>
        <p:nvSpPr>
          <p:cNvPr id="33" name="Shape 31"/>
          <p:cNvSpPr/>
          <p:nvPr/>
        </p:nvSpPr>
        <p:spPr>
          <a:xfrm>
            <a:off x="6598118" y="1655064"/>
            <a:ext cx="77724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4" name="Text 32"/>
          <p:cNvSpPr/>
          <p:nvPr/>
        </p:nvSpPr>
        <p:spPr>
          <a:xfrm>
            <a:off x="6634694" y="1737360"/>
            <a:ext cx="7040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0.000</a:t>
            </a:r>
            <a:endParaRPr lang="en-US" sz="820" dirty="0">
              <a:latin typeface="Aptos" panose="020B0004020202020204" pitchFamily="34" charset="0"/>
            </a:endParaRPr>
          </a:p>
        </p:txBody>
      </p:sp>
      <p:sp>
        <p:nvSpPr>
          <p:cNvPr id="35" name="Shape 33"/>
          <p:cNvSpPr/>
          <p:nvPr/>
        </p:nvSpPr>
        <p:spPr>
          <a:xfrm>
            <a:off x="7375358" y="1655064"/>
            <a:ext cx="114300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6" name="Text 34"/>
          <p:cNvSpPr/>
          <p:nvPr/>
        </p:nvSpPr>
        <p:spPr>
          <a:xfrm>
            <a:off x="7411934" y="1737360"/>
            <a:ext cx="10698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0.500</a:t>
            </a:r>
            <a:endParaRPr lang="en-US" sz="820" dirty="0">
              <a:latin typeface="Aptos" panose="020B0004020202020204" pitchFamily="34" charset="0"/>
            </a:endParaRPr>
          </a:p>
        </p:txBody>
      </p:sp>
      <p:sp>
        <p:nvSpPr>
          <p:cNvPr id="37" name="Shape 35"/>
          <p:cNvSpPr/>
          <p:nvPr/>
        </p:nvSpPr>
        <p:spPr>
          <a:xfrm>
            <a:off x="8518358" y="1655064"/>
            <a:ext cx="109728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8" name="Text 36"/>
          <p:cNvSpPr/>
          <p:nvPr/>
        </p:nvSpPr>
        <p:spPr>
          <a:xfrm>
            <a:off x="8554934" y="1737360"/>
            <a:ext cx="102412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0.117</a:t>
            </a:r>
            <a:endParaRPr lang="en-US" sz="820" dirty="0">
              <a:latin typeface="Aptos" panose="020B0004020202020204" pitchFamily="34" charset="0"/>
            </a:endParaRPr>
          </a:p>
        </p:txBody>
      </p:sp>
      <p:sp>
        <p:nvSpPr>
          <p:cNvPr id="39" name="Shape 37"/>
          <p:cNvSpPr/>
          <p:nvPr/>
        </p:nvSpPr>
        <p:spPr>
          <a:xfrm>
            <a:off x="654518" y="2093976"/>
            <a:ext cx="1645920" cy="438912"/>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40" name="Text 38"/>
          <p:cNvSpPr/>
          <p:nvPr/>
        </p:nvSpPr>
        <p:spPr>
          <a:xfrm>
            <a:off x="691094" y="2176272"/>
            <a:ext cx="157276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latin typeface="Aptos" panose="020B0004020202020204" pitchFamily="34" charset="0"/>
              </a:rPr>
              <a:t>Logistic Reg.</a:t>
            </a:r>
            <a:endParaRPr lang="en-US" sz="820" dirty="0">
              <a:latin typeface="Aptos" panose="020B0004020202020204" pitchFamily="34" charset="0"/>
            </a:endParaRPr>
          </a:p>
        </p:txBody>
      </p:sp>
      <p:sp>
        <p:nvSpPr>
          <p:cNvPr id="41" name="Shape 39"/>
          <p:cNvSpPr/>
          <p:nvPr/>
        </p:nvSpPr>
        <p:spPr>
          <a:xfrm>
            <a:off x="2300438" y="2093976"/>
            <a:ext cx="1005840" cy="438912"/>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42" name="Text 40"/>
          <p:cNvSpPr/>
          <p:nvPr/>
        </p:nvSpPr>
        <p:spPr>
          <a:xfrm>
            <a:off x="2337014" y="2176272"/>
            <a:ext cx="9326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0.844</a:t>
            </a:r>
            <a:endParaRPr lang="en-US" sz="820" dirty="0">
              <a:latin typeface="Aptos" panose="020B0004020202020204" pitchFamily="34" charset="0"/>
            </a:endParaRPr>
          </a:p>
        </p:txBody>
      </p:sp>
      <p:sp>
        <p:nvSpPr>
          <p:cNvPr id="43" name="Shape 41"/>
          <p:cNvSpPr/>
          <p:nvPr/>
        </p:nvSpPr>
        <p:spPr>
          <a:xfrm>
            <a:off x="3306278" y="2093976"/>
            <a:ext cx="1234440" cy="438912"/>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44" name="Text 42"/>
          <p:cNvSpPr/>
          <p:nvPr/>
        </p:nvSpPr>
        <p:spPr>
          <a:xfrm>
            <a:off x="3342854" y="2176272"/>
            <a:ext cx="11612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0.832</a:t>
            </a:r>
            <a:endParaRPr lang="en-US" sz="820" dirty="0">
              <a:latin typeface="Aptos" panose="020B0004020202020204" pitchFamily="34" charset="0"/>
            </a:endParaRPr>
          </a:p>
        </p:txBody>
      </p:sp>
      <p:sp>
        <p:nvSpPr>
          <p:cNvPr id="45" name="Shape 43"/>
          <p:cNvSpPr/>
          <p:nvPr/>
        </p:nvSpPr>
        <p:spPr>
          <a:xfrm>
            <a:off x="4540718" y="2093976"/>
            <a:ext cx="1143000" cy="438912"/>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46" name="Text 44"/>
          <p:cNvSpPr/>
          <p:nvPr/>
        </p:nvSpPr>
        <p:spPr>
          <a:xfrm>
            <a:off x="4577294" y="2176272"/>
            <a:ext cx="10698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0.414</a:t>
            </a:r>
            <a:endParaRPr lang="en-US" sz="820" dirty="0">
              <a:latin typeface="Aptos" panose="020B0004020202020204" pitchFamily="34" charset="0"/>
            </a:endParaRPr>
          </a:p>
        </p:txBody>
      </p:sp>
      <p:sp>
        <p:nvSpPr>
          <p:cNvPr id="47" name="Shape 45"/>
          <p:cNvSpPr/>
          <p:nvPr/>
        </p:nvSpPr>
        <p:spPr>
          <a:xfrm>
            <a:off x="5683718" y="2093976"/>
            <a:ext cx="914400" cy="438912"/>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48" name="Text 46"/>
          <p:cNvSpPr/>
          <p:nvPr/>
        </p:nvSpPr>
        <p:spPr>
          <a:xfrm>
            <a:off x="5720294" y="2176272"/>
            <a:ext cx="8412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0.817</a:t>
            </a:r>
            <a:endParaRPr lang="en-US" sz="820" dirty="0">
              <a:latin typeface="Aptos" panose="020B0004020202020204" pitchFamily="34" charset="0"/>
            </a:endParaRPr>
          </a:p>
        </p:txBody>
      </p:sp>
      <p:sp>
        <p:nvSpPr>
          <p:cNvPr id="49" name="Shape 47"/>
          <p:cNvSpPr/>
          <p:nvPr/>
        </p:nvSpPr>
        <p:spPr>
          <a:xfrm>
            <a:off x="6598118" y="2093976"/>
            <a:ext cx="777240" cy="438912"/>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50" name="Text 48"/>
          <p:cNvSpPr/>
          <p:nvPr/>
        </p:nvSpPr>
        <p:spPr>
          <a:xfrm>
            <a:off x="6634694" y="2176272"/>
            <a:ext cx="7040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0.550</a:t>
            </a:r>
            <a:endParaRPr lang="en-US" sz="820" dirty="0">
              <a:latin typeface="Aptos" panose="020B0004020202020204" pitchFamily="34" charset="0"/>
            </a:endParaRPr>
          </a:p>
        </p:txBody>
      </p:sp>
      <p:sp>
        <p:nvSpPr>
          <p:cNvPr id="51" name="Shape 49"/>
          <p:cNvSpPr/>
          <p:nvPr/>
        </p:nvSpPr>
        <p:spPr>
          <a:xfrm>
            <a:off x="7375358" y="2093976"/>
            <a:ext cx="1143000" cy="438912"/>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52" name="Text 50"/>
          <p:cNvSpPr/>
          <p:nvPr/>
        </p:nvSpPr>
        <p:spPr>
          <a:xfrm>
            <a:off x="7411934" y="2176272"/>
            <a:ext cx="10698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0.907</a:t>
            </a:r>
            <a:endParaRPr lang="en-US" sz="820" dirty="0">
              <a:latin typeface="Aptos" panose="020B0004020202020204" pitchFamily="34" charset="0"/>
            </a:endParaRPr>
          </a:p>
        </p:txBody>
      </p:sp>
      <p:sp>
        <p:nvSpPr>
          <p:cNvPr id="53" name="Shape 51"/>
          <p:cNvSpPr/>
          <p:nvPr/>
        </p:nvSpPr>
        <p:spPr>
          <a:xfrm>
            <a:off x="8518358" y="2093976"/>
            <a:ext cx="1097280" cy="438912"/>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54" name="Text 52"/>
          <p:cNvSpPr/>
          <p:nvPr/>
        </p:nvSpPr>
        <p:spPr>
          <a:xfrm>
            <a:off x="8554934" y="2176272"/>
            <a:ext cx="102412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0.544</a:t>
            </a:r>
            <a:endParaRPr lang="en-US" sz="820" dirty="0">
              <a:latin typeface="Aptos" panose="020B0004020202020204" pitchFamily="34" charset="0"/>
            </a:endParaRPr>
          </a:p>
        </p:txBody>
      </p:sp>
      <p:sp>
        <p:nvSpPr>
          <p:cNvPr id="55" name="Shape 53"/>
          <p:cNvSpPr/>
          <p:nvPr/>
        </p:nvSpPr>
        <p:spPr>
          <a:xfrm>
            <a:off x="654518" y="2532888"/>
            <a:ext cx="164592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56" name="Text 54"/>
          <p:cNvSpPr/>
          <p:nvPr/>
        </p:nvSpPr>
        <p:spPr>
          <a:xfrm>
            <a:off x="691094" y="2615184"/>
            <a:ext cx="157276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latin typeface="Aptos" panose="020B0004020202020204" pitchFamily="34" charset="0"/>
              </a:rPr>
              <a:t>Random Forest</a:t>
            </a:r>
            <a:endParaRPr lang="en-US" sz="820" dirty="0">
              <a:latin typeface="Aptos" panose="020B0004020202020204" pitchFamily="34" charset="0"/>
            </a:endParaRPr>
          </a:p>
        </p:txBody>
      </p:sp>
      <p:sp>
        <p:nvSpPr>
          <p:cNvPr id="57" name="Shape 55"/>
          <p:cNvSpPr/>
          <p:nvPr/>
        </p:nvSpPr>
        <p:spPr>
          <a:xfrm>
            <a:off x="2300438" y="2532888"/>
            <a:ext cx="100584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58" name="Text 56"/>
          <p:cNvSpPr/>
          <p:nvPr/>
        </p:nvSpPr>
        <p:spPr>
          <a:xfrm>
            <a:off x="2337014" y="2615184"/>
            <a:ext cx="9326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0.903</a:t>
            </a:r>
            <a:endParaRPr lang="en-US" sz="820" dirty="0">
              <a:latin typeface="Aptos" panose="020B0004020202020204" pitchFamily="34" charset="0"/>
            </a:endParaRPr>
          </a:p>
        </p:txBody>
      </p:sp>
      <p:sp>
        <p:nvSpPr>
          <p:cNvPr id="59" name="Shape 57"/>
          <p:cNvSpPr/>
          <p:nvPr/>
        </p:nvSpPr>
        <p:spPr>
          <a:xfrm>
            <a:off x="3306278" y="2532888"/>
            <a:ext cx="123444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60" name="Text 58"/>
          <p:cNvSpPr/>
          <p:nvPr/>
        </p:nvSpPr>
        <p:spPr>
          <a:xfrm>
            <a:off x="3342854" y="2615184"/>
            <a:ext cx="11612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0.776</a:t>
            </a:r>
            <a:endParaRPr lang="en-US" sz="820" dirty="0">
              <a:latin typeface="Aptos" panose="020B0004020202020204" pitchFamily="34" charset="0"/>
            </a:endParaRPr>
          </a:p>
        </p:txBody>
      </p:sp>
      <p:sp>
        <p:nvSpPr>
          <p:cNvPr id="61" name="Shape 59"/>
          <p:cNvSpPr/>
          <p:nvPr/>
        </p:nvSpPr>
        <p:spPr>
          <a:xfrm>
            <a:off x="4540718" y="2532888"/>
            <a:ext cx="114300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62" name="Text 60"/>
          <p:cNvSpPr/>
          <p:nvPr/>
        </p:nvSpPr>
        <p:spPr>
          <a:xfrm>
            <a:off x="4577294" y="2615184"/>
            <a:ext cx="10698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0.580</a:t>
            </a:r>
            <a:endParaRPr lang="en-US" sz="820" dirty="0">
              <a:latin typeface="Aptos" panose="020B0004020202020204" pitchFamily="34" charset="0"/>
            </a:endParaRPr>
          </a:p>
        </p:txBody>
      </p:sp>
      <p:sp>
        <p:nvSpPr>
          <p:cNvPr id="63" name="Shape 61"/>
          <p:cNvSpPr/>
          <p:nvPr/>
        </p:nvSpPr>
        <p:spPr>
          <a:xfrm>
            <a:off x="5683718" y="2532888"/>
            <a:ext cx="91440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64" name="Text 62"/>
          <p:cNvSpPr/>
          <p:nvPr/>
        </p:nvSpPr>
        <p:spPr>
          <a:xfrm>
            <a:off x="5720294" y="2615184"/>
            <a:ext cx="8412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0.610</a:t>
            </a:r>
            <a:endParaRPr lang="en-US" sz="820" dirty="0">
              <a:latin typeface="Aptos" panose="020B0004020202020204" pitchFamily="34" charset="0"/>
            </a:endParaRPr>
          </a:p>
        </p:txBody>
      </p:sp>
      <p:sp>
        <p:nvSpPr>
          <p:cNvPr id="65" name="Shape 63"/>
          <p:cNvSpPr/>
          <p:nvPr/>
        </p:nvSpPr>
        <p:spPr>
          <a:xfrm>
            <a:off x="6598118" y="2532888"/>
            <a:ext cx="77724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66" name="Text 64"/>
          <p:cNvSpPr/>
          <p:nvPr/>
        </p:nvSpPr>
        <p:spPr>
          <a:xfrm>
            <a:off x="6634694" y="2615184"/>
            <a:ext cx="7040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0.594</a:t>
            </a:r>
            <a:endParaRPr lang="en-US" sz="820" dirty="0">
              <a:latin typeface="Aptos" panose="020B0004020202020204" pitchFamily="34" charset="0"/>
            </a:endParaRPr>
          </a:p>
        </p:txBody>
      </p:sp>
      <p:sp>
        <p:nvSpPr>
          <p:cNvPr id="67" name="Shape 65"/>
          <p:cNvSpPr/>
          <p:nvPr/>
        </p:nvSpPr>
        <p:spPr>
          <a:xfrm>
            <a:off x="7375358" y="2532888"/>
            <a:ext cx="114300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68" name="Text 66"/>
          <p:cNvSpPr/>
          <p:nvPr/>
        </p:nvSpPr>
        <p:spPr>
          <a:xfrm>
            <a:off x="7411934" y="2615184"/>
            <a:ext cx="10698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0.929</a:t>
            </a:r>
            <a:endParaRPr lang="en-US" sz="820" dirty="0">
              <a:latin typeface="Aptos" panose="020B0004020202020204" pitchFamily="34" charset="0"/>
            </a:endParaRPr>
          </a:p>
        </p:txBody>
      </p:sp>
      <p:sp>
        <p:nvSpPr>
          <p:cNvPr id="69" name="Shape 67"/>
          <p:cNvSpPr/>
          <p:nvPr/>
        </p:nvSpPr>
        <p:spPr>
          <a:xfrm>
            <a:off x="8518358" y="2532888"/>
            <a:ext cx="1097280" cy="438912"/>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70" name="Text 68"/>
          <p:cNvSpPr/>
          <p:nvPr/>
        </p:nvSpPr>
        <p:spPr>
          <a:xfrm>
            <a:off x="8554934" y="2615184"/>
            <a:ext cx="102412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0.615</a:t>
            </a:r>
            <a:endParaRPr lang="en-US" sz="820" dirty="0">
              <a:latin typeface="Aptos" panose="020B0004020202020204" pitchFamily="34" charset="0"/>
            </a:endParaRPr>
          </a:p>
        </p:txBody>
      </p:sp>
      <p:sp>
        <p:nvSpPr>
          <p:cNvPr id="71" name="Shape 69"/>
          <p:cNvSpPr/>
          <p:nvPr/>
        </p:nvSpPr>
        <p:spPr>
          <a:xfrm>
            <a:off x="640080" y="3154680"/>
            <a:ext cx="4173460" cy="2606040"/>
          </a:xfrm>
          <a:prstGeom prst="roundRect">
            <a:avLst>
              <a:gd name="adj" fmla="val 2105"/>
            </a:avLst>
          </a:prstGeom>
          <a:solidFill>
            <a:srgbClr val="FFFFFF"/>
          </a:solidFill>
          <a:ln w="12700">
            <a:solidFill>
              <a:srgbClr val="D8DEE6">
                <a:alpha val="85000"/>
              </a:srgbClr>
            </a:solidFill>
            <a:prstDash val="solid"/>
          </a:ln>
        </p:spPr>
        <p:txBody>
          <a:bodyPr/>
          <a:lstStyle/>
          <a:p>
            <a:endParaRPr lang="en-GB">
              <a:latin typeface="Aptos" panose="020B0004020202020204" pitchFamily="34" charset="0"/>
            </a:endParaRPr>
          </a:p>
        </p:txBody>
      </p:sp>
      <p:sp>
        <p:nvSpPr>
          <p:cNvPr id="72" name="Text 70"/>
          <p:cNvSpPr/>
          <p:nvPr/>
        </p:nvSpPr>
        <p:spPr>
          <a:xfrm>
            <a:off x="796250" y="3264408"/>
            <a:ext cx="4946904" cy="164592"/>
          </a:xfrm>
          <a:prstGeom prst="rect">
            <a:avLst/>
          </a:prstGeom>
          <a:noFill/>
          <a:ln/>
        </p:spPr>
        <p:txBody>
          <a:bodyPr wrap="square" lIns="0" tIns="0" rIns="0" bIns="0" rtlCol="0" anchor="ctr"/>
          <a:lstStyle/>
          <a:p>
            <a:pPr marL="0" indent="0">
              <a:buNone/>
            </a:pPr>
            <a:r>
              <a:rPr lang="en-US" sz="1020" b="1" dirty="0">
                <a:solidFill>
                  <a:srgbClr val="12385B"/>
                </a:solidFill>
                <a:latin typeface="Aptos" panose="020B0004020202020204" pitchFamily="34" charset="0"/>
              </a:rPr>
              <a:t>Validation ROC curve</a:t>
            </a:r>
            <a:endParaRPr lang="en-US" sz="1020" dirty="0">
              <a:latin typeface="Aptos" panose="020B0004020202020204" pitchFamily="34" charset="0"/>
            </a:endParaRPr>
          </a:p>
        </p:txBody>
      </p:sp>
      <p:pic>
        <p:nvPicPr>
          <p:cNvPr id="73" name="Image 0" descr="/mnt/data/key_extracted_plots/11_roc_curve_validation.png"/>
          <p:cNvPicPr>
            <a:picLocks noChangeAspect="1"/>
          </p:cNvPicPr>
          <p:nvPr/>
        </p:nvPicPr>
        <p:blipFill>
          <a:blip r:embed="rId3"/>
          <a:stretch>
            <a:fillRect/>
          </a:stretch>
        </p:blipFill>
        <p:spPr>
          <a:xfrm>
            <a:off x="2139770" y="3456432"/>
            <a:ext cx="2166980" cy="2194560"/>
          </a:xfrm>
          <a:prstGeom prst="rect">
            <a:avLst/>
          </a:prstGeom>
        </p:spPr>
      </p:pic>
      <p:sp>
        <p:nvSpPr>
          <p:cNvPr id="74" name="Shape 71"/>
          <p:cNvSpPr/>
          <p:nvPr/>
        </p:nvSpPr>
        <p:spPr>
          <a:xfrm>
            <a:off x="5185025" y="3200400"/>
            <a:ext cx="4453818" cy="2606040"/>
          </a:xfrm>
          <a:prstGeom prst="roundRect">
            <a:avLst>
              <a:gd name="adj" fmla="val 2105"/>
            </a:avLst>
          </a:prstGeom>
          <a:solidFill>
            <a:srgbClr val="FFFFFF"/>
          </a:solidFill>
          <a:ln w="12700">
            <a:solidFill>
              <a:srgbClr val="D8DEE6">
                <a:alpha val="85000"/>
              </a:srgbClr>
            </a:solidFill>
            <a:prstDash val="solid"/>
          </a:ln>
        </p:spPr>
        <p:txBody>
          <a:bodyPr/>
          <a:lstStyle/>
          <a:p>
            <a:endParaRPr lang="en-GB">
              <a:latin typeface="Aptos" panose="020B0004020202020204" pitchFamily="34" charset="0"/>
            </a:endParaRPr>
          </a:p>
        </p:txBody>
      </p:sp>
      <p:sp>
        <p:nvSpPr>
          <p:cNvPr id="75" name="Text 72"/>
          <p:cNvSpPr/>
          <p:nvPr/>
        </p:nvSpPr>
        <p:spPr>
          <a:xfrm>
            <a:off x="5300242" y="3261906"/>
            <a:ext cx="4946904" cy="164592"/>
          </a:xfrm>
          <a:prstGeom prst="rect">
            <a:avLst/>
          </a:prstGeom>
          <a:noFill/>
          <a:ln/>
        </p:spPr>
        <p:txBody>
          <a:bodyPr wrap="square" lIns="0" tIns="0" rIns="0" bIns="0" rtlCol="0" anchor="ctr"/>
          <a:lstStyle/>
          <a:p>
            <a:pPr marL="0" indent="0">
              <a:buNone/>
            </a:pPr>
            <a:r>
              <a:rPr lang="en-US" sz="1020" b="1" dirty="0">
                <a:solidFill>
                  <a:srgbClr val="12385B"/>
                </a:solidFill>
                <a:latin typeface="Aptos" panose="020B0004020202020204" pitchFamily="34" charset="0"/>
              </a:rPr>
              <a:t>Validation Precision-Recall curve</a:t>
            </a:r>
            <a:endParaRPr lang="en-US" sz="1020" dirty="0">
              <a:latin typeface="Aptos" panose="020B0004020202020204" pitchFamily="34" charset="0"/>
            </a:endParaRPr>
          </a:p>
        </p:txBody>
      </p:sp>
      <p:pic>
        <p:nvPicPr>
          <p:cNvPr id="76" name="Image 1" descr="/mnt/data/key_extracted_plots/12_precision_recall_curve_validation.png"/>
          <p:cNvPicPr>
            <a:picLocks noChangeAspect="1"/>
          </p:cNvPicPr>
          <p:nvPr/>
        </p:nvPicPr>
        <p:blipFill>
          <a:blip r:embed="rId4"/>
          <a:stretch>
            <a:fillRect/>
          </a:stretch>
        </p:blipFill>
        <p:spPr>
          <a:xfrm>
            <a:off x="6474100" y="3456432"/>
            <a:ext cx="2166980" cy="2194560"/>
          </a:xfrm>
          <a:prstGeom prst="rect">
            <a:avLst/>
          </a:prstGeom>
        </p:spPr>
      </p:pic>
      <p:sp>
        <p:nvSpPr>
          <p:cNvPr id="77" name="Text 73"/>
          <p:cNvSpPr/>
          <p:nvPr/>
        </p:nvSpPr>
        <p:spPr>
          <a:xfrm>
            <a:off x="-307100" y="5902452"/>
            <a:ext cx="10241280" cy="219456"/>
          </a:xfrm>
          <a:prstGeom prst="rect">
            <a:avLst/>
          </a:prstGeom>
          <a:noFill/>
          <a:ln/>
        </p:spPr>
        <p:txBody>
          <a:bodyPr wrap="square" lIns="0" tIns="0" rIns="0" bIns="0" rtlCol="0" anchor="ctr"/>
          <a:lstStyle/>
          <a:p>
            <a:pPr marL="0" indent="0" algn="ctr">
              <a:buNone/>
            </a:pPr>
            <a:r>
              <a:rPr lang="en-US" sz="1150" b="1" dirty="0"/>
              <a:t>Why the baseline matters: it achieves high accuracy by predicting the majority </a:t>
            </a:r>
            <a:r>
              <a:rPr lang="en-US" sz="1150" b="1" dirty="0" err="1"/>
              <a:t>class, but</a:t>
            </a:r>
            <a:r>
              <a:rPr lang="en-US" sz="1150" b="1" dirty="0"/>
              <a:t> has zero recall for subscribers.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9C7E"/>
          </a:solidFill>
          <a:ln w="12700">
            <a:solidFill>
              <a:srgbClr val="149C7E"/>
            </a:solidFill>
            <a:prstDash val="solid"/>
          </a:ln>
        </p:spPr>
        <p:txBody>
          <a:bodyPr/>
          <a:lstStyle/>
          <a:p>
            <a:endParaRPr lang="en-GB"/>
          </a:p>
        </p:txBody>
      </p:sp>
      <p:sp>
        <p:nvSpPr>
          <p:cNvPr id="3" name="Text 1"/>
          <p:cNvSpPr/>
          <p:nvPr/>
        </p:nvSpPr>
        <p:spPr>
          <a:xfrm>
            <a:off x="502920" y="310896"/>
            <a:ext cx="8138160" cy="384048"/>
          </a:xfrm>
          <a:prstGeom prst="rect">
            <a:avLst/>
          </a:prstGeom>
          <a:noFill/>
          <a:ln/>
        </p:spPr>
        <p:txBody>
          <a:bodyPr wrap="square" lIns="0" tIns="0" rIns="0" bIns="0" rtlCol="0" anchor="ctr"/>
          <a:lstStyle/>
          <a:p>
            <a:pPr marL="0" indent="0">
              <a:buNone/>
            </a:pPr>
            <a:r>
              <a:rPr lang="en-US" sz="2600" b="1" dirty="0">
                <a:solidFill>
                  <a:srgbClr val="12385B"/>
                </a:solidFill>
                <a:latin typeface="Aptos" panose="020B0004020202020204" pitchFamily="34" charset="0"/>
                <a:ea typeface="Aptos Display" pitchFamily="34" charset="-122"/>
                <a:cs typeface="Aptos Display" pitchFamily="34" charset="-120"/>
              </a:rPr>
              <a:t>Final Evaluation and Preferred Model</a:t>
            </a:r>
            <a:endParaRPr lang="en-US" sz="2600" dirty="0">
              <a:latin typeface="Aptos" panose="020B0004020202020204" pitchFamily="34" charset="0"/>
            </a:endParaRPr>
          </a:p>
        </p:txBody>
      </p:sp>
      <p:sp>
        <p:nvSpPr>
          <p:cNvPr id="4" name="Text 2"/>
          <p:cNvSpPr/>
          <p:nvPr/>
        </p:nvSpPr>
        <p:spPr>
          <a:xfrm>
            <a:off x="521208" y="749808"/>
            <a:ext cx="10789920" cy="237744"/>
          </a:xfrm>
          <a:prstGeom prst="rect">
            <a:avLst/>
          </a:prstGeom>
          <a:noFill/>
          <a:ln/>
        </p:spPr>
        <p:txBody>
          <a:bodyPr wrap="square" lIns="0" tIns="0" rIns="0" bIns="0" rtlCol="0" anchor="ctr"/>
          <a:lstStyle/>
          <a:p>
            <a:pPr marL="0" indent="0">
              <a:buNone/>
            </a:pPr>
            <a:r>
              <a:rPr lang="en-US" sz="1050" dirty="0">
                <a:solidFill>
                  <a:srgbClr val="5B6770"/>
                </a:solidFill>
                <a:latin typeface="Aptos" panose="020B0004020202020204" pitchFamily="34" charset="0"/>
              </a:rPr>
              <a:t>The tuned Random Forest is selected and confirmed on the held-out test set.</a:t>
            </a:r>
            <a:endParaRPr lang="en-US" sz="1050" dirty="0">
              <a:latin typeface="Aptos" panose="020B0004020202020204" pitchFamily="34" charset="0"/>
            </a:endParaRPr>
          </a:p>
        </p:txBody>
      </p:sp>
      <p:sp>
        <p:nvSpPr>
          <p:cNvPr id="5" name="Text 3"/>
          <p:cNvSpPr/>
          <p:nvPr/>
        </p:nvSpPr>
        <p:spPr>
          <a:xfrm>
            <a:off x="502920" y="6483096"/>
            <a:ext cx="4572000" cy="164592"/>
          </a:xfrm>
          <a:prstGeom prst="rect">
            <a:avLst/>
          </a:prstGeom>
          <a:noFill/>
          <a:ln/>
        </p:spPr>
        <p:txBody>
          <a:bodyPr wrap="square" lIns="0" tIns="0" rIns="0" bIns="0" rtlCol="0" anchor="ctr"/>
          <a:lstStyle/>
          <a:p>
            <a:pPr marL="0" indent="0">
              <a:buNone/>
            </a:pPr>
            <a:r>
              <a:rPr lang="en-US" sz="800" dirty="0">
                <a:solidFill>
                  <a:srgbClr val="7B8794"/>
                </a:solidFill>
              </a:rPr>
              <a:t>Bank Marketing Subscription Prediction</a:t>
            </a:r>
            <a:endParaRPr lang="en-US" sz="800" dirty="0"/>
          </a:p>
        </p:txBody>
      </p:sp>
      <p:sp>
        <p:nvSpPr>
          <p:cNvPr id="6" name="Text 4"/>
          <p:cNvSpPr/>
          <p:nvPr/>
        </p:nvSpPr>
        <p:spPr>
          <a:xfrm>
            <a:off x="11384280" y="6464808"/>
            <a:ext cx="320040" cy="164592"/>
          </a:xfrm>
          <a:prstGeom prst="rect">
            <a:avLst/>
          </a:prstGeom>
          <a:noFill/>
          <a:ln/>
        </p:spPr>
        <p:txBody>
          <a:bodyPr wrap="square" lIns="0" tIns="0" rIns="0" bIns="0" rtlCol="0" anchor="ctr"/>
          <a:lstStyle/>
          <a:p>
            <a:pPr marL="0" indent="0" algn="r">
              <a:buNone/>
            </a:pPr>
            <a:r>
              <a:rPr lang="en-US" sz="800" dirty="0">
                <a:solidFill>
                  <a:srgbClr val="7B8794"/>
                </a:solidFill>
              </a:rPr>
              <a:t>07</a:t>
            </a:r>
            <a:endParaRPr lang="en-US" sz="800" dirty="0"/>
          </a:p>
        </p:txBody>
      </p:sp>
      <p:sp>
        <p:nvSpPr>
          <p:cNvPr id="7" name="Shape 5"/>
          <p:cNvSpPr/>
          <p:nvPr/>
        </p:nvSpPr>
        <p:spPr>
          <a:xfrm>
            <a:off x="685800" y="1170432"/>
            <a:ext cx="155448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8" name="Shape 6"/>
          <p:cNvSpPr/>
          <p:nvPr/>
        </p:nvSpPr>
        <p:spPr>
          <a:xfrm>
            <a:off x="685800" y="1170432"/>
            <a:ext cx="54864" cy="777240"/>
          </a:xfrm>
          <a:prstGeom prst="rect">
            <a:avLst/>
          </a:prstGeom>
          <a:solidFill>
            <a:srgbClr val="149C7E"/>
          </a:solidFill>
          <a:ln w="12700">
            <a:solidFill>
              <a:srgbClr val="149C7E"/>
            </a:solidFill>
            <a:prstDash val="solid"/>
          </a:ln>
        </p:spPr>
        <p:txBody>
          <a:bodyPr/>
          <a:lstStyle/>
          <a:p>
            <a:endParaRPr lang="en-GB">
              <a:latin typeface="Aptos" panose="020B0004020202020204" pitchFamily="34" charset="0"/>
            </a:endParaRPr>
          </a:p>
        </p:txBody>
      </p:sp>
      <p:sp>
        <p:nvSpPr>
          <p:cNvPr id="9" name="Text 7"/>
          <p:cNvSpPr/>
          <p:nvPr/>
        </p:nvSpPr>
        <p:spPr>
          <a:xfrm>
            <a:off x="832104" y="1298448"/>
            <a:ext cx="1353312" cy="256032"/>
          </a:xfrm>
          <a:prstGeom prst="rect">
            <a:avLst/>
          </a:prstGeom>
          <a:noFill/>
          <a:ln/>
        </p:spPr>
        <p:txBody>
          <a:bodyPr wrap="square" lIns="0" tIns="0" rIns="0" bIns="0" rtlCol="0" anchor="ctr"/>
          <a:lstStyle/>
          <a:p>
            <a:pPr marL="0" indent="0" algn="ctr">
              <a:buNone/>
            </a:pPr>
            <a:r>
              <a:rPr lang="en-US" sz="1800" b="1" dirty="0">
                <a:solidFill>
                  <a:srgbClr val="149C7E"/>
                </a:solidFill>
                <a:latin typeface="Aptos" panose="020B0004020202020204" pitchFamily="34" charset="0"/>
              </a:rPr>
              <a:t>0.9328</a:t>
            </a:r>
            <a:endParaRPr lang="en-US" sz="1800" dirty="0">
              <a:latin typeface="Aptos" panose="020B0004020202020204" pitchFamily="34" charset="0"/>
            </a:endParaRPr>
          </a:p>
        </p:txBody>
      </p:sp>
      <p:sp>
        <p:nvSpPr>
          <p:cNvPr id="10" name="Text 8"/>
          <p:cNvSpPr/>
          <p:nvPr/>
        </p:nvSpPr>
        <p:spPr>
          <a:xfrm>
            <a:off x="795528" y="1609344"/>
            <a:ext cx="137160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Test ROC-AUC</a:t>
            </a:r>
            <a:endParaRPr lang="en-US" sz="850" dirty="0">
              <a:latin typeface="Aptos" panose="020B0004020202020204" pitchFamily="34" charset="0"/>
            </a:endParaRPr>
          </a:p>
        </p:txBody>
      </p:sp>
      <p:sp>
        <p:nvSpPr>
          <p:cNvPr id="11" name="Shape 9"/>
          <p:cNvSpPr/>
          <p:nvPr/>
        </p:nvSpPr>
        <p:spPr>
          <a:xfrm>
            <a:off x="2423160" y="1170432"/>
            <a:ext cx="155448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12" name="Shape 10"/>
          <p:cNvSpPr/>
          <p:nvPr/>
        </p:nvSpPr>
        <p:spPr>
          <a:xfrm>
            <a:off x="2423160" y="1170432"/>
            <a:ext cx="54864" cy="777240"/>
          </a:xfrm>
          <a:prstGeom prst="rect">
            <a:avLst/>
          </a:prstGeom>
          <a:solidFill>
            <a:srgbClr val="149C7E"/>
          </a:solidFill>
          <a:ln w="12700">
            <a:solidFill>
              <a:srgbClr val="149C7E"/>
            </a:solidFill>
            <a:prstDash val="solid"/>
          </a:ln>
        </p:spPr>
        <p:txBody>
          <a:bodyPr/>
          <a:lstStyle/>
          <a:p>
            <a:endParaRPr lang="en-GB">
              <a:latin typeface="Aptos" panose="020B0004020202020204" pitchFamily="34" charset="0"/>
            </a:endParaRPr>
          </a:p>
        </p:txBody>
      </p:sp>
      <p:sp>
        <p:nvSpPr>
          <p:cNvPr id="13" name="Text 11"/>
          <p:cNvSpPr/>
          <p:nvPr/>
        </p:nvSpPr>
        <p:spPr>
          <a:xfrm>
            <a:off x="2569464" y="1298448"/>
            <a:ext cx="1353312" cy="256032"/>
          </a:xfrm>
          <a:prstGeom prst="rect">
            <a:avLst/>
          </a:prstGeom>
          <a:noFill/>
          <a:ln/>
        </p:spPr>
        <p:txBody>
          <a:bodyPr wrap="square" lIns="0" tIns="0" rIns="0" bIns="0" rtlCol="0" anchor="ctr"/>
          <a:lstStyle/>
          <a:p>
            <a:pPr marL="0" indent="0" algn="ctr">
              <a:buNone/>
            </a:pPr>
            <a:r>
              <a:rPr lang="en-US" sz="1800" b="1" dirty="0">
                <a:solidFill>
                  <a:srgbClr val="149C7E"/>
                </a:solidFill>
                <a:latin typeface="Aptos" panose="020B0004020202020204" pitchFamily="34" charset="0"/>
              </a:rPr>
              <a:t>0.6339</a:t>
            </a:r>
            <a:endParaRPr lang="en-US" sz="1800" dirty="0">
              <a:latin typeface="Aptos" panose="020B0004020202020204" pitchFamily="34" charset="0"/>
            </a:endParaRPr>
          </a:p>
        </p:txBody>
      </p:sp>
      <p:sp>
        <p:nvSpPr>
          <p:cNvPr id="14" name="Text 12"/>
          <p:cNvSpPr/>
          <p:nvPr/>
        </p:nvSpPr>
        <p:spPr>
          <a:xfrm>
            <a:off x="2532888" y="1609344"/>
            <a:ext cx="137160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Test PR-AUC</a:t>
            </a:r>
            <a:endParaRPr lang="en-US" sz="850" dirty="0">
              <a:latin typeface="Aptos" panose="020B0004020202020204" pitchFamily="34" charset="0"/>
            </a:endParaRPr>
          </a:p>
        </p:txBody>
      </p:sp>
      <p:sp>
        <p:nvSpPr>
          <p:cNvPr id="15" name="Shape 13"/>
          <p:cNvSpPr/>
          <p:nvPr/>
        </p:nvSpPr>
        <p:spPr>
          <a:xfrm>
            <a:off x="4160520" y="1170432"/>
            <a:ext cx="132588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16" name="Shape 14"/>
          <p:cNvSpPr/>
          <p:nvPr/>
        </p:nvSpPr>
        <p:spPr>
          <a:xfrm>
            <a:off x="4160520" y="1170432"/>
            <a:ext cx="54864" cy="777240"/>
          </a:xfrm>
          <a:prstGeom prst="rect">
            <a:avLst/>
          </a:prstGeom>
          <a:solidFill>
            <a:srgbClr val="1F77B4"/>
          </a:solidFill>
          <a:ln w="12700">
            <a:solidFill>
              <a:srgbClr val="1F77B4"/>
            </a:solidFill>
            <a:prstDash val="solid"/>
          </a:ln>
        </p:spPr>
        <p:txBody>
          <a:bodyPr/>
          <a:lstStyle/>
          <a:p>
            <a:endParaRPr lang="en-GB">
              <a:latin typeface="Aptos" panose="020B0004020202020204" pitchFamily="34" charset="0"/>
            </a:endParaRPr>
          </a:p>
        </p:txBody>
      </p:sp>
      <p:sp>
        <p:nvSpPr>
          <p:cNvPr id="17" name="Text 15"/>
          <p:cNvSpPr/>
          <p:nvPr/>
        </p:nvSpPr>
        <p:spPr>
          <a:xfrm>
            <a:off x="4306824" y="1298448"/>
            <a:ext cx="1124712" cy="256032"/>
          </a:xfrm>
          <a:prstGeom prst="rect">
            <a:avLst/>
          </a:prstGeom>
          <a:noFill/>
          <a:ln/>
        </p:spPr>
        <p:txBody>
          <a:bodyPr wrap="square" lIns="0" tIns="0" rIns="0" bIns="0" rtlCol="0" anchor="ctr"/>
          <a:lstStyle/>
          <a:p>
            <a:pPr marL="0" indent="0" algn="ctr">
              <a:buNone/>
            </a:pPr>
            <a:r>
              <a:rPr lang="en-US" sz="1800" b="1" dirty="0">
                <a:solidFill>
                  <a:srgbClr val="1F77B4"/>
                </a:solidFill>
                <a:latin typeface="Aptos" panose="020B0004020202020204" pitchFamily="34" charset="0"/>
              </a:rPr>
              <a:t>0.6009</a:t>
            </a:r>
            <a:endParaRPr lang="en-US" sz="1800" dirty="0">
              <a:latin typeface="Aptos" panose="020B0004020202020204" pitchFamily="34" charset="0"/>
            </a:endParaRPr>
          </a:p>
        </p:txBody>
      </p:sp>
      <p:sp>
        <p:nvSpPr>
          <p:cNvPr id="18" name="Text 16"/>
          <p:cNvSpPr/>
          <p:nvPr/>
        </p:nvSpPr>
        <p:spPr>
          <a:xfrm>
            <a:off x="4270248" y="1609344"/>
            <a:ext cx="114300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Test F1</a:t>
            </a:r>
            <a:endParaRPr lang="en-US" sz="850" dirty="0">
              <a:latin typeface="Aptos" panose="020B0004020202020204" pitchFamily="34" charset="0"/>
            </a:endParaRPr>
          </a:p>
        </p:txBody>
      </p:sp>
      <p:sp>
        <p:nvSpPr>
          <p:cNvPr id="19" name="Shape 17"/>
          <p:cNvSpPr/>
          <p:nvPr/>
        </p:nvSpPr>
        <p:spPr>
          <a:xfrm>
            <a:off x="5715000" y="1170432"/>
            <a:ext cx="132588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20" name="Shape 18"/>
          <p:cNvSpPr/>
          <p:nvPr/>
        </p:nvSpPr>
        <p:spPr>
          <a:xfrm>
            <a:off x="5715000" y="1170432"/>
            <a:ext cx="54864" cy="777240"/>
          </a:xfrm>
          <a:prstGeom prst="rect">
            <a:avLst/>
          </a:prstGeom>
          <a:solidFill>
            <a:srgbClr val="1F77B4"/>
          </a:solidFill>
          <a:ln w="12700">
            <a:solidFill>
              <a:srgbClr val="1F77B4"/>
            </a:solidFill>
            <a:prstDash val="solid"/>
          </a:ln>
        </p:spPr>
        <p:txBody>
          <a:bodyPr/>
          <a:lstStyle/>
          <a:p>
            <a:endParaRPr lang="en-GB">
              <a:latin typeface="Aptos" panose="020B0004020202020204" pitchFamily="34" charset="0"/>
            </a:endParaRPr>
          </a:p>
        </p:txBody>
      </p:sp>
      <p:sp>
        <p:nvSpPr>
          <p:cNvPr id="21" name="Text 19"/>
          <p:cNvSpPr/>
          <p:nvPr/>
        </p:nvSpPr>
        <p:spPr>
          <a:xfrm>
            <a:off x="5861304" y="1298448"/>
            <a:ext cx="1124712" cy="256032"/>
          </a:xfrm>
          <a:prstGeom prst="rect">
            <a:avLst/>
          </a:prstGeom>
          <a:noFill/>
          <a:ln/>
        </p:spPr>
        <p:txBody>
          <a:bodyPr wrap="square" lIns="0" tIns="0" rIns="0" bIns="0" rtlCol="0" anchor="ctr"/>
          <a:lstStyle/>
          <a:p>
            <a:pPr marL="0" indent="0" algn="ctr">
              <a:buNone/>
            </a:pPr>
            <a:r>
              <a:rPr lang="en-US" sz="1800" b="1" dirty="0">
                <a:solidFill>
                  <a:srgbClr val="1F77B4"/>
                </a:solidFill>
                <a:latin typeface="Aptos" panose="020B0004020202020204" pitchFamily="34" charset="0"/>
              </a:rPr>
              <a:t>0.5916</a:t>
            </a:r>
            <a:endParaRPr lang="en-US" sz="1800" dirty="0">
              <a:latin typeface="Aptos" panose="020B0004020202020204" pitchFamily="34" charset="0"/>
            </a:endParaRPr>
          </a:p>
        </p:txBody>
      </p:sp>
      <p:sp>
        <p:nvSpPr>
          <p:cNvPr id="22" name="Text 20"/>
          <p:cNvSpPr/>
          <p:nvPr/>
        </p:nvSpPr>
        <p:spPr>
          <a:xfrm>
            <a:off x="5824728" y="1609344"/>
            <a:ext cx="114300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Precision</a:t>
            </a:r>
            <a:endParaRPr lang="en-US" sz="850" dirty="0">
              <a:latin typeface="Aptos" panose="020B0004020202020204" pitchFamily="34" charset="0"/>
            </a:endParaRPr>
          </a:p>
        </p:txBody>
      </p:sp>
      <p:sp>
        <p:nvSpPr>
          <p:cNvPr id="23" name="Shape 21"/>
          <p:cNvSpPr/>
          <p:nvPr/>
        </p:nvSpPr>
        <p:spPr>
          <a:xfrm>
            <a:off x="7269480" y="1170432"/>
            <a:ext cx="132588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24" name="Shape 22"/>
          <p:cNvSpPr/>
          <p:nvPr/>
        </p:nvSpPr>
        <p:spPr>
          <a:xfrm>
            <a:off x="7269480" y="1170432"/>
            <a:ext cx="54864" cy="777240"/>
          </a:xfrm>
          <a:prstGeom prst="rect">
            <a:avLst/>
          </a:prstGeom>
          <a:solidFill>
            <a:srgbClr val="1F77B4"/>
          </a:solidFill>
          <a:ln w="12700">
            <a:solidFill>
              <a:srgbClr val="1F77B4"/>
            </a:solidFill>
            <a:prstDash val="solid"/>
          </a:ln>
        </p:spPr>
        <p:txBody>
          <a:bodyPr/>
          <a:lstStyle/>
          <a:p>
            <a:endParaRPr lang="en-GB">
              <a:latin typeface="Aptos" panose="020B0004020202020204" pitchFamily="34" charset="0"/>
            </a:endParaRPr>
          </a:p>
        </p:txBody>
      </p:sp>
      <p:sp>
        <p:nvSpPr>
          <p:cNvPr id="25" name="Text 23"/>
          <p:cNvSpPr/>
          <p:nvPr/>
        </p:nvSpPr>
        <p:spPr>
          <a:xfrm>
            <a:off x="7415784" y="1298448"/>
            <a:ext cx="1124712" cy="256032"/>
          </a:xfrm>
          <a:prstGeom prst="rect">
            <a:avLst/>
          </a:prstGeom>
          <a:noFill/>
          <a:ln/>
        </p:spPr>
        <p:txBody>
          <a:bodyPr wrap="square" lIns="0" tIns="0" rIns="0" bIns="0" rtlCol="0" anchor="ctr"/>
          <a:lstStyle/>
          <a:p>
            <a:pPr marL="0" indent="0" algn="ctr">
              <a:buNone/>
            </a:pPr>
            <a:r>
              <a:rPr lang="en-US" sz="1800" b="1" dirty="0">
                <a:solidFill>
                  <a:srgbClr val="1F77B4"/>
                </a:solidFill>
                <a:latin typeface="Aptos" panose="020B0004020202020204" pitchFamily="34" charset="0"/>
              </a:rPr>
              <a:t>0.6106</a:t>
            </a:r>
            <a:endParaRPr lang="en-US" sz="1800" dirty="0">
              <a:latin typeface="Aptos" panose="020B0004020202020204" pitchFamily="34" charset="0"/>
            </a:endParaRPr>
          </a:p>
        </p:txBody>
      </p:sp>
      <p:sp>
        <p:nvSpPr>
          <p:cNvPr id="26" name="Text 24"/>
          <p:cNvSpPr/>
          <p:nvPr/>
        </p:nvSpPr>
        <p:spPr>
          <a:xfrm>
            <a:off x="7379208" y="1609344"/>
            <a:ext cx="114300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Recall</a:t>
            </a:r>
            <a:endParaRPr lang="en-US" sz="850" dirty="0">
              <a:latin typeface="Aptos" panose="020B0004020202020204" pitchFamily="34" charset="0"/>
            </a:endParaRPr>
          </a:p>
        </p:txBody>
      </p:sp>
      <p:sp>
        <p:nvSpPr>
          <p:cNvPr id="27" name="Shape 25"/>
          <p:cNvSpPr/>
          <p:nvPr/>
        </p:nvSpPr>
        <p:spPr>
          <a:xfrm>
            <a:off x="8823960" y="1170432"/>
            <a:ext cx="1325880" cy="777240"/>
          </a:xfrm>
          <a:prstGeom prst="roundRect">
            <a:avLst>
              <a:gd name="adj" fmla="val 7059"/>
            </a:avLst>
          </a:prstGeom>
          <a:solidFill>
            <a:srgbClr val="FFFFFF"/>
          </a:solidFill>
          <a:ln w="12700">
            <a:solidFill>
              <a:srgbClr val="D8DEE6">
                <a:alpha val="80000"/>
              </a:srgbClr>
            </a:solidFill>
            <a:prstDash val="solid"/>
          </a:ln>
        </p:spPr>
        <p:txBody>
          <a:bodyPr/>
          <a:lstStyle/>
          <a:p>
            <a:endParaRPr lang="en-GB">
              <a:latin typeface="Aptos" panose="020B0004020202020204" pitchFamily="34" charset="0"/>
            </a:endParaRPr>
          </a:p>
        </p:txBody>
      </p:sp>
      <p:sp>
        <p:nvSpPr>
          <p:cNvPr id="28" name="Shape 26"/>
          <p:cNvSpPr/>
          <p:nvPr/>
        </p:nvSpPr>
        <p:spPr>
          <a:xfrm>
            <a:off x="8823960" y="1170432"/>
            <a:ext cx="54864" cy="777240"/>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29" name="Text 27"/>
          <p:cNvSpPr/>
          <p:nvPr/>
        </p:nvSpPr>
        <p:spPr>
          <a:xfrm>
            <a:off x="8970264" y="1298448"/>
            <a:ext cx="1124712" cy="256032"/>
          </a:xfrm>
          <a:prstGeom prst="rect">
            <a:avLst/>
          </a:prstGeom>
          <a:noFill/>
          <a:ln/>
        </p:spPr>
        <p:txBody>
          <a:bodyPr wrap="square" lIns="0" tIns="0" rIns="0" bIns="0" rtlCol="0" anchor="ctr"/>
          <a:lstStyle/>
          <a:p>
            <a:pPr marL="0" indent="0" algn="ctr">
              <a:buNone/>
            </a:pPr>
            <a:r>
              <a:rPr lang="en-US" sz="1800" b="1" dirty="0">
                <a:solidFill>
                  <a:srgbClr val="12385B"/>
                </a:solidFill>
                <a:latin typeface="Aptos" panose="020B0004020202020204" pitchFamily="34" charset="0"/>
              </a:rPr>
              <a:t>0.9051</a:t>
            </a:r>
            <a:endParaRPr lang="en-US" sz="1800" dirty="0">
              <a:latin typeface="Aptos" panose="020B0004020202020204" pitchFamily="34" charset="0"/>
            </a:endParaRPr>
          </a:p>
        </p:txBody>
      </p:sp>
      <p:sp>
        <p:nvSpPr>
          <p:cNvPr id="30" name="Text 28"/>
          <p:cNvSpPr/>
          <p:nvPr/>
        </p:nvSpPr>
        <p:spPr>
          <a:xfrm>
            <a:off x="8933688" y="1609344"/>
            <a:ext cx="1143000" cy="164592"/>
          </a:xfrm>
          <a:prstGeom prst="rect">
            <a:avLst/>
          </a:prstGeom>
          <a:noFill/>
          <a:ln/>
        </p:spPr>
        <p:txBody>
          <a:bodyPr wrap="square" lIns="0" tIns="0" rIns="0" bIns="0" rtlCol="0" anchor="ctr"/>
          <a:lstStyle/>
          <a:p>
            <a:pPr marL="0" indent="0" algn="ctr">
              <a:buNone/>
            </a:pPr>
            <a:r>
              <a:rPr lang="en-US" sz="850" dirty="0">
                <a:solidFill>
                  <a:srgbClr val="5B6770"/>
                </a:solidFill>
                <a:latin typeface="Aptos" panose="020B0004020202020204" pitchFamily="34" charset="0"/>
              </a:rPr>
              <a:t>Accuracy</a:t>
            </a:r>
            <a:endParaRPr lang="en-US" sz="850" dirty="0">
              <a:latin typeface="Aptos" panose="020B0004020202020204" pitchFamily="34" charset="0"/>
            </a:endParaRPr>
          </a:p>
        </p:txBody>
      </p:sp>
      <p:sp>
        <p:nvSpPr>
          <p:cNvPr id="31" name="Shape 29"/>
          <p:cNvSpPr/>
          <p:nvPr/>
        </p:nvSpPr>
        <p:spPr>
          <a:xfrm>
            <a:off x="731520" y="2331720"/>
            <a:ext cx="3840480" cy="2971800"/>
          </a:xfrm>
          <a:prstGeom prst="roundRect">
            <a:avLst>
              <a:gd name="adj" fmla="val 1846"/>
            </a:avLst>
          </a:prstGeom>
          <a:solidFill>
            <a:srgbClr val="FFFFFF"/>
          </a:solidFill>
          <a:ln w="12700">
            <a:solidFill>
              <a:srgbClr val="D8DEE6">
                <a:alpha val="85000"/>
              </a:srgbClr>
            </a:solidFill>
            <a:prstDash val="solid"/>
          </a:ln>
        </p:spPr>
        <p:txBody>
          <a:bodyPr/>
          <a:lstStyle/>
          <a:p>
            <a:endParaRPr lang="en-GB">
              <a:latin typeface="Aptos" panose="020B0004020202020204" pitchFamily="34" charset="0"/>
            </a:endParaRPr>
          </a:p>
        </p:txBody>
      </p:sp>
      <p:sp>
        <p:nvSpPr>
          <p:cNvPr id="32" name="Text 30"/>
          <p:cNvSpPr/>
          <p:nvPr/>
        </p:nvSpPr>
        <p:spPr>
          <a:xfrm>
            <a:off x="841248" y="2414016"/>
            <a:ext cx="3621024" cy="164592"/>
          </a:xfrm>
          <a:prstGeom prst="rect">
            <a:avLst/>
          </a:prstGeom>
          <a:noFill/>
          <a:ln/>
        </p:spPr>
        <p:txBody>
          <a:bodyPr wrap="square" lIns="0" tIns="0" rIns="0" bIns="0" rtlCol="0" anchor="ctr"/>
          <a:lstStyle/>
          <a:p>
            <a:pPr marL="0" indent="0">
              <a:buNone/>
            </a:pPr>
            <a:r>
              <a:rPr lang="en-US" sz="1020" b="1" dirty="0">
                <a:solidFill>
                  <a:srgbClr val="12385B"/>
                </a:solidFill>
                <a:latin typeface="Aptos" panose="020B0004020202020204" pitchFamily="34" charset="0"/>
              </a:rPr>
              <a:t>Test confusion matrix</a:t>
            </a:r>
            <a:endParaRPr lang="en-US" sz="1020" dirty="0">
              <a:latin typeface="Aptos" panose="020B0004020202020204" pitchFamily="34" charset="0"/>
            </a:endParaRPr>
          </a:p>
        </p:txBody>
      </p:sp>
      <p:pic>
        <p:nvPicPr>
          <p:cNvPr id="33" name="Image 0" descr="/mnt/data/key_extracted_plots/14_test_confusion_matrix.png"/>
          <p:cNvPicPr>
            <a:picLocks noChangeAspect="1"/>
          </p:cNvPicPr>
          <p:nvPr/>
        </p:nvPicPr>
        <p:blipFill>
          <a:blip r:embed="rId3"/>
          <a:stretch>
            <a:fillRect/>
          </a:stretch>
        </p:blipFill>
        <p:spPr>
          <a:xfrm>
            <a:off x="1216914" y="2633472"/>
            <a:ext cx="2869692" cy="2560320"/>
          </a:xfrm>
          <a:prstGeom prst="rect">
            <a:avLst/>
          </a:prstGeom>
        </p:spPr>
      </p:pic>
      <p:sp>
        <p:nvSpPr>
          <p:cNvPr id="34" name="Shape 31"/>
          <p:cNvSpPr/>
          <p:nvPr/>
        </p:nvSpPr>
        <p:spPr>
          <a:xfrm>
            <a:off x="5074920" y="2377440"/>
            <a:ext cx="6309360" cy="2926080"/>
          </a:xfrm>
          <a:prstGeom prst="roundRect">
            <a:avLst>
              <a:gd name="adj" fmla="val 2500"/>
            </a:avLst>
          </a:prstGeom>
          <a:solidFill>
            <a:srgbClr val="E7F6F2"/>
          </a:solidFill>
          <a:ln w="12700">
            <a:solidFill>
              <a:srgbClr val="149C7E">
                <a:alpha val="30000"/>
              </a:srgbClr>
            </a:solidFill>
            <a:prstDash val="solid"/>
          </a:ln>
        </p:spPr>
        <p:txBody>
          <a:bodyPr/>
          <a:lstStyle/>
          <a:p>
            <a:endParaRPr lang="en-GB">
              <a:latin typeface="Aptos" panose="020B0004020202020204" pitchFamily="34" charset="0"/>
            </a:endParaRPr>
          </a:p>
        </p:txBody>
      </p:sp>
      <p:sp>
        <p:nvSpPr>
          <p:cNvPr id="35" name="Text 32"/>
          <p:cNvSpPr/>
          <p:nvPr/>
        </p:nvSpPr>
        <p:spPr>
          <a:xfrm>
            <a:off x="5394960" y="2743200"/>
            <a:ext cx="3017520" cy="228600"/>
          </a:xfrm>
          <a:prstGeom prst="rect">
            <a:avLst/>
          </a:prstGeom>
          <a:noFill/>
          <a:ln/>
        </p:spPr>
        <p:txBody>
          <a:bodyPr wrap="square" lIns="0" tIns="0" rIns="0" bIns="0" rtlCol="0" anchor="ctr"/>
          <a:lstStyle/>
          <a:p>
            <a:pPr marL="0" indent="0">
              <a:buNone/>
            </a:pPr>
            <a:r>
              <a:rPr lang="en-US" sz="1400" b="1" dirty="0">
                <a:solidFill>
                  <a:srgbClr val="12385B"/>
                </a:solidFill>
                <a:latin typeface="Aptos" panose="020B0004020202020204" pitchFamily="34" charset="0"/>
              </a:rPr>
              <a:t>Why Random Forest is preferred</a:t>
            </a:r>
            <a:endParaRPr lang="en-US" sz="1400" dirty="0">
              <a:latin typeface="Aptos" panose="020B0004020202020204" pitchFamily="34" charset="0"/>
            </a:endParaRPr>
          </a:p>
        </p:txBody>
      </p:sp>
      <p:sp>
        <p:nvSpPr>
          <p:cNvPr id="36" name="Text 33"/>
          <p:cNvSpPr/>
          <p:nvPr/>
        </p:nvSpPr>
        <p:spPr>
          <a:xfrm>
            <a:off x="5440680" y="3154680"/>
            <a:ext cx="5440680" cy="1508760"/>
          </a:xfrm>
          <a:prstGeom prst="rect">
            <a:avLst/>
          </a:prstGeom>
          <a:noFill/>
          <a:ln/>
        </p:spPr>
        <p:txBody>
          <a:bodyPr wrap="square" lIns="254" tIns="254" rIns="254" bIns="254" rtlCol="0" anchor="t">
            <a:normAutofit/>
          </a:bodyPr>
          <a:lstStyle/>
          <a:p>
            <a:pPr marL="0" indent="0">
              <a:buNone/>
            </a:pPr>
            <a:r>
              <a:rPr lang="en-US" sz="1220" dirty="0">
                <a:solidFill>
                  <a:srgbClr val="1F2933"/>
                </a:solidFill>
                <a:latin typeface="Aptos" panose="020B0004020202020204" pitchFamily="34" charset="0"/>
              </a:rPr>
              <a:t>• Highest validation ROC-AUC and PR-AUC among the compared models</a:t>
            </a:r>
            <a:endParaRPr lang="en-US" sz="1220" dirty="0">
              <a:latin typeface="Aptos" panose="020B0004020202020204" pitchFamily="34" charset="0"/>
            </a:endParaRPr>
          </a:p>
          <a:p>
            <a:pPr marL="0" indent="0">
              <a:buNone/>
            </a:pPr>
            <a:r>
              <a:rPr lang="en-US" sz="1220" dirty="0">
                <a:solidFill>
                  <a:srgbClr val="1F2933"/>
                </a:solidFill>
                <a:latin typeface="Aptos" panose="020B0004020202020204" pitchFamily="34" charset="0"/>
              </a:rPr>
              <a:t>• Better precision than Logistic Regression, useful when calls are costly</a:t>
            </a:r>
            <a:endParaRPr lang="en-US" sz="1220" dirty="0">
              <a:latin typeface="Aptos" panose="020B0004020202020204" pitchFamily="34" charset="0"/>
            </a:endParaRPr>
          </a:p>
          <a:p>
            <a:pPr marL="0" indent="0">
              <a:buNone/>
            </a:pPr>
            <a:r>
              <a:rPr lang="en-US" sz="1220" dirty="0">
                <a:solidFill>
                  <a:srgbClr val="1F2933"/>
                </a:solidFill>
                <a:latin typeface="Aptos" panose="020B0004020202020204" pitchFamily="34" charset="0"/>
              </a:rPr>
              <a:t>• Provides feature importance signals for feature selection and interpretation</a:t>
            </a:r>
            <a:endParaRPr lang="en-US" sz="1220" dirty="0">
              <a:latin typeface="Aptos" panose="020B0004020202020204" pitchFamily="34" charset="0"/>
            </a:endParaRPr>
          </a:p>
          <a:p>
            <a:pPr marL="0" indent="0">
              <a:buNone/>
            </a:pPr>
            <a:r>
              <a:rPr lang="en-US" sz="1220" dirty="0">
                <a:solidFill>
                  <a:srgbClr val="1F2933"/>
                </a:solidFill>
                <a:latin typeface="Aptos" panose="020B0004020202020204" pitchFamily="34" charset="0"/>
              </a:rPr>
              <a:t>• Final test metrics confirm stable performance</a:t>
            </a:r>
            <a:endParaRPr lang="en-US" sz="1220" dirty="0">
              <a:latin typeface="Aptos" panose="020B0004020202020204" pitchFamily="34" charset="0"/>
            </a:endParaRPr>
          </a:p>
        </p:txBody>
      </p:sp>
      <p:sp>
        <p:nvSpPr>
          <p:cNvPr id="37" name="Text 34"/>
          <p:cNvSpPr/>
          <p:nvPr/>
        </p:nvSpPr>
        <p:spPr>
          <a:xfrm>
            <a:off x="5440680" y="4800600"/>
            <a:ext cx="5303520" cy="219456"/>
          </a:xfrm>
          <a:prstGeom prst="rect">
            <a:avLst/>
          </a:prstGeom>
          <a:noFill/>
          <a:ln/>
        </p:spPr>
        <p:txBody>
          <a:bodyPr wrap="square" lIns="0" tIns="0" rIns="0" bIns="0" rtlCol="0" anchor="ctr"/>
          <a:lstStyle/>
          <a:p>
            <a:pPr marL="0" indent="0" algn="ctr">
              <a:buNone/>
            </a:pPr>
            <a:r>
              <a:rPr lang="en-US" sz="1350" b="1" dirty="0">
                <a:solidFill>
                  <a:srgbClr val="149C7E"/>
                </a:solidFill>
                <a:latin typeface="Aptos" panose="020B0004020202020204" pitchFamily="34" charset="0"/>
              </a:rPr>
              <a:t>Selected model: tuned Random Forest Classifier at threshold = 0.50</a:t>
            </a:r>
            <a:endParaRPr lang="en-US" sz="1350" dirty="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9C7E"/>
          </a:solidFill>
          <a:ln w="12700">
            <a:solidFill>
              <a:srgbClr val="149C7E"/>
            </a:solidFill>
            <a:prstDash val="solid"/>
          </a:ln>
        </p:spPr>
        <p:txBody>
          <a:bodyPr/>
          <a:lstStyle/>
          <a:p>
            <a:endParaRPr lang="en-GB"/>
          </a:p>
        </p:txBody>
      </p:sp>
      <p:sp>
        <p:nvSpPr>
          <p:cNvPr id="3" name="Text 1"/>
          <p:cNvSpPr/>
          <p:nvPr/>
        </p:nvSpPr>
        <p:spPr>
          <a:xfrm>
            <a:off x="502920" y="310896"/>
            <a:ext cx="8138160" cy="384048"/>
          </a:xfrm>
          <a:prstGeom prst="rect">
            <a:avLst/>
          </a:prstGeom>
          <a:noFill/>
          <a:ln/>
        </p:spPr>
        <p:txBody>
          <a:bodyPr wrap="square" lIns="0" tIns="0" rIns="0" bIns="0" rtlCol="0" anchor="ctr"/>
          <a:lstStyle/>
          <a:p>
            <a:pPr marL="0" indent="0">
              <a:buNone/>
            </a:pPr>
            <a:r>
              <a:rPr lang="en-US" sz="2600" b="1" dirty="0">
                <a:solidFill>
                  <a:srgbClr val="12385B"/>
                </a:solidFill>
                <a:latin typeface="Aptos" panose="020B0004020202020204" pitchFamily="34" charset="0"/>
                <a:ea typeface="Aptos Display" pitchFamily="34" charset="-122"/>
                <a:cs typeface="Aptos Display" pitchFamily="34" charset="-120"/>
              </a:rPr>
              <a:t>Threshold Analysis and Business Trade-Off</a:t>
            </a:r>
            <a:endParaRPr lang="en-US" sz="2600" dirty="0">
              <a:latin typeface="Aptos" panose="020B0004020202020204" pitchFamily="34" charset="0"/>
            </a:endParaRPr>
          </a:p>
        </p:txBody>
      </p:sp>
      <p:sp>
        <p:nvSpPr>
          <p:cNvPr id="4" name="Text 2"/>
          <p:cNvSpPr/>
          <p:nvPr/>
        </p:nvSpPr>
        <p:spPr>
          <a:xfrm>
            <a:off x="521208" y="749808"/>
            <a:ext cx="10789920" cy="237744"/>
          </a:xfrm>
          <a:prstGeom prst="rect">
            <a:avLst/>
          </a:prstGeom>
          <a:noFill/>
          <a:ln/>
        </p:spPr>
        <p:txBody>
          <a:bodyPr wrap="square" lIns="0" tIns="0" rIns="0" bIns="0" rtlCol="0" anchor="ctr"/>
          <a:lstStyle/>
          <a:p>
            <a:pPr marL="0" indent="0">
              <a:buNone/>
            </a:pPr>
            <a:r>
              <a:rPr lang="en-US" sz="1050" dirty="0">
                <a:solidFill>
                  <a:srgbClr val="5B6770"/>
                </a:solidFill>
                <a:latin typeface="Aptos" panose="020B0004020202020204" pitchFamily="34" charset="0"/>
              </a:rPr>
              <a:t>Changing the threshold changes contact volume, recall and precision.</a:t>
            </a:r>
            <a:endParaRPr lang="en-US" sz="1050" dirty="0">
              <a:latin typeface="Aptos" panose="020B0004020202020204" pitchFamily="34" charset="0"/>
            </a:endParaRPr>
          </a:p>
        </p:txBody>
      </p:sp>
      <p:sp>
        <p:nvSpPr>
          <p:cNvPr id="5" name="Text 3"/>
          <p:cNvSpPr/>
          <p:nvPr/>
        </p:nvSpPr>
        <p:spPr>
          <a:xfrm>
            <a:off x="502920" y="6483096"/>
            <a:ext cx="4572000" cy="164592"/>
          </a:xfrm>
          <a:prstGeom prst="rect">
            <a:avLst/>
          </a:prstGeom>
          <a:noFill/>
          <a:ln/>
        </p:spPr>
        <p:txBody>
          <a:bodyPr wrap="square" lIns="0" tIns="0" rIns="0" bIns="0" rtlCol="0" anchor="ctr"/>
          <a:lstStyle/>
          <a:p>
            <a:pPr marL="0" indent="0">
              <a:buNone/>
            </a:pPr>
            <a:r>
              <a:rPr lang="en-US" sz="800" dirty="0">
                <a:solidFill>
                  <a:srgbClr val="7B8794"/>
                </a:solidFill>
              </a:rPr>
              <a:t>Bank Marketing Subscription Prediction</a:t>
            </a:r>
            <a:endParaRPr lang="en-US" sz="800" dirty="0"/>
          </a:p>
        </p:txBody>
      </p:sp>
      <p:sp>
        <p:nvSpPr>
          <p:cNvPr id="6" name="Text 4"/>
          <p:cNvSpPr/>
          <p:nvPr/>
        </p:nvSpPr>
        <p:spPr>
          <a:xfrm>
            <a:off x="11384280" y="6464808"/>
            <a:ext cx="320040" cy="164592"/>
          </a:xfrm>
          <a:prstGeom prst="rect">
            <a:avLst/>
          </a:prstGeom>
          <a:noFill/>
          <a:ln/>
        </p:spPr>
        <p:txBody>
          <a:bodyPr wrap="square" lIns="0" tIns="0" rIns="0" bIns="0" rtlCol="0" anchor="ctr"/>
          <a:lstStyle/>
          <a:p>
            <a:pPr marL="0" indent="0" algn="r">
              <a:buNone/>
            </a:pPr>
            <a:r>
              <a:rPr lang="en-US" sz="800" dirty="0">
                <a:solidFill>
                  <a:srgbClr val="7B8794"/>
                </a:solidFill>
              </a:rPr>
              <a:t>08</a:t>
            </a:r>
            <a:endParaRPr lang="en-US" sz="800" dirty="0"/>
          </a:p>
        </p:txBody>
      </p:sp>
      <p:sp>
        <p:nvSpPr>
          <p:cNvPr id="7" name="Shape 5"/>
          <p:cNvSpPr/>
          <p:nvPr/>
        </p:nvSpPr>
        <p:spPr>
          <a:xfrm>
            <a:off x="640080" y="1188720"/>
            <a:ext cx="6537960" cy="4480560"/>
          </a:xfrm>
          <a:prstGeom prst="roundRect">
            <a:avLst>
              <a:gd name="adj" fmla="val 1224"/>
            </a:avLst>
          </a:prstGeom>
          <a:solidFill>
            <a:srgbClr val="FFFFFF"/>
          </a:solidFill>
          <a:ln w="12700">
            <a:solidFill>
              <a:srgbClr val="D8DEE6">
                <a:alpha val="85000"/>
              </a:srgbClr>
            </a:solidFill>
            <a:prstDash val="solid"/>
          </a:ln>
        </p:spPr>
        <p:txBody>
          <a:bodyPr/>
          <a:lstStyle/>
          <a:p>
            <a:endParaRPr lang="en-GB">
              <a:latin typeface="Aptos" panose="020B0004020202020204" pitchFamily="34" charset="0"/>
            </a:endParaRPr>
          </a:p>
        </p:txBody>
      </p:sp>
      <p:sp>
        <p:nvSpPr>
          <p:cNvPr id="8" name="Text 6"/>
          <p:cNvSpPr/>
          <p:nvPr/>
        </p:nvSpPr>
        <p:spPr>
          <a:xfrm>
            <a:off x="749808" y="1271016"/>
            <a:ext cx="6318504" cy="164592"/>
          </a:xfrm>
          <a:prstGeom prst="rect">
            <a:avLst/>
          </a:prstGeom>
          <a:noFill/>
          <a:ln/>
        </p:spPr>
        <p:txBody>
          <a:bodyPr wrap="square" lIns="0" tIns="0" rIns="0" bIns="0" rtlCol="0" anchor="ctr"/>
          <a:lstStyle/>
          <a:p>
            <a:pPr marL="0" indent="0">
              <a:buNone/>
            </a:pPr>
            <a:r>
              <a:rPr lang="en-US" sz="1020" b="1" dirty="0">
                <a:solidFill>
                  <a:srgbClr val="12385B"/>
                </a:solidFill>
                <a:latin typeface="Aptos" panose="020B0004020202020204" pitchFamily="34" charset="0"/>
              </a:rPr>
              <a:t>Threshold analysis</a:t>
            </a:r>
            <a:endParaRPr lang="en-US" sz="1020" dirty="0">
              <a:latin typeface="Aptos" panose="020B0004020202020204" pitchFamily="34" charset="0"/>
            </a:endParaRPr>
          </a:p>
        </p:txBody>
      </p:sp>
      <p:pic>
        <p:nvPicPr>
          <p:cNvPr id="9" name="Image 0" descr="/mnt/data/key_extracted_plots/13_threshold_analysis.png"/>
          <p:cNvPicPr>
            <a:picLocks noChangeAspect="1"/>
          </p:cNvPicPr>
          <p:nvPr/>
        </p:nvPicPr>
        <p:blipFill>
          <a:blip r:embed="rId3"/>
          <a:stretch>
            <a:fillRect/>
          </a:stretch>
        </p:blipFill>
        <p:spPr>
          <a:xfrm>
            <a:off x="786023" y="1490472"/>
            <a:ext cx="6246074" cy="4069080"/>
          </a:xfrm>
          <a:prstGeom prst="rect">
            <a:avLst/>
          </a:prstGeom>
        </p:spPr>
      </p:pic>
      <p:sp>
        <p:nvSpPr>
          <p:cNvPr id="10" name="Shape 7"/>
          <p:cNvSpPr/>
          <p:nvPr/>
        </p:nvSpPr>
        <p:spPr>
          <a:xfrm>
            <a:off x="7680960" y="1280160"/>
            <a:ext cx="3794760" cy="4389120"/>
          </a:xfrm>
          <a:prstGeom prst="roundRect">
            <a:avLst>
              <a:gd name="adj" fmla="val 1928"/>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11" name="Text 8"/>
          <p:cNvSpPr/>
          <p:nvPr/>
        </p:nvSpPr>
        <p:spPr>
          <a:xfrm>
            <a:off x="8001000" y="1627632"/>
            <a:ext cx="2560320" cy="228600"/>
          </a:xfrm>
          <a:prstGeom prst="rect">
            <a:avLst/>
          </a:prstGeom>
          <a:noFill/>
          <a:ln/>
        </p:spPr>
        <p:txBody>
          <a:bodyPr wrap="square" lIns="0" tIns="0" rIns="0" bIns="0" rtlCol="0" anchor="ctr"/>
          <a:lstStyle/>
          <a:p>
            <a:pPr marL="0" indent="0">
              <a:buNone/>
            </a:pPr>
            <a:r>
              <a:rPr lang="en-US" sz="1400" b="1" dirty="0">
                <a:solidFill>
                  <a:srgbClr val="12385B"/>
                </a:solidFill>
                <a:latin typeface="Aptos" panose="020B0004020202020204" pitchFamily="34" charset="0"/>
              </a:rPr>
              <a:t>Examples from validation set</a:t>
            </a:r>
            <a:endParaRPr lang="en-US" sz="1400" dirty="0">
              <a:latin typeface="Aptos" panose="020B0004020202020204" pitchFamily="34" charset="0"/>
            </a:endParaRPr>
          </a:p>
        </p:txBody>
      </p:sp>
      <p:sp>
        <p:nvSpPr>
          <p:cNvPr id="12" name="Shape 9"/>
          <p:cNvSpPr/>
          <p:nvPr/>
        </p:nvSpPr>
        <p:spPr>
          <a:xfrm>
            <a:off x="8001000" y="2057400"/>
            <a:ext cx="822960" cy="411480"/>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13" name="Text 10"/>
          <p:cNvSpPr/>
          <p:nvPr/>
        </p:nvSpPr>
        <p:spPr>
          <a:xfrm>
            <a:off x="8037576" y="2139696"/>
            <a:ext cx="74980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Threshold</a:t>
            </a:r>
            <a:endParaRPr lang="en-US" sz="850" dirty="0">
              <a:latin typeface="Aptos" panose="020B0004020202020204" pitchFamily="34" charset="0"/>
            </a:endParaRPr>
          </a:p>
        </p:txBody>
      </p:sp>
      <p:sp>
        <p:nvSpPr>
          <p:cNvPr id="14" name="Shape 11"/>
          <p:cNvSpPr/>
          <p:nvPr/>
        </p:nvSpPr>
        <p:spPr>
          <a:xfrm>
            <a:off x="8823960" y="2057400"/>
            <a:ext cx="777240" cy="411480"/>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15" name="Text 12"/>
          <p:cNvSpPr/>
          <p:nvPr/>
        </p:nvSpPr>
        <p:spPr>
          <a:xfrm>
            <a:off x="8860536" y="2139696"/>
            <a:ext cx="70408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Precision</a:t>
            </a:r>
            <a:endParaRPr lang="en-US" sz="850" dirty="0">
              <a:latin typeface="Aptos" panose="020B0004020202020204" pitchFamily="34" charset="0"/>
            </a:endParaRPr>
          </a:p>
        </p:txBody>
      </p:sp>
      <p:sp>
        <p:nvSpPr>
          <p:cNvPr id="16" name="Shape 13"/>
          <p:cNvSpPr/>
          <p:nvPr/>
        </p:nvSpPr>
        <p:spPr>
          <a:xfrm>
            <a:off x="9601200" y="2057400"/>
            <a:ext cx="731520" cy="411480"/>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17" name="Text 14"/>
          <p:cNvSpPr/>
          <p:nvPr/>
        </p:nvSpPr>
        <p:spPr>
          <a:xfrm>
            <a:off x="9637776" y="2139696"/>
            <a:ext cx="65836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Recall</a:t>
            </a:r>
            <a:endParaRPr lang="en-US" sz="850" dirty="0">
              <a:latin typeface="Aptos" panose="020B0004020202020204" pitchFamily="34" charset="0"/>
            </a:endParaRPr>
          </a:p>
        </p:txBody>
      </p:sp>
      <p:sp>
        <p:nvSpPr>
          <p:cNvPr id="18" name="Shape 15"/>
          <p:cNvSpPr/>
          <p:nvPr/>
        </p:nvSpPr>
        <p:spPr>
          <a:xfrm>
            <a:off x="10332720" y="2057400"/>
            <a:ext cx="822960" cy="411480"/>
          </a:xfrm>
          <a:prstGeom prst="rect">
            <a:avLst/>
          </a:prstGeom>
          <a:solidFill>
            <a:srgbClr val="12385B"/>
          </a:solidFill>
          <a:ln w="12700">
            <a:solidFill>
              <a:srgbClr val="12385B"/>
            </a:solidFill>
            <a:prstDash val="solid"/>
          </a:ln>
        </p:spPr>
        <p:txBody>
          <a:bodyPr/>
          <a:lstStyle/>
          <a:p>
            <a:endParaRPr lang="en-GB">
              <a:latin typeface="Aptos" panose="020B0004020202020204" pitchFamily="34" charset="0"/>
            </a:endParaRPr>
          </a:p>
        </p:txBody>
      </p:sp>
      <p:sp>
        <p:nvSpPr>
          <p:cNvPr id="19" name="Text 16"/>
          <p:cNvSpPr/>
          <p:nvPr/>
        </p:nvSpPr>
        <p:spPr>
          <a:xfrm>
            <a:off x="10369296" y="2139696"/>
            <a:ext cx="749808" cy="128016"/>
          </a:xfrm>
          <a:prstGeom prst="rect">
            <a:avLst/>
          </a:prstGeom>
          <a:noFill/>
          <a:ln/>
        </p:spPr>
        <p:txBody>
          <a:bodyPr wrap="square" lIns="0" tIns="0" rIns="0" bIns="0" rtlCol="0" anchor="ctr"/>
          <a:lstStyle/>
          <a:p>
            <a:pPr marL="0" indent="0" algn="ctr">
              <a:buNone/>
            </a:pPr>
            <a:r>
              <a:rPr lang="en-US" sz="850" b="1" dirty="0">
                <a:solidFill>
                  <a:srgbClr val="FFFFFF"/>
                </a:solidFill>
                <a:latin typeface="Aptos" panose="020B0004020202020204" pitchFamily="34" charset="0"/>
              </a:rPr>
              <a:t>Contact</a:t>
            </a:r>
            <a:endParaRPr lang="en-US" sz="850" dirty="0">
              <a:latin typeface="Aptos" panose="020B0004020202020204" pitchFamily="34" charset="0"/>
            </a:endParaRPr>
          </a:p>
        </p:txBody>
      </p:sp>
      <p:sp>
        <p:nvSpPr>
          <p:cNvPr id="20" name="Shape 17"/>
          <p:cNvSpPr/>
          <p:nvPr/>
        </p:nvSpPr>
        <p:spPr>
          <a:xfrm>
            <a:off x="8001000" y="2468880"/>
            <a:ext cx="822960" cy="411480"/>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21" name="Text 18"/>
          <p:cNvSpPr/>
          <p:nvPr/>
        </p:nvSpPr>
        <p:spPr>
          <a:xfrm>
            <a:off x="8037576" y="2551176"/>
            <a:ext cx="74980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latin typeface="Aptos" panose="020B0004020202020204" pitchFamily="34" charset="0"/>
              </a:rPr>
              <a:t>0.30</a:t>
            </a:r>
            <a:endParaRPr lang="en-US" sz="820" dirty="0">
              <a:latin typeface="Aptos" panose="020B0004020202020204" pitchFamily="34" charset="0"/>
            </a:endParaRPr>
          </a:p>
        </p:txBody>
      </p:sp>
      <p:sp>
        <p:nvSpPr>
          <p:cNvPr id="22" name="Shape 19"/>
          <p:cNvSpPr/>
          <p:nvPr/>
        </p:nvSpPr>
        <p:spPr>
          <a:xfrm>
            <a:off x="8823960" y="2468880"/>
            <a:ext cx="777240" cy="411480"/>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23" name="Text 20"/>
          <p:cNvSpPr/>
          <p:nvPr/>
        </p:nvSpPr>
        <p:spPr>
          <a:xfrm>
            <a:off x="8860536" y="2551176"/>
            <a:ext cx="7040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0.446</a:t>
            </a:r>
            <a:endParaRPr lang="en-US" sz="820" dirty="0">
              <a:latin typeface="Aptos" panose="020B0004020202020204" pitchFamily="34" charset="0"/>
            </a:endParaRPr>
          </a:p>
        </p:txBody>
      </p:sp>
      <p:sp>
        <p:nvSpPr>
          <p:cNvPr id="24" name="Shape 21"/>
          <p:cNvSpPr/>
          <p:nvPr/>
        </p:nvSpPr>
        <p:spPr>
          <a:xfrm>
            <a:off x="9601200" y="2468880"/>
            <a:ext cx="731520" cy="411480"/>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25" name="Text 22"/>
          <p:cNvSpPr/>
          <p:nvPr/>
        </p:nvSpPr>
        <p:spPr>
          <a:xfrm>
            <a:off x="9637776" y="2551176"/>
            <a:ext cx="65836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0.854</a:t>
            </a:r>
            <a:endParaRPr lang="en-US" sz="820" dirty="0">
              <a:latin typeface="Aptos" panose="020B0004020202020204" pitchFamily="34" charset="0"/>
            </a:endParaRPr>
          </a:p>
        </p:txBody>
      </p:sp>
      <p:sp>
        <p:nvSpPr>
          <p:cNvPr id="26" name="Shape 23"/>
          <p:cNvSpPr/>
          <p:nvPr/>
        </p:nvSpPr>
        <p:spPr>
          <a:xfrm>
            <a:off x="10332720" y="2468880"/>
            <a:ext cx="822960" cy="411480"/>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27" name="Text 24"/>
          <p:cNvSpPr/>
          <p:nvPr/>
        </p:nvSpPr>
        <p:spPr>
          <a:xfrm>
            <a:off x="10369296" y="2551176"/>
            <a:ext cx="74980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22.4%</a:t>
            </a:r>
            <a:endParaRPr lang="en-US" sz="820" dirty="0">
              <a:latin typeface="Aptos" panose="020B0004020202020204" pitchFamily="34" charset="0"/>
            </a:endParaRPr>
          </a:p>
        </p:txBody>
      </p:sp>
      <p:sp>
        <p:nvSpPr>
          <p:cNvPr id="28" name="Shape 25"/>
          <p:cNvSpPr/>
          <p:nvPr/>
        </p:nvSpPr>
        <p:spPr>
          <a:xfrm>
            <a:off x="8001000" y="2880360"/>
            <a:ext cx="822960" cy="411480"/>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29" name="Text 26"/>
          <p:cNvSpPr/>
          <p:nvPr/>
        </p:nvSpPr>
        <p:spPr>
          <a:xfrm>
            <a:off x="8037576" y="2962656"/>
            <a:ext cx="74980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latin typeface="Aptos" panose="020B0004020202020204" pitchFamily="34" charset="0"/>
              </a:rPr>
              <a:t>0.50</a:t>
            </a:r>
            <a:endParaRPr lang="en-US" sz="820" dirty="0">
              <a:latin typeface="Aptos" panose="020B0004020202020204" pitchFamily="34" charset="0"/>
            </a:endParaRPr>
          </a:p>
        </p:txBody>
      </p:sp>
      <p:sp>
        <p:nvSpPr>
          <p:cNvPr id="30" name="Shape 27"/>
          <p:cNvSpPr/>
          <p:nvPr/>
        </p:nvSpPr>
        <p:spPr>
          <a:xfrm>
            <a:off x="8823960" y="2880360"/>
            <a:ext cx="777240" cy="411480"/>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1" name="Text 28"/>
          <p:cNvSpPr/>
          <p:nvPr/>
        </p:nvSpPr>
        <p:spPr>
          <a:xfrm>
            <a:off x="8860536" y="2962656"/>
            <a:ext cx="7040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0.583</a:t>
            </a:r>
            <a:endParaRPr lang="en-US" sz="820" dirty="0">
              <a:latin typeface="Aptos" panose="020B0004020202020204" pitchFamily="34" charset="0"/>
            </a:endParaRPr>
          </a:p>
        </p:txBody>
      </p:sp>
      <p:sp>
        <p:nvSpPr>
          <p:cNvPr id="32" name="Shape 29"/>
          <p:cNvSpPr/>
          <p:nvPr/>
        </p:nvSpPr>
        <p:spPr>
          <a:xfrm>
            <a:off x="9601200" y="2880360"/>
            <a:ext cx="731520" cy="411480"/>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3" name="Text 30"/>
          <p:cNvSpPr/>
          <p:nvPr/>
        </p:nvSpPr>
        <p:spPr>
          <a:xfrm>
            <a:off x="9637776" y="2962656"/>
            <a:ext cx="65836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0.606</a:t>
            </a:r>
            <a:endParaRPr lang="en-US" sz="820" dirty="0">
              <a:latin typeface="Aptos" panose="020B0004020202020204" pitchFamily="34" charset="0"/>
            </a:endParaRPr>
          </a:p>
        </p:txBody>
      </p:sp>
      <p:sp>
        <p:nvSpPr>
          <p:cNvPr id="34" name="Shape 31"/>
          <p:cNvSpPr/>
          <p:nvPr/>
        </p:nvSpPr>
        <p:spPr>
          <a:xfrm>
            <a:off x="10332720" y="2880360"/>
            <a:ext cx="822960" cy="411480"/>
          </a:xfrm>
          <a:prstGeom prst="rect">
            <a:avLst/>
          </a:prstGeom>
          <a:solidFill>
            <a:srgbClr val="FFFFFF"/>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5" name="Text 32"/>
          <p:cNvSpPr/>
          <p:nvPr/>
        </p:nvSpPr>
        <p:spPr>
          <a:xfrm>
            <a:off x="10369296" y="2962656"/>
            <a:ext cx="74980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12.2%</a:t>
            </a:r>
            <a:endParaRPr lang="en-US" sz="820" dirty="0">
              <a:latin typeface="Aptos" panose="020B0004020202020204" pitchFamily="34" charset="0"/>
            </a:endParaRPr>
          </a:p>
        </p:txBody>
      </p:sp>
      <p:sp>
        <p:nvSpPr>
          <p:cNvPr id="36" name="Shape 33"/>
          <p:cNvSpPr/>
          <p:nvPr/>
        </p:nvSpPr>
        <p:spPr>
          <a:xfrm>
            <a:off x="8001000" y="3291840"/>
            <a:ext cx="822960" cy="411480"/>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7" name="Text 34"/>
          <p:cNvSpPr/>
          <p:nvPr/>
        </p:nvSpPr>
        <p:spPr>
          <a:xfrm>
            <a:off x="8037576" y="3374136"/>
            <a:ext cx="74980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latin typeface="Aptos" panose="020B0004020202020204" pitchFamily="34" charset="0"/>
              </a:rPr>
              <a:t>0.70</a:t>
            </a:r>
            <a:endParaRPr lang="en-US" sz="820" dirty="0">
              <a:latin typeface="Aptos" panose="020B0004020202020204" pitchFamily="34" charset="0"/>
            </a:endParaRPr>
          </a:p>
        </p:txBody>
      </p:sp>
      <p:sp>
        <p:nvSpPr>
          <p:cNvPr id="38" name="Shape 35"/>
          <p:cNvSpPr/>
          <p:nvPr/>
        </p:nvSpPr>
        <p:spPr>
          <a:xfrm>
            <a:off x="8823960" y="3291840"/>
            <a:ext cx="777240" cy="411480"/>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39" name="Text 36"/>
          <p:cNvSpPr/>
          <p:nvPr/>
        </p:nvSpPr>
        <p:spPr>
          <a:xfrm>
            <a:off x="8860536" y="3374136"/>
            <a:ext cx="7040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0.721</a:t>
            </a:r>
            <a:endParaRPr lang="en-US" sz="820" dirty="0">
              <a:latin typeface="Aptos" panose="020B0004020202020204" pitchFamily="34" charset="0"/>
            </a:endParaRPr>
          </a:p>
        </p:txBody>
      </p:sp>
      <p:sp>
        <p:nvSpPr>
          <p:cNvPr id="40" name="Shape 37"/>
          <p:cNvSpPr/>
          <p:nvPr/>
        </p:nvSpPr>
        <p:spPr>
          <a:xfrm>
            <a:off x="9601200" y="3291840"/>
            <a:ext cx="731520" cy="411480"/>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41" name="Text 38"/>
          <p:cNvSpPr/>
          <p:nvPr/>
        </p:nvSpPr>
        <p:spPr>
          <a:xfrm>
            <a:off x="9637776" y="3374136"/>
            <a:ext cx="65836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0.242</a:t>
            </a:r>
            <a:endParaRPr lang="en-US" sz="820" dirty="0">
              <a:latin typeface="Aptos" panose="020B0004020202020204" pitchFamily="34" charset="0"/>
            </a:endParaRPr>
          </a:p>
        </p:txBody>
      </p:sp>
      <p:sp>
        <p:nvSpPr>
          <p:cNvPr id="42" name="Shape 39"/>
          <p:cNvSpPr/>
          <p:nvPr/>
        </p:nvSpPr>
        <p:spPr>
          <a:xfrm>
            <a:off x="10332720" y="3291840"/>
            <a:ext cx="822960" cy="411480"/>
          </a:xfrm>
          <a:prstGeom prst="rect">
            <a:avLst/>
          </a:prstGeom>
          <a:solidFill>
            <a:srgbClr val="F5F7FA"/>
          </a:solidFill>
          <a:ln w="12700">
            <a:solidFill>
              <a:srgbClr val="D8DEE6">
                <a:alpha val="90000"/>
              </a:srgbClr>
            </a:solidFill>
            <a:prstDash val="solid"/>
          </a:ln>
        </p:spPr>
        <p:txBody>
          <a:bodyPr/>
          <a:lstStyle/>
          <a:p>
            <a:endParaRPr lang="en-GB">
              <a:latin typeface="Aptos" panose="020B0004020202020204" pitchFamily="34" charset="0"/>
            </a:endParaRPr>
          </a:p>
        </p:txBody>
      </p:sp>
      <p:sp>
        <p:nvSpPr>
          <p:cNvPr id="43" name="Text 40"/>
          <p:cNvSpPr/>
          <p:nvPr/>
        </p:nvSpPr>
        <p:spPr>
          <a:xfrm>
            <a:off x="10369296" y="3374136"/>
            <a:ext cx="74980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latin typeface="Aptos" panose="020B0004020202020204" pitchFamily="34" charset="0"/>
              </a:rPr>
              <a:t>3.9%</a:t>
            </a:r>
            <a:endParaRPr lang="en-US" sz="820" dirty="0">
              <a:latin typeface="Aptos" panose="020B0004020202020204" pitchFamily="34" charset="0"/>
            </a:endParaRPr>
          </a:p>
        </p:txBody>
      </p:sp>
      <p:sp>
        <p:nvSpPr>
          <p:cNvPr id="44" name="Text 41"/>
          <p:cNvSpPr/>
          <p:nvPr/>
        </p:nvSpPr>
        <p:spPr>
          <a:xfrm>
            <a:off x="8046720" y="4069080"/>
            <a:ext cx="2971800" cy="1005840"/>
          </a:xfrm>
          <a:prstGeom prst="rect">
            <a:avLst/>
          </a:prstGeom>
          <a:noFill/>
          <a:ln/>
        </p:spPr>
        <p:txBody>
          <a:bodyPr wrap="square" lIns="254" tIns="254" rIns="254" bIns="254" rtlCol="0" anchor="t">
            <a:normAutofit/>
          </a:bodyPr>
          <a:lstStyle/>
          <a:p>
            <a:pPr marL="0" indent="0">
              <a:buNone/>
            </a:pPr>
            <a:r>
              <a:rPr lang="en-US" sz="1080" dirty="0">
                <a:solidFill>
                  <a:srgbClr val="1F2933"/>
                </a:solidFill>
                <a:latin typeface="Aptos" panose="020B0004020202020204" pitchFamily="34" charset="0"/>
              </a:rPr>
              <a:t>• Lower threshold: more clients contacted and more subscribers captured</a:t>
            </a:r>
            <a:endParaRPr lang="en-US" sz="1080" dirty="0">
              <a:latin typeface="Aptos" panose="020B0004020202020204" pitchFamily="34" charset="0"/>
            </a:endParaRPr>
          </a:p>
          <a:p>
            <a:pPr marL="0" indent="0">
              <a:buNone/>
            </a:pPr>
            <a:r>
              <a:rPr lang="en-US" sz="1080" dirty="0">
                <a:solidFill>
                  <a:srgbClr val="1F2933"/>
                </a:solidFill>
                <a:latin typeface="Aptos" panose="020B0004020202020204" pitchFamily="34" charset="0"/>
              </a:rPr>
              <a:t>• Higher threshold: fewer contacts and higher conversion quality</a:t>
            </a:r>
            <a:endParaRPr lang="en-US" sz="1080" dirty="0">
              <a:latin typeface="Aptos" panose="020B0004020202020204" pitchFamily="34" charset="0"/>
            </a:endParaRPr>
          </a:p>
          <a:p>
            <a:pPr marL="0" indent="0">
              <a:buNone/>
            </a:pPr>
            <a:r>
              <a:rPr lang="en-US" sz="1080" dirty="0">
                <a:solidFill>
                  <a:srgbClr val="1F2933"/>
                </a:solidFill>
                <a:latin typeface="Aptos" panose="020B0004020202020204" pitchFamily="34" charset="0"/>
              </a:rPr>
              <a:t>• Bank should choose based on campaign capacity and opportunity cost</a:t>
            </a:r>
            <a:endParaRPr lang="en-US" sz="1080" dirty="0">
              <a:latin typeface="Aptos" panose="020B00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9C7E"/>
          </a:solidFill>
          <a:ln w="12700">
            <a:solidFill>
              <a:srgbClr val="149C7E"/>
            </a:solidFill>
            <a:prstDash val="solid"/>
          </a:ln>
        </p:spPr>
        <p:txBody>
          <a:bodyPr/>
          <a:lstStyle/>
          <a:p>
            <a:endParaRPr lang="en-GB"/>
          </a:p>
        </p:txBody>
      </p:sp>
      <p:sp>
        <p:nvSpPr>
          <p:cNvPr id="3" name="Text 1"/>
          <p:cNvSpPr/>
          <p:nvPr/>
        </p:nvSpPr>
        <p:spPr>
          <a:xfrm>
            <a:off x="502920" y="310896"/>
            <a:ext cx="8138160" cy="384048"/>
          </a:xfrm>
          <a:prstGeom prst="rect">
            <a:avLst/>
          </a:prstGeom>
          <a:noFill/>
          <a:ln/>
        </p:spPr>
        <p:txBody>
          <a:bodyPr wrap="square" lIns="0" tIns="0" rIns="0" bIns="0" rtlCol="0" anchor="ctr"/>
          <a:lstStyle/>
          <a:p>
            <a:pPr marL="0" indent="0">
              <a:buNone/>
            </a:pPr>
            <a:r>
              <a:rPr lang="en-US" sz="2600" b="1" dirty="0">
                <a:solidFill>
                  <a:srgbClr val="12385B"/>
                </a:solidFill>
                <a:latin typeface="Aptos Display" pitchFamily="34" charset="0"/>
                <a:ea typeface="Aptos Display" pitchFamily="34" charset="-122"/>
                <a:cs typeface="Aptos Display" pitchFamily="34" charset="-120"/>
              </a:rPr>
              <a:t>Feature Selection and Interpretability</a:t>
            </a:r>
            <a:endParaRPr lang="en-US" sz="2600" dirty="0"/>
          </a:p>
        </p:txBody>
      </p:sp>
      <p:sp>
        <p:nvSpPr>
          <p:cNvPr id="4" name="Text 2"/>
          <p:cNvSpPr/>
          <p:nvPr/>
        </p:nvSpPr>
        <p:spPr>
          <a:xfrm>
            <a:off x="521208" y="749808"/>
            <a:ext cx="10789920" cy="237744"/>
          </a:xfrm>
          <a:prstGeom prst="rect">
            <a:avLst/>
          </a:prstGeom>
          <a:noFill/>
          <a:ln/>
        </p:spPr>
        <p:txBody>
          <a:bodyPr wrap="square" lIns="0" tIns="0" rIns="0" bIns="0" rtlCol="0" anchor="ctr"/>
          <a:lstStyle/>
          <a:p>
            <a:pPr marL="0" indent="0">
              <a:buNone/>
            </a:pPr>
            <a:r>
              <a:rPr lang="en-US" sz="1050" dirty="0">
                <a:solidFill>
                  <a:srgbClr val="5B6770"/>
                </a:solidFill>
              </a:rPr>
              <a:t>A reduced set of original variables preserves performance and improves actionability.</a:t>
            </a:r>
            <a:endParaRPr lang="en-US" sz="1050" dirty="0"/>
          </a:p>
        </p:txBody>
      </p:sp>
      <p:sp>
        <p:nvSpPr>
          <p:cNvPr id="5" name="Text 3"/>
          <p:cNvSpPr/>
          <p:nvPr/>
        </p:nvSpPr>
        <p:spPr>
          <a:xfrm>
            <a:off x="502920" y="6483096"/>
            <a:ext cx="4572000" cy="164592"/>
          </a:xfrm>
          <a:prstGeom prst="rect">
            <a:avLst/>
          </a:prstGeom>
          <a:noFill/>
          <a:ln/>
        </p:spPr>
        <p:txBody>
          <a:bodyPr wrap="square" lIns="0" tIns="0" rIns="0" bIns="0" rtlCol="0" anchor="ctr"/>
          <a:lstStyle/>
          <a:p>
            <a:pPr marL="0" indent="0">
              <a:buNone/>
            </a:pPr>
            <a:r>
              <a:rPr lang="en-US" sz="800" dirty="0">
                <a:solidFill>
                  <a:srgbClr val="7B8794"/>
                </a:solidFill>
              </a:rPr>
              <a:t>Bank Marketing Subscription Prediction</a:t>
            </a:r>
            <a:endParaRPr lang="en-US" sz="800" dirty="0"/>
          </a:p>
        </p:txBody>
      </p:sp>
      <p:sp>
        <p:nvSpPr>
          <p:cNvPr id="6" name="Text 4"/>
          <p:cNvSpPr/>
          <p:nvPr/>
        </p:nvSpPr>
        <p:spPr>
          <a:xfrm>
            <a:off x="11384280" y="6464808"/>
            <a:ext cx="320040" cy="164592"/>
          </a:xfrm>
          <a:prstGeom prst="rect">
            <a:avLst/>
          </a:prstGeom>
          <a:noFill/>
          <a:ln/>
        </p:spPr>
        <p:txBody>
          <a:bodyPr wrap="square" lIns="0" tIns="0" rIns="0" bIns="0" rtlCol="0" anchor="ctr"/>
          <a:lstStyle/>
          <a:p>
            <a:pPr marL="0" indent="0" algn="r">
              <a:buNone/>
            </a:pPr>
            <a:r>
              <a:rPr lang="en-US" sz="800" dirty="0">
                <a:solidFill>
                  <a:srgbClr val="7B8794"/>
                </a:solidFill>
              </a:rPr>
              <a:t>09</a:t>
            </a:r>
            <a:endParaRPr lang="en-US" sz="800" dirty="0"/>
          </a:p>
        </p:txBody>
      </p:sp>
      <p:sp>
        <p:nvSpPr>
          <p:cNvPr id="7" name="Shape 5"/>
          <p:cNvSpPr/>
          <p:nvPr/>
        </p:nvSpPr>
        <p:spPr>
          <a:xfrm>
            <a:off x="594360" y="1143000"/>
            <a:ext cx="5166360" cy="2834640"/>
          </a:xfrm>
          <a:prstGeom prst="roundRect">
            <a:avLst>
              <a:gd name="adj" fmla="val 1935"/>
            </a:avLst>
          </a:prstGeom>
          <a:solidFill>
            <a:srgbClr val="FFFFFF"/>
          </a:solidFill>
          <a:ln w="12700">
            <a:solidFill>
              <a:srgbClr val="D8DEE6">
                <a:alpha val="85000"/>
              </a:srgbClr>
            </a:solidFill>
            <a:prstDash val="solid"/>
          </a:ln>
        </p:spPr>
        <p:txBody>
          <a:bodyPr/>
          <a:lstStyle/>
          <a:p>
            <a:endParaRPr lang="en-GB"/>
          </a:p>
        </p:txBody>
      </p:sp>
      <p:sp>
        <p:nvSpPr>
          <p:cNvPr id="8" name="Text 6"/>
          <p:cNvSpPr/>
          <p:nvPr/>
        </p:nvSpPr>
        <p:spPr>
          <a:xfrm>
            <a:off x="704088" y="1225296"/>
            <a:ext cx="4946904" cy="164592"/>
          </a:xfrm>
          <a:prstGeom prst="rect">
            <a:avLst/>
          </a:prstGeom>
          <a:noFill/>
          <a:ln/>
        </p:spPr>
        <p:txBody>
          <a:bodyPr wrap="square" lIns="0" tIns="0" rIns="0" bIns="0" rtlCol="0" anchor="ctr"/>
          <a:lstStyle/>
          <a:p>
            <a:pPr marL="0" indent="0">
              <a:buNone/>
            </a:pPr>
            <a:r>
              <a:rPr lang="en-US" sz="1020" b="1" dirty="0">
                <a:solidFill>
                  <a:srgbClr val="12385B"/>
                </a:solidFill>
              </a:rPr>
              <a:t>Aggregated original feature importance</a:t>
            </a:r>
            <a:endParaRPr lang="en-US" sz="1020" dirty="0"/>
          </a:p>
        </p:txBody>
      </p:sp>
      <p:pic>
        <p:nvPicPr>
          <p:cNvPr id="9" name="Image 0" descr="/mnt/data/key_extracted_plots/16_rf_original_feature_importance.png"/>
          <p:cNvPicPr>
            <a:picLocks noChangeAspect="1"/>
          </p:cNvPicPr>
          <p:nvPr/>
        </p:nvPicPr>
        <p:blipFill>
          <a:blip r:embed="rId3"/>
          <a:stretch>
            <a:fillRect/>
          </a:stretch>
        </p:blipFill>
        <p:spPr>
          <a:xfrm>
            <a:off x="1202469" y="1444752"/>
            <a:ext cx="3950142" cy="2423160"/>
          </a:xfrm>
          <a:prstGeom prst="rect">
            <a:avLst/>
          </a:prstGeom>
        </p:spPr>
      </p:pic>
      <p:sp>
        <p:nvSpPr>
          <p:cNvPr id="10" name="Shape 7"/>
          <p:cNvSpPr/>
          <p:nvPr/>
        </p:nvSpPr>
        <p:spPr>
          <a:xfrm>
            <a:off x="6263640" y="1143000"/>
            <a:ext cx="5166360" cy="2834640"/>
          </a:xfrm>
          <a:prstGeom prst="roundRect">
            <a:avLst>
              <a:gd name="adj" fmla="val 1935"/>
            </a:avLst>
          </a:prstGeom>
          <a:solidFill>
            <a:srgbClr val="FFFFFF"/>
          </a:solidFill>
          <a:ln w="12700">
            <a:solidFill>
              <a:srgbClr val="D8DEE6">
                <a:alpha val="85000"/>
              </a:srgbClr>
            </a:solidFill>
            <a:prstDash val="solid"/>
          </a:ln>
        </p:spPr>
        <p:txBody>
          <a:bodyPr/>
          <a:lstStyle/>
          <a:p>
            <a:endParaRPr lang="en-GB"/>
          </a:p>
        </p:txBody>
      </p:sp>
      <p:sp>
        <p:nvSpPr>
          <p:cNvPr id="11" name="Text 8"/>
          <p:cNvSpPr/>
          <p:nvPr/>
        </p:nvSpPr>
        <p:spPr>
          <a:xfrm>
            <a:off x="6373368" y="1225296"/>
            <a:ext cx="4946904" cy="164592"/>
          </a:xfrm>
          <a:prstGeom prst="rect">
            <a:avLst/>
          </a:prstGeom>
          <a:noFill/>
          <a:ln/>
        </p:spPr>
        <p:txBody>
          <a:bodyPr wrap="square" lIns="0" tIns="0" rIns="0" bIns="0" rtlCol="0" anchor="ctr"/>
          <a:lstStyle/>
          <a:p>
            <a:pPr marL="0" indent="0">
              <a:buNone/>
            </a:pPr>
            <a:r>
              <a:rPr lang="en-US" sz="1020" b="1" dirty="0">
                <a:solidFill>
                  <a:srgbClr val="12385B"/>
                </a:solidFill>
              </a:rPr>
              <a:t>Permutation importance</a:t>
            </a:r>
            <a:endParaRPr lang="en-US" sz="1020" dirty="0"/>
          </a:p>
        </p:txBody>
      </p:sp>
      <p:pic>
        <p:nvPicPr>
          <p:cNvPr id="12" name="Image 1" descr="/mnt/data/key_extracted_plots/17_permutation_importance.png"/>
          <p:cNvPicPr>
            <a:picLocks noChangeAspect="1"/>
          </p:cNvPicPr>
          <p:nvPr/>
        </p:nvPicPr>
        <p:blipFill>
          <a:blip r:embed="rId4"/>
          <a:stretch>
            <a:fillRect/>
          </a:stretch>
        </p:blipFill>
        <p:spPr>
          <a:xfrm>
            <a:off x="6871749" y="1444752"/>
            <a:ext cx="3950142" cy="2423160"/>
          </a:xfrm>
          <a:prstGeom prst="rect">
            <a:avLst/>
          </a:prstGeom>
        </p:spPr>
      </p:pic>
      <p:sp>
        <p:nvSpPr>
          <p:cNvPr id="13" name="Shape 9"/>
          <p:cNvSpPr/>
          <p:nvPr/>
        </p:nvSpPr>
        <p:spPr>
          <a:xfrm>
            <a:off x="868680" y="4407408"/>
            <a:ext cx="1508760" cy="402336"/>
          </a:xfrm>
          <a:prstGeom prst="rect">
            <a:avLst/>
          </a:prstGeom>
          <a:solidFill>
            <a:srgbClr val="12385B"/>
          </a:solidFill>
          <a:ln w="12700">
            <a:solidFill>
              <a:srgbClr val="12385B"/>
            </a:solidFill>
            <a:prstDash val="solid"/>
          </a:ln>
        </p:spPr>
        <p:txBody>
          <a:bodyPr/>
          <a:lstStyle/>
          <a:p>
            <a:endParaRPr lang="en-GB"/>
          </a:p>
        </p:txBody>
      </p:sp>
      <p:sp>
        <p:nvSpPr>
          <p:cNvPr id="14" name="Text 10"/>
          <p:cNvSpPr/>
          <p:nvPr/>
        </p:nvSpPr>
        <p:spPr>
          <a:xfrm>
            <a:off x="905256" y="4489704"/>
            <a:ext cx="1435608" cy="128016"/>
          </a:xfrm>
          <a:prstGeom prst="rect">
            <a:avLst/>
          </a:prstGeom>
          <a:noFill/>
          <a:ln/>
        </p:spPr>
        <p:txBody>
          <a:bodyPr wrap="square" lIns="0" tIns="0" rIns="0" bIns="0" rtlCol="0" anchor="ctr"/>
          <a:lstStyle/>
          <a:p>
            <a:pPr marL="0" indent="0" algn="ctr">
              <a:buNone/>
            </a:pPr>
            <a:r>
              <a:rPr lang="en-US" sz="850" b="1" dirty="0">
                <a:solidFill>
                  <a:srgbClr val="FFFFFF"/>
                </a:solidFill>
              </a:rPr>
              <a:t>Model</a:t>
            </a:r>
            <a:endParaRPr lang="en-US" sz="850" dirty="0"/>
          </a:p>
        </p:txBody>
      </p:sp>
      <p:sp>
        <p:nvSpPr>
          <p:cNvPr id="15" name="Shape 11"/>
          <p:cNvSpPr/>
          <p:nvPr/>
        </p:nvSpPr>
        <p:spPr>
          <a:xfrm>
            <a:off x="2377440" y="4407408"/>
            <a:ext cx="1188720" cy="402336"/>
          </a:xfrm>
          <a:prstGeom prst="rect">
            <a:avLst/>
          </a:prstGeom>
          <a:solidFill>
            <a:srgbClr val="12385B"/>
          </a:solidFill>
          <a:ln w="12700">
            <a:solidFill>
              <a:srgbClr val="12385B"/>
            </a:solidFill>
            <a:prstDash val="solid"/>
          </a:ln>
        </p:spPr>
        <p:txBody>
          <a:bodyPr/>
          <a:lstStyle/>
          <a:p>
            <a:endParaRPr lang="en-GB"/>
          </a:p>
        </p:txBody>
      </p:sp>
      <p:sp>
        <p:nvSpPr>
          <p:cNvPr id="16" name="Text 12"/>
          <p:cNvSpPr/>
          <p:nvPr/>
        </p:nvSpPr>
        <p:spPr>
          <a:xfrm>
            <a:off x="2414016" y="4489704"/>
            <a:ext cx="1115568" cy="128016"/>
          </a:xfrm>
          <a:prstGeom prst="rect">
            <a:avLst/>
          </a:prstGeom>
          <a:noFill/>
          <a:ln/>
        </p:spPr>
        <p:txBody>
          <a:bodyPr wrap="square" lIns="0" tIns="0" rIns="0" bIns="0" rtlCol="0" anchor="ctr"/>
          <a:lstStyle/>
          <a:p>
            <a:pPr marL="0" indent="0" algn="ctr">
              <a:buNone/>
            </a:pPr>
            <a:r>
              <a:rPr lang="en-US" sz="850" b="1" dirty="0">
                <a:solidFill>
                  <a:srgbClr val="FFFFFF"/>
                </a:solidFill>
              </a:rPr>
              <a:t>Accuracy</a:t>
            </a:r>
            <a:endParaRPr lang="en-US" sz="850" dirty="0"/>
          </a:p>
        </p:txBody>
      </p:sp>
      <p:sp>
        <p:nvSpPr>
          <p:cNvPr id="17" name="Shape 13"/>
          <p:cNvSpPr/>
          <p:nvPr/>
        </p:nvSpPr>
        <p:spPr>
          <a:xfrm>
            <a:off x="3566160" y="4407408"/>
            <a:ext cx="1417320" cy="402336"/>
          </a:xfrm>
          <a:prstGeom prst="rect">
            <a:avLst/>
          </a:prstGeom>
          <a:solidFill>
            <a:srgbClr val="12385B"/>
          </a:solidFill>
          <a:ln w="12700">
            <a:solidFill>
              <a:srgbClr val="12385B"/>
            </a:solidFill>
            <a:prstDash val="solid"/>
          </a:ln>
        </p:spPr>
        <p:txBody>
          <a:bodyPr/>
          <a:lstStyle/>
          <a:p>
            <a:endParaRPr lang="en-GB"/>
          </a:p>
        </p:txBody>
      </p:sp>
      <p:sp>
        <p:nvSpPr>
          <p:cNvPr id="18" name="Text 14"/>
          <p:cNvSpPr/>
          <p:nvPr/>
        </p:nvSpPr>
        <p:spPr>
          <a:xfrm>
            <a:off x="3602736" y="4489704"/>
            <a:ext cx="1344168" cy="128016"/>
          </a:xfrm>
          <a:prstGeom prst="rect">
            <a:avLst/>
          </a:prstGeom>
          <a:noFill/>
          <a:ln/>
        </p:spPr>
        <p:txBody>
          <a:bodyPr wrap="square" lIns="0" tIns="0" rIns="0" bIns="0" rtlCol="0" anchor="ctr"/>
          <a:lstStyle/>
          <a:p>
            <a:pPr marL="0" indent="0" algn="ctr">
              <a:buNone/>
            </a:pPr>
            <a:r>
              <a:rPr lang="en-US" sz="850" b="1" dirty="0">
                <a:solidFill>
                  <a:srgbClr val="FFFFFF"/>
                </a:solidFill>
              </a:rPr>
              <a:t>Balanced Acc.</a:t>
            </a:r>
            <a:endParaRPr lang="en-US" sz="850" dirty="0"/>
          </a:p>
        </p:txBody>
      </p:sp>
      <p:sp>
        <p:nvSpPr>
          <p:cNvPr id="19" name="Shape 15"/>
          <p:cNvSpPr/>
          <p:nvPr/>
        </p:nvSpPr>
        <p:spPr>
          <a:xfrm>
            <a:off x="4983480" y="4407408"/>
            <a:ext cx="1143000" cy="402336"/>
          </a:xfrm>
          <a:prstGeom prst="rect">
            <a:avLst/>
          </a:prstGeom>
          <a:solidFill>
            <a:srgbClr val="12385B"/>
          </a:solidFill>
          <a:ln w="12700">
            <a:solidFill>
              <a:srgbClr val="12385B"/>
            </a:solidFill>
            <a:prstDash val="solid"/>
          </a:ln>
        </p:spPr>
        <p:txBody>
          <a:bodyPr/>
          <a:lstStyle/>
          <a:p>
            <a:endParaRPr lang="en-GB"/>
          </a:p>
        </p:txBody>
      </p:sp>
      <p:sp>
        <p:nvSpPr>
          <p:cNvPr id="20" name="Text 16"/>
          <p:cNvSpPr/>
          <p:nvPr/>
        </p:nvSpPr>
        <p:spPr>
          <a:xfrm>
            <a:off x="5020056" y="4489704"/>
            <a:ext cx="1069848" cy="128016"/>
          </a:xfrm>
          <a:prstGeom prst="rect">
            <a:avLst/>
          </a:prstGeom>
          <a:noFill/>
          <a:ln/>
        </p:spPr>
        <p:txBody>
          <a:bodyPr wrap="square" lIns="0" tIns="0" rIns="0" bIns="0" rtlCol="0" anchor="ctr"/>
          <a:lstStyle/>
          <a:p>
            <a:pPr marL="0" indent="0" algn="ctr">
              <a:buNone/>
            </a:pPr>
            <a:r>
              <a:rPr lang="en-US" sz="850" b="1" dirty="0">
                <a:solidFill>
                  <a:srgbClr val="FFFFFF"/>
                </a:solidFill>
              </a:rPr>
              <a:t>Recall</a:t>
            </a:r>
            <a:endParaRPr lang="en-US" sz="850" dirty="0"/>
          </a:p>
        </p:txBody>
      </p:sp>
      <p:sp>
        <p:nvSpPr>
          <p:cNvPr id="21" name="Shape 17"/>
          <p:cNvSpPr/>
          <p:nvPr/>
        </p:nvSpPr>
        <p:spPr>
          <a:xfrm>
            <a:off x="6126480" y="4407408"/>
            <a:ext cx="1097280" cy="402336"/>
          </a:xfrm>
          <a:prstGeom prst="rect">
            <a:avLst/>
          </a:prstGeom>
          <a:solidFill>
            <a:srgbClr val="12385B"/>
          </a:solidFill>
          <a:ln w="12700">
            <a:solidFill>
              <a:srgbClr val="12385B"/>
            </a:solidFill>
            <a:prstDash val="solid"/>
          </a:ln>
        </p:spPr>
        <p:txBody>
          <a:bodyPr/>
          <a:lstStyle/>
          <a:p>
            <a:endParaRPr lang="en-GB"/>
          </a:p>
        </p:txBody>
      </p:sp>
      <p:sp>
        <p:nvSpPr>
          <p:cNvPr id="22" name="Text 18"/>
          <p:cNvSpPr/>
          <p:nvPr/>
        </p:nvSpPr>
        <p:spPr>
          <a:xfrm>
            <a:off x="6163056" y="4489704"/>
            <a:ext cx="1024128" cy="128016"/>
          </a:xfrm>
          <a:prstGeom prst="rect">
            <a:avLst/>
          </a:prstGeom>
          <a:noFill/>
          <a:ln/>
        </p:spPr>
        <p:txBody>
          <a:bodyPr wrap="square" lIns="0" tIns="0" rIns="0" bIns="0" rtlCol="0" anchor="ctr"/>
          <a:lstStyle/>
          <a:p>
            <a:pPr marL="0" indent="0" algn="ctr">
              <a:buNone/>
            </a:pPr>
            <a:r>
              <a:rPr lang="en-US" sz="850" b="1" dirty="0">
                <a:solidFill>
                  <a:srgbClr val="FFFFFF"/>
                </a:solidFill>
              </a:rPr>
              <a:t>F1</a:t>
            </a:r>
            <a:endParaRPr lang="en-US" sz="850" dirty="0"/>
          </a:p>
        </p:txBody>
      </p:sp>
      <p:sp>
        <p:nvSpPr>
          <p:cNvPr id="23" name="Shape 19"/>
          <p:cNvSpPr/>
          <p:nvPr/>
        </p:nvSpPr>
        <p:spPr>
          <a:xfrm>
            <a:off x="7223760" y="4407408"/>
            <a:ext cx="1325880" cy="402336"/>
          </a:xfrm>
          <a:prstGeom prst="rect">
            <a:avLst/>
          </a:prstGeom>
          <a:solidFill>
            <a:srgbClr val="12385B"/>
          </a:solidFill>
          <a:ln w="12700">
            <a:solidFill>
              <a:srgbClr val="12385B"/>
            </a:solidFill>
            <a:prstDash val="solid"/>
          </a:ln>
        </p:spPr>
        <p:txBody>
          <a:bodyPr/>
          <a:lstStyle/>
          <a:p>
            <a:endParaRPr lang="en-GB"/>
          </a:p>
        </p:txBody>
      </p:sp>
      <p:sp>
        <p:nvSpPr>
          <p:cNvPr id="24" name="Text 20"/>
          <p:cNvSpPr/>
          <p:nvPr/>
        </p:nvSpPr>
        <p:spPr>
          <a:xfrm>
            <a:off x="7260336" y="4489704"/>
            <a:ext cx="1252728" cy="128016"/>
          </a:xfrm>
          <a:prstGeom prst="rect">
            <a:avLst/>
          </a:prstGeom>
          <a:noFill/>
          <a:ln/>
        </p:spPr>
        <p:txBody>
          <a:bodyPr wrap="square" lIns="0" tIns="0" rIns="0" bIns="0" rtlCol="0" anchor="ctr"/>
          <a:lstStyle/>
          <a:p>
            <a:pPr marL="0" indent="0" algn="ctr">
              <a:buNone/>
            </a:pPr>
            <a:r>
              <a:rPr lang="en-US" sz="850" b="1" dirty="0">
                <a:solidFill>
                  <a:srgbClr val="FFFFFF"/>
                </a:solidFill>
              </a:rPr>
              <a:t>ROC-AUC</a:t>
            </a:r>
            <a:endParaRPr lang="en-US" sz="850" dirty="0"/>
          </a:p>
        </p:txBody>
      </p:sp>
      <p:sp>
        <p:nvSpPr>
          <p:cNvPr id="25" name="Shape 21"/>
          <p:cNvSpPr/>
          <p:nvPr/>
        </p:nvSpPr>
        <p:spPr>
          <a:xfrm>
            <a:off x="8549640" y="4407408"/>
            <a:ext cx="1280160" cy="402336"/>
          </a:xfrm>
          <a:prstGeom prst="rect">
            <a:avLst/>
          </a:prstGeom>
          <a:solidFill>
            <a:srgbClr val="12385B"/>
          </a:solidFill>
          <a:ln w="12700">
            <a:solidFill>
              <a:srgbClr val="12385B"/>
            </a:solidFill>
            <a:prstDash val="solid"/>
          </a:ln>
        </p:spPr>
        <p:txBody>
          <a:bodyPr/>
          <a:lstStyle/>
          <a:p>
            <a:endParaRPr lang="en-GB"/>
          </a:p>
        </p:txBody>
      </p:sp>
      <p:sp>
        <p:nvSpPr>
          <p:cNvPr id="26" name="Text 22"/>
          <p:cNvSpPr/>
          <p:nvPr/>
        </p:nvSpPr>
        <p:spPr>
          <a:xfrm>
            <a:off x="8586216" y="4489704"/>
            <a:ext cx="1207008" cy="128016"/>
          </a:xfrm>
          <a:prstGeom prst="rect">
            <a:avLst/>
          </a:prstGeom>
          <a:noFill/>
          <a:ln/>
        </p:spPr>
        <p:txBody>
          <a:bodyPr wrap="square" lIns="0" tIns="0" rIns="0" bIns="0" rtlCol="0" anchor="ctr"/>
          <a:lstStyle/>
          <a:p>
            <a:pPr marL="0" indent="0" algn="ctr">
              <a:buNone/>
            </a:pPr>
            <a:r>
              <a:rPr lang="en-US" sz="850" b="1" dirty="0">
                <a:solidFill>
                  <a:srgbClr val="FFFFFF"/>
                </a:solidFill>
              </a:rPr>
              <a:t>PR-AUC</a:t>
            </a:r>
            <a:endParaRPr lang="en-US" sz="850" dirty="0"/>
          </a:p>
        </p:txBody>
      </p:sp>
      <p:sp>
        <p:nvSpPr>
          <p:cNvPr id="27" name="Shape 23"/>
          <p:cNvSpPr/>
          <p:nvPr/>
        </p:nvSpPr>
        <p:spPr>
          <a:xfrm>
            <a:off x="868680" y="4809744"/>
            <a:ext cx="1508760" cy="402336"/>
          </a:xfrm>
          <a:prstGeom prst="rect">
            <a:avLst/>
          </a:prstGeom>
          <a:solidFill>
            <a:srgbClr val="F5F7FA"/>
          </a:solidFill>
          <a:ln w="12700">
            <a:solidFill>
              <a:srgbClr val="D8DEE6">
                <a:alpha val="90000"/>
              </a:srgbClr>
            </a:solidFill>
            <a:prstDash val="solid"/>
          </a:ln>
        </p:spPr>
        <p:txBody>
          <a:bodyPr/>
          <a:lstStyle/>
          <a:p>
            <a:endParaRPr lang="en-GB"/>
          </a:p>
        </p:txBody>
      </p:sp>
      <p:sp>
        <p:nvSpPr>
          <p:cNvPr id="28" name="Text 24"/>
          <p:cNvSpPr/>
          <p:nvPr/>
        </p:nvSpPr>
        <p:spPr>
          <a:xfrm>
            <a:off x="905256" y="4892040"/>
            <a:ext cx="143560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rPr>
              <a:t>Full RF</a:t>
            </a:r>
            <a:endParaRPr lang="en-US" sz="820" dirty="0"/>
          </a:p>
        </p:txBody>
      </p:sp>
      <p:sp>
        <p:nvSpPr>
          <p:cNvPr id="29" name="Shape 25"/>
          <p:cNvSpPr/>
          <p:nvPr/>
        </p:nvSpPr>
        <p:spPr>
          <a:xfrm>
            <a:off x="2377440" y="4809744"/>
            <a:ext cx="1188720" cy="402336"/>
          </a:xfrm>
          <a:prstGeom prst="rect">
            <a:avLst/>
          </a:prstGeom>
          <a:solidFill>
            <a:srgbClr val="F5F7FA"/>
          </a:solidFill>
          <a:ln w="12700">
            <a:solidFill>
              <a:srgbClr val="D8DEE6">
                <a:alpha val="90000"/>
              </a:srgbClr>
            </a:solidFill>
            <a:prstDash val="solid"/>
          </a:ln>
        </p:spPr>
        <p:txBody>
          <a:bodyPr/>
          <a:lstStyle/>
          <a:p>
            <a:endParaRPr lang="en-GB"/>
          </a:p>
        </p:txBody>
      </p:sp>
      <p:sp>
        <p:nvSpPr>
          <p:cNvPr id="30" name="Text 26"/>
          <p:cNvSpPr/>
          <p:nvPr/>
        </p:nvSpPr>
        <p:spPr>
          <a:xfrm>
            <a:off x="2414016" y="4892040"/>
            <a:ext cx="111556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0.905</a:t>
            </a:r>
            <a:endParaRPr lang="en-US" sz="820" dirty="0"/>
          </a:p>
        </p:txBody>
      </p:sp>
      <p:sp>
        <p:nvSpPr>
          <p:cNvPr id="31" name="Shape 27"/>
          <p:cNvSpPr/>
          <p:nvPr/>
        </p:nvSpPr>
        <p:spPr>
          <a:xfrm>
            <a:off x="3566160" y="4809744"/>
            <a:ext cx="1417320" cy="402336"/>
          </a:xfrm>
          <a:prstGeom prst="rect">
            <a:avLst/>
          </a:prstGeom>
          <a:solidFill>
            <a:srgbClr val="F5F7FA"/>
          </a:solidFill>
          <a:ln w="12700">
            <a:solidFill>
              <a:srgbClr val="D8DEE6">
                <a:alpha val="90000"/>
              </a:srgbClr>
            </a:solidFill>
            <a:prstDash val="solid"/>
          </a:ln>
        </p:spPr>
        <p:txBody>
          <a:bodyPr/>
          <a:lstStyle/>
          <a:p>
            <a:endParaRPr lang="en-GB"/>
          </a:p>
        </p:txBody>
      </p:sp>
      <p:sp>
        <p:nvSpPr>
          <p:cNvPr id="32" name="Text 28"/>
          <p:cNvSpPr/>
          <p:nvPr/>
        </p:nvSpPr>
        <p:spPr>
          <a:xfrm>
            <a:off x="3602736" y="4892040"/>
            <a:ext cx="134416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0.777</a:t>
            </a:r>
            <a:endParaRPr lang="en-US" sz="820" dirty="0"/>
          </a:p>
        </p:txBody>
      </p:sp>
      <p:sp>
        <p:nvSpPr>
          <p:cNvPr id="33" name="Shape 29"/>
          <p:cNvSpPr/>
          <p:nvPr/>
        </p:nvSpPr>
        <p:spPr>
          <a:xfrm>
            <a:off x="4983480" y="4809744"/>
            <a:ext cx="1143000" cy="402336"/>
          </a:xfrm>
          <a:prstGeom prst="rect">
            <a:avLst/>
          </a:prstGeom>
          <a:solidFill>
            <a:srgbClr val="F5F7FA"/>
          </a:solidFill>
          <a:ln w="12700">
            <a:solidFill>
              <a:srgbClr val="D8DEE6">
                <a:alpha val="90000"/>
              </a:srgbClr>
            </a:solidFill>
            <a:prstDash val="solid"/>
          </a:ln>
        </p:spPr>
        <p:txBody>
          <a:bodyPr/>
          <a:lstStyle/>
          <a:p>
            <a:endParaRPr lang="en-GB"/>
          </a:p>
        </p:txBody>
      </p:sp>
      <p:sp>
        <p:nvSpPr>
          <p:cNvPr id="34" name="Text 30"/>
          <p:cNvSpPr/>
          <p:nvPr/>
        </p:nvSpPr>
        <p:spPr>
          <a:xfrm>
            <a:off x="5020056" y="4892040"/>
            <a:ext cx="10698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0.611</a:t>
            </a:r>
            <a:endParaRPr lang="en-US" sz="820" dirty="0"/>
          </a:p>
        </p:txBody>
      </p:sp>
      <p:sp>
        <p:nvSpPr>
          <p:cNvPr id="35" name="Shape 31"/>
          <p:cNvSpPr/>
          <p:nvPr/>
        </p:nvSpPr>
        <p:spPr>
          <a:xfrm>
            <a:off x="6126480" y="4809744"/>
            <a:ext cx="1097280" cy="402336"/>
          </a:xfrm>
          <a:prstGeom prst="rect">
            <a:avLst/>
          </a:prstGeom>
          <a:solidFill>
            <a:srgbClr val="F5F7FA"/>
          </a:solidFill>
          <a:ln w="12700">
            <a:solidFill>
              <a:srgbClr val="D8DEE6">
                <a:alpha val="90000"/>
              </a:srgbClr>
            </a:solidFill>
            <a:prstDash val="solid"/>
          </a:ln>
        </p:spPr>
        <p:txBody>
          <a:bodyPr/>
          <a:lstStyle/>
          <a:p>
            <a:endParaRPr lang="en-GB"/>
          </a:p>
        </p:txBody>
      </p:sp>
      <p:sp>
        <p:nvSpPr>
          <p:cNvPr id="36" name="Text 32"/>
          <p:cNvSpPr/>
          <p:nvPr/>
        </p:nvSpPr>
        <p:spPr>
          <a:xfrm>
            <a:off x="6163056" y="4892040"/>
            <a:ext cx="102412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0.601</a:t>
            </a:r>
            <a:endParaRPr lang="en-US" sz="820" dirty="0"/>
          </a:p>
        </p:txBody>
      </p:sp>
      <p:sp>
        <p:nvSpPr>
          <p:cNvPr id="37" name="Shape 33"/>
          <p:cNvSpPr/>
          <p:nvPr/>
        </p:nvSpPr>
        <p:spPr>
          <a:xfrm>
            <a:off x="7223760" y="4809744"/>
            <a:ext cx="1325880" cy="402336"/>
          </a:xfrm>
          <a:prstGeom prst="rect">
            <a:avLst/>
          </a:prstGeom>
          <a:solidFill>
            <a:srgbClr val="F5F7FA"/>
          </a:solidFill>
          <a:ln w="12700">
            <a:solidFill>
              <a:srgbClr val="D8DEE6">
                <a:alpha val="90000"/>
              </a:srgbClr>
            </a:solidFill>
            <a:prstDash val="solid"/>
          </a:ln>
        </p:spPr>
        <p:txBody>
          <a:bodyPr/>
          <a:lstStyle/>
          <a:p>
            <a:endParaRPr lang="en-GB"/>
          </a:p>
        </p:txBody>
      </p:sp>
      <p:sp>
        <p:nvSpPr>
          <p:cNvPr id="38" name="Text 34"/>
          <p:cNvSpPr/>
          <p:nvPr/>
        </p:nvSpPr>
        <p:spPr>
          <a:xfrm>
            <a:off x="7260336" y="4892040"/>
            <a:ext cx="125272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0.9328</a:t>
            </a:r>
            <a:endParaRPr lang="en-US" sz="820" dirty="0"/>
          </a:p>
        </p:txBody>
      </p:sp>
      <p:sp>
        <p:nvSpPr>
          <p:cNvPr id="39" name="Shape 35"/>
          <p:cNvSpPr/>
          <p:nvPr/>
        </p:nvSpPr>
        <p:spPr>
          <a:xfrm>
            <a:off x="8549640" y="4809744"/>
            <a:ext cx="1280160" cy="402336"/>
          </a:xfrm>
          <a:prstGeom prst="rect">
            <a:avLst/>
          </a:prstGeom>
          <a:solidFill>
            <a:srgbClr val="F5F7FA"/>
          </a:solidFill>
          <a:ln w="12700">
            <a:solidFill>
              <a:srgbClr val="D8DEE6">
                <a:alpha val="90000"/>
              </a:srgbClr>
            </a:solidFill>
            <a:prstDash val="solid"/>
          </a:ln>
        </p:spPr>
        <p:txBody>
          <a:bodyPr/>
          <a:lstStyle/>
          <a:p>
            <a:endParaRPr lang="en-GB"/>
          </a:p>
        </p:txBody>
      </p:sp>
      <p:sp>
        <p:nvSpPr>
          <p:cNvPr id="40" name="Text 36"/>
          <p:cNvSpPr/>
          <p:nvPr/>
        </p:nvSpPr>
        <p:spPr>
          <a:xfrm>
            <a:off x="8586216" y="4892040"/>
            <a:ext cx="120700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0.6339</a:t>
            </a:r>
            <a:endParaRPr lang="en-US" sz="820" dirty="0"/>
          </a:p>
        </p:txBody>
      </p:sp>
      <p:sp>
        <p:nvSpPr>
          <p:cNvPr id="41" name="Shape 37"/>
          <p:cNvSpPr/>
          <p:nvPr/>
        </p:nvSpPr>
        <p:spPr>
          <a:xfrm>
            <a:off x="868680" y="5212080"/>
            <a:ext cx="1508760" cy="402336"/>
          </a:xfrm>
          <a:prstGeom prst="rect">
            <a:avLst/>
          </a:prstGeom>
          <a:solidFill>
            <a:srgbClr val="FFFFFF"/>
          </a:solidFill>
          <a:ln w="12700">
            <a:solidFill>
              <a:srgbClr val="D8DEE6">
                <a:alpha val="90000"/>
              </a:srgbClr>
            </a:solidFill>
            <a:prstDash val="solid"/>
          </a:ln>
        </p:spPr>
        <p:txBody>
          <a:bodyPr/>
          <a:lstStyle/>
          <a:p>
            <a:endParaRPr lang="en-GB"/>
          </a:p>
        </p:txBody>
      </p:sp>
      <p:sp>
        <p:nvSpPr>
          <p:cNvPr id="42" name="Text 38"/>
          <p:cNvSpPr/>
          <p:nvPr/>
        </p:nvSpPr>
        <p:spPr>
          <a:xfrm>
            <a:off x="905256" y="5294376"/>
            <a:ext cx="143560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rPr>
              <a:t>Top 10</a:t>
            </a:r>
            <a:endParaRPr lang="en-US" sz="820" dirty="0"/>
          </a:p>
        </p:txBody>
      </p:sp>
      <p:sp>
        <p:nvSpPr>
          <p:cNvPr id="43" name="Shape 39"/>
          <p:cNvSpPr/>
          <p:nvPr/>
        </p:nvSpPr>
        <p:spPr>
          <a:xfrm>
            <a:off x="2377440" y="5212080"/>
            <a:ext cx="1188720" cy="402336"/>
          </a:xfrm>
          <a:prstGeom prst="rect">
            <a:avLst/>
          </a:prstGeom>
          <a:solidFill>
            <a:srgbClr val="FFFFFF"/>
          </a:solidFill>
          <a:ln w="12700">
            <a:solidFill>
              <a:srgbClr val="D8DEE6">
                <a:alpha val="90000"/>
              </a:srgbClr>
            </a:solidFill>
            <a:prstDash val="solid"/>
          </a:ln>
        </p:spPr>
        <p:txBody>
          <a:bodyPr/>
          <a:lstStyle/>
          <a:p>
            <a:endParaRPr lang="en-GB"/>
          </a:p>
        </p:txBody>
      </p:sp>
      <p:sp>
        <p:nvSpPr>
          <p:cNvPr id="44" name="Text 40"/>
          <p:cNvSpPr/>
          <p:nvPr/>
        </p:nvSpPr>
        <p:spPr>
          <a:xfrm>
            <a:off x="2414016" y="5294376"/>
            <a:ext cx="111556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0.906</a:t>
            </a:r>
            <a:endParaRPr lang="en-US" sz="820" dirty="0"/>
          </a:p>
        </p:txBody>
      </p:sp>
      <p:sp>
        <p:nvSpPr>
          <p:cNvPr id="45" name="Shape 41"/>
          <p:cNvSpPr/>
          <p:nvPr/>
        </p:nvSpPr>
        <p:spPr>
          <a:xfrm>
            <a:off x="3566160" y="5212080"/>
            <a:ext cx="1417320" cy="402336"/>
          </a:xfrm>
          <a:prstGeom prst="rect">
            <a:avLst/>
          </a:prstGeom>
          <a:solidFill>
            <a:srgbClr val="FFFFFF"/>
          </a:solidFill>
          <a:ln w="12700">
            <a:solidFill>
              <a:srgbClr val="D8DEE6">
                <a:alpha val="90000"/>
              </a:srgbClr>
            </a:solidFill>
            <a:prstDash val="solid"/>
          </a:ln>
        </p:spPr>
        <p:txBody>
          <a:bodyPr/>
          <a:lstStyle/>
          <a:p>
            <a:endParaRPr lang="en-GB"/>
          </a:p>
        </p:txBody>
      </p:sp>
      <p:sp>
        <p:nvSpPr>
          <p:cNvPr id="46" name="Text 42"/>
          <p:cNvSpPr/>
          <p:nvPr/>
        </p:nvSpPr>
        <p:spPr>
          <a:xfrm>
            <a:off x="3602736" y="5294376"/>
            <a:ext cx="134416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0.799</a:t>
            </a:r>
            <a:endParaRPr lang="en-US" sz="820" dirty="0"/>
          </a:p>
        </p:txBody>
      </p:sp>
      <p:sp>
        <p:nvSpPr>
          <p:cNvPr id="47" name="Shape 43"/>
          <p:cNvSpPr/>
          <p:nvPr/>
        </p:nvSpPr>
        <p:spPr>
          <a:xfrm>
            <a:off x="4983480" y="5212080"/>
            <a:ext cx="1143000" cy="402336"/>
          </a:xfrm>
          <a:prstGeom prst="rect">
            <a:avLst/>
          </a:prstGeom>
          <a:solidFill>
            <a:srgbClr val="FFFFFF"/>
          </a:solidFill>
          <a:ln w="12700">
            <a:solidFill>
              <a:srgbClr val="D8DEE6">
                <a:alpha val="90000"/>
              </a:srgbClr>
            </a:solidFill>
            <a:prstDash val="solid"/>
          </a:ln>
        </p:spPr>
        <p:txBody>
          <a:bodyPr/>
          <a:lstStyle/>
          <a:p>
            <a:endParaRPr lang="en-GB"/>
          </a:p>
        </p:txBody>
      </p:sp>
      <p:sp>
        <p:nvSpPr>
          <p:cNvPr id="48" name="Text 44"/>
          <p:cNvSpPr/>
          <p:nvPr/>
        </p:nvSpPr>
        <p:spPr>
          <a:xfrm>
            <a:off x="5020056" y="5294376"/>
            <a:ext cx="106984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0.659</a:t>
            </a:r>
            <a:endParaRPr lang="en-US" sz="820" dirty="0"/>
          </a:p>
        </p:txBody>
      </p:sp>
      <p:sp>
        <p:nvSpPr>
          <p:cNvPr id="49" name="Shape 45"/>
          <p:cNvSpPr/>
          <p:nvPr/>
        </p:nvSpPr>
        <p:spPr>
          <a:xfrm>
            <a:off x="6126480" y="5212080"/>
            <a:ext cx="1097280" cy="402336"/>
          </a:xfrm>
          <a:prstGeom prst="rect">
            <a:avLst/>
          </a:prstGeom>
          <a:solidFill>
            <a:srgbClr val="FFFFFF"/>
          </a:solidFill>
          <a:ln w="12700">
            <a:solidFill>
              <a:srgbClr val="D8DEE6">
                <a:alpha val="90000"/>
              </a:srgbClr>
            </a:solidFill>
            <a:prstDash val="solid"/>
          </a:ln>
        </p:spPr>
        <p:txBody>
          <a:bodyPr/>
          <a:lstStyle/>
          <a:p>
            <a:endParaRPr lang="en-GB"/>
          </a:p>
        </p:txBody>
      </p:sp>
      <p:sp>
        <p:nvSpPr>
          <p:cNvPr id="50" name="Text 46"/>
          <p:cNvSpPr/>
          <p:nvPr/>
        </p:nvSpPr>
        <p:spPr>
          <a:xfrm>
            <a:off x="6163056" y="5294376"/>
            <a:ext cx="102412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0.621</a:t>
            </a:r>
            <a:endParaRPr lang="en-US" sz="820" dirty="0"/>
          </a:p>
        </p:txBody>
      </p:sp>
      <p:sp>
        <p:nvSpPr>
          <p:cNvPr id="51" name="Shape 47"/>
          <p:cNvSpPr/>
          <p:nvPr/>
        </p:nvSpPr>
        <p:spPr>
          <a:xfrm>
            <a:off x="7223760" y="5212080"/>
            <a:ext cx="1325880" cy="402336"/>
          </a:xfrm>
          <a:prstGeom prst="rect">
            <a:avLst/>
          </a:prstGeom>
          <a:solidFill>
            <a:srgbClr val="FFFFFF"/>
          </a:solidFill>
          <a:ln w="12700">
            <a:solidFill>
              <a:srgbClr val="D8DEE6">
                <a:alpha val="90000"/>
              </a:srgbClr>
            </a:solidFill>
            <a:prstDash val="solid"/>
          </a:ln>
        </p:spPr>
        <p:txBody>
          <a:bodyPr/>
          <a:lstStyle/>
          <a:p>
            <a:endParaRPr lang="en-GB"/>
          </a:p>
        </p:txBody>
      </p:sp>
      <p:sp>
        <p:nvSpPr>
          <p:cNvPr id="52" name="Text 48"/>
          <p:cNvSpPr/>
          <p:nvPr/>
        </p:nvSpPr>
        <p:spPr>
          <a:xfrm>
            <a:off x="7260336" y="5294376"/>
            <a:ext cx="125272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0.9335</a:t>
            </a:r>
            <a:endParaRPr lang="en-US" sz="820" dirty="0"/>
          </a:p>
        </p:txBody>
      </p:sp>
      <p:sp>
        <p:nvSpPr>
          <p:cNvPr id="53" name="Shape 49"/>
          <p:cNvSpPr/>
          <p:nvPr/>
        </p:nvSpPr>
        <p:spPr>
          <a:xfrm>
            <a:off x="8549640" y="5212080"/>
            <a:ext cx="1280160" cy="402336"/>
          </a:xfrm>
          <a:prstGeom prst="rect">
            <a:avLst/>
          </a:prstGeom>
          <a:solidFill>
            <a:srgbClr val="FFFFFF"/>
          </a:solidFill>
          <a:ln w="12700">
            <a:solidFill>
              <a:srgbClr val="D8DEE6">
                <a:alpha val="90000"/>
              </a:srgbClr>
            </a:solidFill>
            <a:prstDash val="solid"/>
          </a:ln>
        </p:spPr>
        <p:txBody>
          <a:bodyPr/>
          <a:lstStyle/>
          <a:p>
            <a:endParaRPr lang="en-GB"/>
          </a:p>
        </p:txBody>
      </p:sp>
      <p:sp>
        <p:nvSpPr>
          <p:cNvPr id="54" name="Text 50"/>
          <p:cNvSpPr/>
          <p:nvPr/>
        </p:nvSpPr>
        <p:spPr>
          <a:xfrm>
            <a:off x="8586216" y="5294376"/>
            <a:ext cx="120700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0.6347</a:t>
            </a:r>
            <a:endParaRPr lang="en-US" sz="820" dirty="0"/>
          </a:p>
        </p:txBody>
      </p:sp>
      <p:sp>
        <p:nvSpPr>
          <p:cNvPr id="55" name="Text 51"/>
          <p:cNvSpPr/>
          <p:nvPr/>
        </p:nvSpPr>
        <p:spPr>
          <a:xfrm>
            <a:off x="960120" y="5806440"/>
            <a:ext cx="10149840" cy="219456"/>
          </a:xfrm>
          <a:prstGeom prst="rect">
            <a:avLst/>
          </a:prstGeom>
          <a:noFill/>
          <a:ln/>
        </p:spPr>
        <p:txBody>
          <a:bodyPr wrap="square" lIns="0" tIns="0" rIns="0" bIns="0" rtlCol="0" anchor="ctr"/>
          <a:lstStyle/>
          <a:p>
            <a:pPr marL="0" indent="0" algn="ctr">
              <a:buNone/>
            </a:pPr>
            <a:r>
              <a:rPr lang="en-US" sz="1150" b="1" dirty="0">
                <a:solidFill>
                  <a:srgbClr val="12385B"/>
                </a:solidFill>
              </a:rPr>
              <a:t>Top drivers: duration, month, balance, age, poutcome, day, contact, job, housing and campaign.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49C7E"/>
          </a:solidFill>
          <a:ln w="12700">
            <a:solidFill>
              <a:srgbClr val="149C7E"/>
            </a:solidFill>
            <a:prstDash val="solid"/>
          </a:ln>
        </p:spPr>
        <p:txBody>
          <a:bodyPr/>
          <a:lstStyle/>
          <a:p>
            <a:endParaRPr lang="en-GB"/>
          </a:p>
        </p:txBody>
      </p:sp>
      <p:sp>
        <p:nvSpPr>
          <p:cNvPr id="3" name="Text 1"/>
          <p:cNvSpPr/>
          <p:nvPr/>
        </p:nvSpPr>
        <p:spPr>
          <a:xfrm>
            <a:off x="502920" y="310896"/>
            <a:ext cx="8138160" cy="384048"/>
          </a:xfrm>
          <a:prstGeom prst="rect">
            <a:avLst/>
          </a:prstGeom>
          <a:noFill/>
          <a:ln/>
        </p:spPr>
        <p:txBody>
          <a:bodyPr wrap="square" lIns="0" tIns="0" rIns="0" bIns="0" rtlCol="0" anchor="ctr"/>
          <a:lstStyle/>
          <a:p>
            <a:pPr marL="0" indent="0">
              <a:buNone/>
            </a:pPr>
            <a:r>
              <a:rPr lang="en-US" sz="2600" b="1" dirty="0">
                <a:solidFill>
                  <a:srgbClr val="12385B"/>
                </a:solidFill>
                <a:latin typeface="Aptos Display" pitchFamily="34" charset="0"/>
                <a:ea typeface="Aptos Display" pitchFamily="34" charset="-122"/>
                <a:cs typeface="Aptos Display" pitchFamily="34" charset="-120"/>
              </a:rPr>
              <a:t>Conclusions and Limitations</a:t>
            </a:r>
            <a:endParaRPr lang="en-US" sz="2600" dirty="0"/>
          </a:p>
        </p:txBody>
      </p:sp>
      <p:sp>
        <p:nvSpPr>
          <p:cNvPr id="4" name="Text 2"/>
          <p:cNvSpPr/>
          <p:nvPr/>
        </p:nvSpPr>
        <p:spPr>
          <a:xfrm>
            <a:off x="521208" y="749808"/>
            <a:ext cx="10789920" cy="237744"/>
          </a:xfrm>
          <a:prstGeom prst="rect">
            <a:avLst/>
          </a:prstGeom>
          <a:noFill/>
          <a:ln/>
        </p:spPr>
        <p:txBody>
          <a:bodyPr wrap="square" lIns="0" tIns="0" rIns="0" bIns="0" rtlCol="0" anchor="ctr"/>
          <a:lstStyle/>
          <a:p>
            <a:pPr marL="0" indent="0">
              <a:buNone/>
            </a:pPr>
            <a:r>
              <a:rPr lang="en-US" sz="1050" dirty="0">
                <a:solidFill>
                  <a:srgbClr val="5B6770"/>
                </a:solidFill>
              </a:rPr>
              <a:t>The model can support campaign prioritization, but duration must be handled carefully.</a:t>
            </a:r>
            <a:endParaRPr lang="en-US" sz="1050" dirty="0"/>
          </a:p>
        </p:txBody>
      </p:sp>
      <p:sp>
        <p:nvSpPr>
          <p:cNvPr id="5" name="Text 3"/>
          <p:cNvSpPr/>
          <p:nvPr/>
        </p:nvSpPr>
        <p:spPr>
          <a:xfrm>
            <a:off x="502920" y="6483096"/>
            <a:ext cx="4572000" cy="164592"/>
          </a:xfrm>
          <a:prstGeom prst="rect">
            <a:avLst/>
          </a:prstGeom>
          <a:noFill/>
          <a:ln/>
        </p:spPr>
        <p:txBody>
          <a:bodyPr wrap="square" lIns="0" tIns="0" rIns="0" bIns="0" rtlCol="0" anchor="ctr"/>
          <a:lstStyle/>
          <a:p>
            <a:pPr marL="0" indent="0">
              <a:buNone/>
            </a:pPr>
            <a:r>
              <a:rPr lang="en-US" sz="800" dirty="0">
                <a:solidFill>
                  <a:srgbClr val="7B8794"/>
                </a:solidFill>
              </a:rPr>
              <a:t>Bank Marketing Subscription Prediction</a:t>
            </a:r>
            <a:endParaRPr lang="en-US" sz="800" dirty="0"/>
          </a:p>
        </p:txBody>
      </p:sp>
      <p:sp>
        <p:nvSpPr>
          <p:cNvPr id="6" name="Text 4"/>
          <p:cNvSpPr/>
          <p:nvPr/>
        </p:nvSpPr>
        <p:spPr>
          <a:xfrm>
            <a:off x="11384280" y="6464808"/>
            <a:ext cx="320040" cy="164592"/>
          </a:xfrm>
          <a:prstGeom prst="rect">
            <a:avLst/>
          </a:prstGeom>
          <a:noFill/>
          <a:ln/>
        </p:spPr>
        <p:txBody>
          <a:bodyPr wrap="square" lIns="0" tIns="0" rIns="0" bIns="0" rtlCol="0" anchor="ctr"/>
          <a:lstStyle/>
          <a:p>
            <a:pPr marL="0" indent="0" algn="r">
              <a:buNone/>
            </a:pPr>
            <a:r>
              <a:rPr lang="en-US" sz="800" dirty="0">
                <a:solidFill>
                  <a:srgbClr val="7B8794"/>
                </a:solidFill>
              </a:rPr>
              <a:t>10</a:t>
            </a:r>
            <a:endParaRPr lang="en-US" sz="800" dirty="0"/>
          </a:p>
        </p:txBody>
      </p:sp>
      <p:sp>
        <p:nvSpPr>
          <p:cNvPr id="7" name="Shape 5"/>
          <p:cNvSpPr/>
          <p:nvPr/>
        </p:nvSpPr>
        <p:spPr>
          <a:xfrm>
            <a:off x="640080" y="1143000"/>
            <a:ext cx="4937760" cy="2788920"/>
          </a:xfrm>
          <a:prstGeom prst="roundRect">
            <a:avLst>
              <a:gd name="adj" fmla="val 2623"/>
            </a:avLst>
          </a:prstGeom>
          <a:solidFill>
            <a:srgbClr val="E7F6F2"/>
          </a:solidFill>
          <a:ln w="12700">
            <a:solidFill>
              <a:srgbClr val="149C7E">
                <a:alpha val="50000"/>
              </a:srgbClr>
            </a:solidFill>
            <a:prstDash val="solid"/>
          </a:ln>
        </p:spPr>
        <p:txBody>
          <a:bodyPr/>
          <a:lstStyle/>
          <a:p>
            <a:endParaRPr lang="en-GB"/>
          </a:p>
        </p:txBody>
      </p:sp>
      <p:sp>
        <p:nvSpPr>
          <p:cNvPr id="8" name="Text 6"/>
          <p:cNvSpPr/>
          <p:nvPr/>
        </p:nvSpPr>
        <p:spPr>
          <a:xfrm>
            <a:off x="960120" y="1508760"/>
            <a:ext cx="2377440" cy="228600"/>
          </a:xfrm>
          <a:prstGeom prst="rect">
            <a:avLst/>
          </a:prstGeom>
          <a:noFill/>
          <a:ln/>
        </p:spPr>
        <p:txBody>
          <a:bodyPr wrap="square" lIns="0" tIns="0" rIns="0" bIns="0" rtlCol="0" anchor="ctr"/>
          <a:lstStyle/>
          <a:p>
            <a:pPr marL="0" indent="0">
              <a:buNone/>
            </a:pPr>
            <a:r>
              <a:rPr lang="en-US" sz="1400" b="1" dirty="0">
                <a:solidFill>
                  <a:srgbClr val="12385B"/>
                </a:solidFill>
              </a:rPr>
              <a:t>Business conclusions</a:t>
            </a:r>
            <a:endParaRPr lang="en-US" sz="1400" dirty="0"/>
          </a:p>
        </p:txBody>
      </p:sp>
      <p:sp>
        <p:nvSpPr>
          <p:cNvPr id="9" name="Text 7"/>
          <p:cNvSpPr/>
          <p:nvPr/>
        </p:nvSpPr>
        <p:spPr>
          <a:xfrm>
            <a:off x="960120" y="1901952"/>
            <a:ext cx="4069080" cy="1325880"/>
          </a:xfrm>
          <a:prstGeom prst="rect">
            <a:avLst/>
          </a:prstGeom>
          <a:noFill/>
          <a:ln/>
        </p:spPr>
        <p:txBody>
          <a:bodyPr wrap="square" lIns="254" tIns="254" rIns="254" bIns="254" rtlCol="0" anchor="t">
            <a:normAutofit/>
          </a:bodyPr>
          <a:lstStyle/>
          <a:p>
            <a:pPr marL="0" indent="0">
              <a:buNone/>
            </a:pPr>
            <a:r>
              <a:rPr lang="en-US" sz="1220" dirty="0">
                <a:solidFill>
                  <a:srgbClr val="1F2933"/>
                </a:solidFill>
              </a:rPr>
              <a:t>• Use predicted probabilities to rank clients for outreach</a:t>
            </a:r>
            <a:endParaRPr lang="en-US" sz="1220" dirty="0"/>
          </a:p>
          <a:p>
            <a:pPr marL="0" indent="0">
              <a:buNone/>
            </a:pPr>
            <a:r>
              <a:rPr lang="en-US" sz="1220" dirty="0">
                <a:solidFill>
                  <a:srgbClr val="1F2933"/>
                </a:solidFill>
              </a:rPr>
              <a:t>• Random Forest gives the strongest validation ranking metrics</a:t>
            </a:r>
            <a:endParaRPr lang="en-US" sz="1220" dirty="0"/>
          </a:p>
          <a:p>
            <a:pPr marL="0" indent="0">
              <a:buNone/>
            </a:pPr>
            <a:r>
              <a:rPr lang="en-US" sz="1220" dirty="0">
                <a:solidFill>
                  <a:srgbClr val="1F2933"/>
                </a:solidFill>
              </a:rPr>
              <a:t>• A reduced feature set can preserve similar performance</a:t>
            </a:r>
            <a:endParaRPr lang="en-US" sz="1220" dirty="0"/>
          </a:p>
          <a:p>
            <a:pPr marL="0" indent="0">
              <a:buNone/>
            </a:pPr>
            <a:r>
              <a:rPr lang="en-US" sz="1220" dirty="0">
                <a:solidFill>
                  <a:srgbClr val="1F2933"/>
                </a:solidFill>
              </a:rPr>
              <a:t>• Threshold can be adapted to campaign capacity</a:t>
            </a:r>
            <a:endParaRPr lang="en-US" sz="1220" dirty="0"/>
          </a:p>
        </p:txBody>
      </p:sp>
      <p:sp>
        <p:nvSpPr>
          <p:cNvPr id="10" name="Shape 8"/>
          <p:cNvSpPr/>
          <p:nvPr/>
        </p:nvSpPr>
        <p:spPr>
          <a:xfrm>
            <a:off x="6080760" y="1143000"/>
            <a:ext cx="5440680" cy="2788920"/>
          </a:xfrm>
          <a:prstGeom prst="roundRect">
            <a:avLst>
              <a:gd name="adj" fmla="val 2623"/>
            </a:avLst>
          </a:prstGeom>
          <a:solidFill>
            <a:srgbClr val="FFF4F4"/>
          </a:solidFill>
          <a:ln w="12700">
            <a:solidFill>
              <a:srgbClr val="D64545">
                <a:alpha val="40000"/>
              </a:srgbClr>
            </a:solidFill>
            <a:prstDash val="solid"/>
          </a:ln>
        </p:spPr>
        <p:txBody>
          <a:bodyPr/>
          <a:lstStyle/>
          <a:p>
            <a:endParaRPr lang="en-GB"/>
          </a:p>
        </p:txBody>
      </p:sp>
      <p:sp>
        <p:nvSpPr>
          <p:cNvPr id="11" name="Text 9"/>
          <p:cNvSpPr/>
          <p:nvPr/>
        </p:nvSpPr>
        <p:spPr>
          <a:xfrm>
            <a:off x="6400800" y="1508760"/>
            <a:ext cx="2834640" cy="228600"/>
          </a:xfrm>
          <a:prstGeom prst="rect">
            <a:avLst/>
          </a:prstGeom>
          <a:noFill/>
          <a:ln/>
        </p:spPr>
        <p:txBody>
          <a:bodyPr wrap="square" lIns="0" tIns="0" rIns="0" bIns="0" rtlCol="0" anchor="ctr"/>
          <a:lstStyle/>
          <a:p>
            <a:pPr marL="0" indent="0">
              <a:buNone/>
            </a:pPr>
            <a:r>
              <a:rPr lang="en-US" sz="1400" b="1" dirty="0">
                <a:solidFill>
                  <a:srgbClr val="12385B"/>
                </a:solidFill>
              </a:rPr>
              <a:t>Critical limitation: duration</a:t>
            </a:r>
            <a:endParaRPr lang="en-US" sz="1400" dirty="0"/>
          </a:p>
        </p:txBody>
      </p:sp>
      <p:sp>
        <p:nvSpPr>
          <p:cNvPr id="12" name="Text 10"/>
          <p:cNvSpPr/>
          <p:nvPr/>
        </p:nvSpPr>
        <p:spPr>
          <a:xfrm>
            <a:off x="6400800" y="1901952"/>
            <a:ext cx="4434840" cy="1325880"/>
          </a:xfrm>
          <a:prstGeom prst="rect">
            <a:avLst/>
          </a:prstGeom>
          <a:noFill/>
          <a:ln/>
        </p:spPr>
        <p:txBody>
          <a:bodyPr wrap="square" lIns="254" tIns="254" rIns="254" bIns="254" rtlCol="0" anchor="t">
            <a:normAutofit/>
          </a:bodyPr>
          <a:lstStyle/>
          <a:p>
            <a:pPr marL="0" indent="0">
              <a:buNone/>
            </a:pPr>
            <a:r>
              <a:rPr lang="en-US" sz="1220" dirty="0">
                <a:solidFill>
                  <a:srgbClr val="1F2933"/>
                </a:solidFill>
              </a:rPr>
              <a:t>• duration is highly predictive but known only after the call starts</a:t>
            </a:r>
            <a:endParaRPr lang="en-US" sz="1220" dirty="0"/>
          </a:p>
          <a:p>
            <a:pPr marL="0" indent="0">
              <a:buNone/>
            </a:pPr>
            <a:r>
              <a:rPr lang="en-US" sz="1220" dirty="0">
                <a:solidFill>
                  <a:srgbClr val="1F2933"/>
                </a:solidFill>
              </a:rPr>
              <a:t>• Good for explaining past outcomes</a:t>
            </a:r>
            <a:endParaRPr lang="en-US" sz="1220" dirty="0"/>
          </a:p>
          <a:p>
            <a:pPr marL="0" indent="0">
              <a:buNone/>
            </a:pPr>
            <a:r>
              <a:rPr lang="en-US" sz="1220" dirty="0">
                <a:solidFill>
                  <a:srgbClr val="1F2933"/>
                </a:solidFill>
              </a:rPr>
              <a:t>• Problematic for pre-campaign targeting</a:t>
            </a:r>
            <a:endParaRPr lang="en-US" sz="1220" dirty="0"/>
          </a:p>
          <a:p>
            <a:pPr marL="0" indent="0">
              <a:buNone/>
            </a:pPr>
            <a:r>
              <a:rPr lang="en-US" sz="1220" dirty="0">
                <a:solidFill>
                  <a:srgbClr val="1F2933"/>
                </a:solidFill>
              </a:rPr>
              <a:t>• A duration-free robustness check is necessary</a:t>
            </a:r>
            <a:endParaRPr lang="en-US" sz="1220" dirty="0"/>
          </a:p>
        </p:txBody>
      </p:sp>
      <p:sp>
        <p:nvSpPr>
          <p:cNvPr id="13" name="Shape 11"/>
          <p:cNvSpPr/>
          <p:nvPr/>
        </p:nvSpPr>
        <p:spPr>
          <a:xfrm>
            <a:off x="960120" y="4480560"/>
            <a:ext cx="1508760" cy="411480"/>
          </a:xfrm>
          <a:prstGeom prst="rect">
            <a:avLst/>
          </a:prstGeom>
          <a:solidFill>
            <a:srgbClr val="12385B"/>
          </a:solidFill>
          <a:ln w="12700">
            <a:solidFill>
              <a:srgbClr val="12385B"/>
            </a:solidFill>
            <a:prstDash val="solid"/>
          </a:ln>
        </p:spPr>
        <p:txBody>
          <a:bodyPr/>
          <a:lstStyle/>
          <a:p>
            <a:endParaRPr lang="en-GB"/>
          </a:p>
        </p:txBody>
      </p:sp>
      <p:sp>
        <p:nvSpPr>
          <p:cNvPr id="14" name="Text 12"/>
          <p:cNvSpPr/>
          <p:nvPr/>
        </p:nvSpPr>
        <p:spPr>
          <a:xfrm>
            <a:off x="996696" y="4562856"/>
            <a:ext cx="1435608" cy="128016"/>
          </a:xfrm>
          <a:prstGeom prst="rect">
            <a:avLst/>
          </a:prstGeom>
          <a:noFill/>
          <a:ln/>
        </p:spPr>
        <p:txBody>
          <a:bodyPr wrap="square" lIns="0" tIns="0" rIns="0" bIns="0" rtlCol="0" anchor="ctr"/>
          <a:lstStyle/>
          <a:p>
            <a:pPr marL="0" indent="0" algn="ctr">
              <a:buNone/>
            </a:pPr>
            <a:r>
              <a:rPr lang="en-US" sz="850" b="1" dirty="0">
                <a:solidFill>
                  <a:srgbClr val="FFFFFF"/>
                </a:solidFill>
              </a:rPr>
              <a:t>Model</a:t>
            </a:r>
            <a:endParaRPr lang="en-US" sz="850" dirty="0"/>
          </a:p>
        </p:txBody>
      </p:sp>
      <p:sp>
        <p:nvSpPr>
          <p:cNvPr id="15" name="Shape 13"/>
          <p:cNvSpPr/>
          <p:nvPr/>
        </p:nvSpPr>
        <p:spPr>
          <a:xfrm>
            <a:off x="2468880" y="4480560"/>
            <a:ext cx="1005840" cy="411480"/>
          </a:xfrm>
          <a:prstGeom prst="rect">
            <a:avLst/>
          </a:prstGeom>
          <a:solidFill>
            <a:srgbClr val="12385B"/>
          </a:solidFill>
          <a:ln w="12700">
            <a:solidFill>
              <a:srgbClr val="12385B"/>
            </a:solidFill>
            <a:prstDash val="solid"/>
          </a:ln>
        </p:spPr>
        <p:txBody>
          <a:bodyPr/>
          <a:lstStyle/>
          <a:p>
            <a:endParaRPr lang="en-GB"/>
          </a:p>
        </p:txBody>
      </p:sp>
      <p:sp>
        <p:nvSpPr>
          <p:cNvPr id="16" name="Text 14"/>
          <p:cNvSpPr/>
          <p:nvPr/>
        </p:nvSpPr>
        <p:spPr>
          <a:xfrm>
            <a:off x="2505456" y="4562856"/>
            <a:ext cx="932688" cy="128016"/>
          </a:xfrm>
          <a:prstGeom prst="rect">
            <a:avLst/>
          </a:prstGeom>
          <a:noFill/>
          <a:ln/>
        </p:spPr>
        <p:txBody>
          <a:bodyPr wrap="square" lIns="0" tIns="0" rIns="0" bIns="0" rtlCol="0" anchor="ctr"/>
          <a:lstStyle/>
          <a:p>
            <a:pPr marL="0" indent="0" algn="ctr">
              <a:buNone/>
            </a:pPr>
            <a:r>
              <a:rPr lang="en-US" sz="850" b="1" dirty="0">
                <a:solidFill>
                  <a:srgbClr val="FFFFFF"/>
                </a:solidFill>
              </a:rPr>
              <a:t>Balanced Acc.</a:t>
            </a:r>
            <a:endParaRPr lang="en-US" sz="850" dirty="0"/>
          </a:p>
        </p:txBody>
      </p:sp>
      <p:sp>
        <p:nvSpPr>
          <p:cNvPr id="17" name="Shape 15"/>
          <p:cNvSpPr/>
          <p:nvPr/>
        </p:nvSpPr>
        <p:spPr>
          <a:xfrm>
            <a:off x="3474720" y="4480560"/>
            <a:ext cx="777240" cy="411480"/>
          </a:xfrm>
          <a:prstGeom prst="rect">
            <a:avLst/>
          </a:prstGeom>
          <a:solidFill>
            <a:srgbClr val="12385B"/>
          </a:solidFill>
          <a:ln w="12700">
            <a:solidFill>
              <a:srgbClr val="12385B"/>
            </a:solidFill>
            <a:prstDash val="solid"/>
          </a:ln>
        </p:spPr>
        <p:txBody>
          <a:bodyPr/>
          <a:lstStyle/>
          <a:p>
            <a:endParaRPr lang="en-GB"/>
          </a:p>
        </p:txBody>
      </p:sp>
      <p:sp>
        <p:nvSpPr>
          <p:cNvPr id="18" name="Text 16"/>
          <p:cNvSpPr/>
          <p:nvPr/>
        </p:nvSpPr>
        <p:spPr>
          <a:xfrm>
            <a:off x="3511296" y="4562856"/>
            <a:ext cx="704088" cy="128016"/>
          </a:xfrm>
          <a:prstGeom prst="rect">
            <a:avLst/>
          </a:prstGeom>
          <a:noFill/>
          <a:ln/>
        </p:spPr>
        <p:txBody>
          <a:bodyPr wrap="square" lIns="0" tIns="0" rIns="0" bIns="0" rtlCol="0" anchor="ctr"/>
          <a:lstStyle/>
          <a:p>
            <a:pPr marL="0" indent="0" algn="ctr">
              <a:buNone/>
            </a:pPr>
            <a:r>
              <a:rPr lang="en-US" sz="850" b="1" dirty="0">
                <a:solidFill>
                  <a:srgbClr val="FFFFFF"/>
                </a:solidFill>
              </a:rPr>
              <a:t>F1</a:t>
            </a:r>
            <a:endParaRPr lang="en-US" sz="850" dirty="0"/>
          </a:p>
        </p:txBody>
      </p:sp>
      <p:sp>
        <p:nvSpPr>
          <p:cNvPr id="19" name="Shape 17"/>
          <p:cNvSpPr/>
          <p:nvPr/>
        </p:nvSpPr>
        <p:spPr>
          <a:xfrm>
            <a:off x="4251960" y="4480560"/>
            <a:ext cx="822960" cy="411480"/>
          </a:xfrm>
          <a:prstGeom prst="rect">
            <a:avLst/>
          </a:prstGeom>
          <a:solidFill>
            <a:srgbClr val="12385B"/>
          </a:solidFill>
          <a:ln w="12700">
            <a:solidFill>
              <a:srgbClr val="12385B"/>
            </a:solidFill>
            <a:prstDash val="solid"/>
          </a:ln>
        </p:spPr>
        <p:txBody>
          <a:bodyPr/>
          <a:lstStyle/>
          <a:p>
            <a:endParaRPr lang="en-GB"/>
          </a:p>
        </p:txBody>
      </p:sp>
      <p:sp>
        <p:nvSpPr>
          <p:cNvPr id="20" name="Text 18"/>
          <p:cNvSpPr/>
          <p:nvPr/>
        </p:nvSpPr>
        <p:spPr>
          <a:xfrm>
            <a:off x="4288536" y="4562856"/>
            <a:ext cx="749808" cy="128016"/>
          </a:xfrm>
          <a:prstGeom prst="rect">
            <a:avLst/>
          </a:prstGeom>
          <a:noFill/>
          <a:ln/>
        </p:spPr>
        <p:txBody>
          <a:bodyPr wrap="square" lIns="0" tIns="0" rIns="0" bIns="0" rtlCol="0" anchor="ctr"/>
          <a:lstStyle/>
          <a:p>
            <a:pPr marL="0" indent="0" algn="ctr">
              <a:buNone/>
            </a:pPr>
            <a:r>
              <a:rPr lang="en-US" sz="850" b="1" dirty="0">
                <a:solidFill>
                  <a:srgbClr val="FFFFFF"/>
                </a:solidFill>
              </a:rPr>
              <a:t>ROC-AUC</a:t>
            </a:r>
            <a:endParaRPr lang="en-US" sz="850" dirty="0"/>
          </a:p>
        </p:txBody>
      </p:sp>
      <p:sp>
        <p:nvSpPr>
          <p:cNvPr id="21" name="Shape 19"/>
          <p:cNvSpPr/>
          <p:nvPr/>
        </p:nvSpPr>
        <p:spPr>
          <a:xfrm>
            <a:off x="5074920" y="4480560"/>
            <a:ext cx="822960" cy="411480"/>
          </a:xfrm>
          <a:prstGeom prst="rect">
            <a:avLst/>
          </a:prstGeom>
          <a:solidFill>
            <a:srgbClr val="12385B"/>
          </a:solidFill>
          <a:ln w="12700">
            <a:solidFill>
              <a:srgbClr val="12385B"/>
            </a:solidFill>
            <a:prstDash val="solid"/>
          </a:ln>
        </p:spPr>
        <p:txBody>
          <a:bodyPr/>
          <a:lstStyle/>
          <a:p>
            <a:endParaRPr lang="en-GB"/>
          </a:p>
        </p:txBody>
      </p:sp>
      <p:sp>
        <p:nvSpPr>
          <p:cNvPr id="22" name="Text 20"/>
          <p:cNvSpPr/>
          <p:nvPr/>
        </p:nvSpPr>
        <p:spPr>
          <a:xfrm>
            <a:off x="5111496" y="4562856"/>
            <a:ext cx="749808" cy="128016"/>
          </a:xfrm>
          <a:prstGeom prst="rect">
            <a:avLst/>
          </a:prstGeom>
          <a:noFill/>
          <a:ln/>
        </p:spPr>
        <p:txBody>
          <a:bodyPr wrap="square" lIns="0" tIns="0" rIns="0" bIns="0" rtlCol="0" anchor="ctr"/>
          <a:lstStyle/>
          <a:p>
            <a:pPr marL="0" indent="0" algn="ctr">
              <a:buNone/>
            </a:pPr>
            <a:r>
              <a:rPr lang="en-US" sz="850" b="1" dirty="0">
                <a:solidFill>
                  <a:srgbClr val="FFFFFF"/>
                </a:solidFill>
              </a:rPr>
              <a:t>PR-AUC</a:t>
            </a:r>
            <a:endParaRPr lang="en-US" sz="850" dirty="0"/>
          </a:p>
        </p:txBody>
      </p:sp>
      <p:sp>
        <p:nvSpPr>
          <p:cNvPr id="23" name="Shape 21"/>
          <p:cNvSpPr/>
          <p:nvPr/>
        </p:nvSpPr>
        <p:spPr>
          <a:xfrm>
            <a:off x="960120" y="4892040"/>
            <a:ext cx="1508760" cy="411480"/>
          </a:xfrm>
          <a:prstGeom prst="rect">
            <a:avLst/>
          </a:prstGeom>
          <a:solidFill>
            <a:srgbClr val="F5F7FA"/>
          </a:solidFill>
          <a:ln w="12700">
            <a:solidFill>
              <a:srgbClr val="D8DEE6">
                <a:alpha val="90000"/>
              </a:srgbClr>
            </a:solidFill>
            <a:prstDash val="solid"/>
          </a:ln>
        </p:spPr>
        <p:txBody>
          <a:bodyPr/>
          <a:lstStyle/>
          <a:p>
            <a:endParaRPr lang="en-GB"/>
          </a:p>
        </p:txBody>
      </p:sp>
      <p:sp>
        <p:nvSpPr>
          <p:cNvPr id="24" name="Text 22"/>
          <p:cNvSpPr/>
          <p:nvPr/>
        </p:nvSpPr>
        <p:spPr>
          <a:xfrm>
            <a:off x="996696" y="4974336"/>
            <a:ext cx="143560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rPr>
              <a:t>RF tuned</a:t>
            </a:r>
            <a:endParaRPr lang="en-US" sz="820" dirty="0"/>
          </a:p>
        </p:txBody>
      </p:sp>
      <p:sp>
        <p:nvSpPr>
          <p:cNvPr id="25" name="Shape 23"/>
          <p:cNvSpPr/>
          <p:nvPr/>
        </p:nvSpPr>
        <p:spPr>
          <a:xfrm>
            <a:off x="2468880" y="4892040"/>
            <a:ext cx="1005840" cy="411480"/>
          </a:xfrm>
          <a:prstGeom prst="rect">
            <a:avLst/>
          </a:prstGeom>
          <a:solidFill>
            <a:srgbClr val="F5F7FA"/>
          </a:solidFill>
          <a:ln w="12700">
            <a:solidFill>
              <a:srgbClr val="D8DEE6">
                <a:alpha val="90000"/>
              </a:srgbClr>
            </a:solidFill>
            <a:prstDash val="solid"/>
          </a:ln>
        </p:spPr>
        <p:txBody>
          <a:bodyPr/>
          <a:lstStyle/>
          <a:p>
            <a:endParaRPr lang="en-GB"/>
          </a:p>
        </p:txBody>
      </p:sp>
      <p:sp>
        <p:nvSpPr>
          <p:cNvPr id="26" name="Text 24"/>
          <p:cNvSpPr/>
          <p:nvPr/>
        </p:nvSpPr>
        <p:spPr>
          <a:xfrm>
            <a:off x="2505456" y="4974336"/>
            <a:ext cx="9326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0.774</a:t>
            </a:r>
            <a:endParaRPr lang="en-US" sz="820" dirty="0"/>
          </a:p>
        </p:txBody>
      </p:sp>
      <p:sp>
        <p:nvSpPr>
          <p:cNvPr id="27" name="Shape 25"/>
          <p:cNvSpPr/>
          <p:nvPr/>
        </p:nvSpPr>
        <p:spPr>
          <a:xfrm>
            <a:off x="3474720" y="4892040"/>
            <a:ext cx="777240" cy="411480"/>
          </a:xfrm>
          <a:prstGeom prst="rect">
            <a:avLst/>
          </a:prstGeom>
          <a:solidFill>
            <a:srgbClr val="F5F7FA"/>
          </a:solidFill>
          <a:ln w="12700">
            <a:solidFill>
              <a:srgbClr val="D8DEE6">
                <a:alpha val="90000"/>
              </a:srgbClr>
            </a:solidFill>
            <a:prstDash val="solid"/>
          </a:ln>
        </p:spPr>
        <p:txBody>
          <a:bodyPr/>
          <a:lstStyle/>
          <a:p>
            <a:endParaRPr lang="en-GB"/>
          </a:p>
        </p:txBody>
      </p:sp>
      <p:sp>
        <p:nvSpPr>
          <p:cNvPr id="28" name="Text 26"/>
          <p:cNvSpPr/>
          <p:nvPr/>
        </p:nvSpPr>
        <p:spPr>
          <a:xfrm>
            <a:off x="3511296" y="4974336"/>
            <a:ext cx="7040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0.594</a:t>
            </a:r>
            <a:endParaRPr lang="en-US" sz="820" dirty="0"/>
          </a:p>
        </p:txBody>
      </p:sp>
      <p:sp>
        <p:nvSpPr>
          <p:cNvPr id="29" name="Shape 27"/>
          <p:cNvSpPr/>
          <p:nvPr/>
        </p:nvSpPr>
        <p:spPr>
          <a:xfrm>
            <a:off x="4251960" y="4892040"/>
            <a:ext cx="822960" cy="411480"/>
          </a:xfrm>
          <a:prstGeom prst="rect">
            <a:avLst/>
          </a:prstGeom>
          <a:solidFill>
            <a:srgbClr val="F5F7FA"/>
          </a:solidFill>
          <a:ln w="12700">
            <a:solidFill>
              <a:srgbClr val="D8DEE6">
                <a:alpha val="90000"/>
              </a:srgbClr>
            </a:solidFill>
            <a:prstDash val="solid"/>
          </a:ln>
        </p:spPr>
        <p:txBody>
          <a:bodyPr/>
          <a:lstStyle/>
          <a:p>
            <a:endParaRPr lang="en-GB"/>
          </a:p>
        </p:txBody>
      </p:sp>
      <p:sp>
        <p:nvSpPr>
          <p:cNvPr id="30" name="Text 28"/>
          <p:cNvSpPr/>
          <p:nvPr/>
        </p:nvSpPr>
        <p:spPr>
          <a:xfrm>
            <a:off x="4288536" y="4974336"/>
            <a:ext cx="74980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0.929</a:t>
            </a:r>
            <a:endParaRPr lang="en-US" sz="820" dirty="0"/>
          </a:p>
        </p:txBody>
      </p:sp>
      <p:sp>
        <p:nvSpPr>
          <p:cNvPr id="31" name="Shape 29"/>
          <p:cNvSpPr/>
          <p:nvPr/>
        </p:nvSpPr>
        <p:spPr>
          <a:xfrm>
            <a:off x="5074920" y="4892040"/>
            <a:ext cx="822960" cy="411480"/>
          </a:xfrm>
          <a:prstGeom prst="rect">
            <a:avLst/>
          </a:prstGeom>
          <a:solidFill>
            <a:srgbClr val="F5F7FA"/>
          </a:solidFill>
          <a:ln w="12700">
            <a:solidFill>
              <a:srgbClr val="D8DEE6">
                <a:alpha val="90000"/>
              </a:srgbClr>
            </a:solidFill>
            <a:prstDash val="solid"/>
          </a:ln>
        </p:spPr>
        <p:txBody>
          <a:bodyPr/>
          <a:lstStyle/>
          <a:p>
            <a:endParaRPr lang="en-GB"/>
          </a:p>
        </p:txBody>
      </p:sp>
      <p:sp>
        <p:nvSpPr>
          <p:cNvPr id="32" name="Text 30"/>
          <p:cNvSpPr/>
          <p:nvPr/>
        </p:nvSpPr>
        <p:spPr>
          <a:xfrm>
            <a:off x="5111496" y="4974336"/>
            <a:ext cx="74980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0.615</a:t>
            </a:r>
            <a:endParaRPr lang="en-US" sz="820" dirty="0"/>
          </a:p>
        </p:txBody>
      </p:sp>
      <p:sp>
        <p:nvSpPr>
          <p:cNvPr id="33" name="Shape 31"/>
          <p:cNvSpPr/>
          <p:nvPr/>
        </p:nvSpPr>
        <p:spPr>
          <a:xfrm>
            <a:off x="960120" y="5303520"/>
            <a:ext cx="1508760" cy="411480"/>
          </a:xfrm>
          <a:prstGeom prst="rect">
            <a:avLst/>
          </a:prstGeom>
          <a:solidFill>
            <a:srgbClr val="FFFFFF"/>
          </a:solidFill>
          <a:ln w="12700">
            <a:solidFill>
              <a:srgbClr val="D8DEE6">
                <a:alpha val="90000"/>
              </a:srgbClr>
            </a:solidFill>
            <a:prstDash val="solid"/>
          </a:ln>
        </p:spPr>
        <p:txBody>
          <a:bodyPr/>
          <a:lstStyle/>
          <a:p>
            <a:endParaRPr lang="en-GB"/>
          </a:p>
        </p:txBody>
      </p:sp>
      <p:sp>
        <p:nvSpPr>
          <p:cNvPr id="34" name="Text 32"/>
          <p:cNvSpPr/>
          <p:nvPr/>
        </p:nvSpPr>
        <p:spPr>
          <a:xfrm>
            <a:off x="996696" y="5385816"/>
            <a:ext cx="1435608" cy="128016"/>
          </a:xfrm>
          <a:prstGeom prst="rect">
            <a:avLst/>
          </a:prstGeom>
          <a:noFill/>
          <a:ln/>
        </p:spPr>
        <p:txBody>
          <a:bodyPr wrap="square" lIns="0" tIns="0" rIns="0" bIns="0" rtlCol="0" anchor="ctr">
            <a:normAutofit/>
          </a:bodyPr>
          <a:lstStyle/>
          <a:p>
            <a:pPr marL="0" indent="0" algn="l">
              <a:buNone/>
            </a:pPr>
            <a:r>
              <a:rPr lang="en-US" sz="820" b="1" dirty="0">
                <a:solidFill>
                  <a:srgbClr val="12385B"/>
                </a:solidFill>
              </a:rPr>
              <a:t>Without duration</a:t>
            </a:r>
            <a:endParaRPr lang="en-US" sz="820" dirty="0"/>
          </a:p>
        </p:txBody>
      </p:sp>
      <p:sp>
        <p:nvSpPr>
          <p:cNvPr id="35" name="Shape 33"/>
          <p:cNvSpPr/>
          <p:nvPr/>
        </p:nvSpPr>
        <p:spPr>
          <a:xfrm>
            <a:off x="2468880" y="5303520"/>
            <a:ext cx="1005840" cy="411480"/>
          </a:xfrm>
          <a:prstGeom prst="rect">
            <a:avLst/>
          </a:prstGeom>
          <a:solidFill>
            <a:srgbClr val="FFFFFF"/>
          </a:solidFill>
          <a:ln w="12700">
            <a:solidFill>
              <a:srgbClr val="D8DEE6">
                <a:alpha val="90000"/>
              </a:srgbClr>
            </a:solidFill>
            <a:prstDash val="solid"/>
          </a:ln>
        </p:spPr>
        <p:txBody>
          <a:bodyPr/>
          <a:lstStyle/>
          <a:p>
            <a:endParaRPr lang="en-GB"/>
          </a:p>
        </p:txBody>
      </p:sp>
      <p:sp>
        <p:nvSpPr>
          <p:cNvPr id="36" name="Text 34"/>
          <p:cNvSpPr/>
          <p:nvPr/>
        </p:nvSpPr>
        <p:spPr>
          <a:xfrm>
            <a:off x="2505456" y="5385816"/>
            <a:ext cx="9326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0.663</a:t>
            </a:r>
            <a:endParaRPr lang="en-US" sz="820" dirty="0"/>
          </a:p>
        </p:txBody>
      </p:sp>
      <p:sp>
        <p:nvSpPr>
          <p:cNvPr id="37" name="Shape 35"/>
          <p:cNvSpPr/>
          <p:nvPr/>
        </p:nvSpPr>
        <p:spPr>
          <a:xfrm>
            <a:off x="3474720" y="5303520"/>
            <a:ext cx="777240" cy="411480"/>
          </a:xfrm>
          <a:prstGeom prst="rect">
            <a:avLst/>
          </a:prstGeom>
          <a:solidFill>
            <a:srgbClr val="FFFFFF"/>
          </a:solidFill>
          <a:ln w="12700">
            <a:solidFill>
              <a:srgbClr val="D8DEE6">
                <a:alpha val="90000"/>
              </a:srgbClr>
            </a:solidFill>
            <a:prstDash val="solid"/>
          </a:ln>
        </p:spPr>
        <p:txBody>
          <a:bodyPr/>
          <a:lstStyle/>
          <a:p>
            <a:endParaRPr lang="en-GB"/>
          </a:p>
        </p:txBody>
      </p:sp>
      <p:sp>
        <p:nvSpPr>
          <p:cNvPr id="38" name="Text 36"/>
          <p:cNvSpPr/>
          <p:nvPr/>
        </p:nvSpPr>
        <p:spPr>
          <a:xfrm>
            <a:off x="3511296" y="5385816"/>
            <a:ext cx="70408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0.435</a:t>
            </a:r>
            <a:endParaRPr lang="en-US" sz="820" dirty="0"/>
          </a:p>
        </p:txBody>
      </p:sp>
      <p:sp>
        <p:nvSpPr>
          <p:cNvPr id="39" name="Shape 37"/>
          <p:cNvSpPr/>
          <p:nvPr/>
        </p:nvSpPr>
        <p:spPr>
          <a:xfrm>
            <a:off x="4251960" y="5303520"/>
            <a:ext cx="822960" cy="411480"/>
          </a:xfrm>
          <a:prstGeom prst="rect">
            <a:avLst/>
          </a:prstGeom>
          <a:solidFill>
            <a:srgbClr val="FFFFFF"/>
          </a:solidFill>
          <a:ln w="12700">
            <a:solidFill>
              <a:srgbClr val="D8DEE6">
                <a:alpha val="90000"/>
              </a:srgbClr>
            </a:solidFill>
            <a:prstDash val="solid"/>
          </a:ln>
        </p:spPr>
        <p:txBody>
          <a:bodyPr/>
          <a:lstStyle/>
          <a:p>
            <a:endParaRPr lang="en-GB"/>
          </a:p>
        </p:txBody>
      </p:sp>
      <p:sp>
        <p:nvSpPr>
          <p:cNvPr id="40" name="Text 38"/>
          <p:cNvSpPr/>
          <p:nvPr/>
        </p:nvSpPr>
        <p:spPr>
          <a:xfrm>
            <a:off x="4288536" y="5385816"/>
            <a:ext cx="74980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0.792</a:t>
            </a:r>
            <a:endParaRPr lang="en-US" sz="820" dirty="0"/>
          </a:p>
        </p:txBody>
      </p:sp>
      <p:sp>
        <p:nvSpPr>
          <p:cNvPr id="41" name="Shape 39"/>
          <p:cNvSpPr/>
          <p:nvPr/>
        </p:nvSpPr>
        <p:spPr>
          <a:xfrm>
            <a:off x="5074920" y="5303520"/>
            <a:ext cx="822960" cy="411480"/>
          </a:xfrm>
          <a:prstGeom prst="rect">
            <a:avLst/>
          </a:prstGeom>
          <a:solidFill>
            <a:srgbClr val="FFFFFF"/>
          </a:solidFill>
          <a:ln w="12700">
            <a:solidFill>
              <a:srgbClr val="D8DEE6">
                <a:alpha val="90000"/>
              </a:srgbClr>
            </a:solidFill>
            <a:prstDash val="solid"/>
          </a:ln>
        </p:spPr>
        <p:txBody>
          <a:bodyPr/>
          <a:lstStyle/>
          <a:p>
            <a:endParaRPr lang="en-GB"/>
          </a:p>
        </p:txBody>
      </p:sp>
      <p:sp>
        <p:nvSpPr>
          <p:cNvPr id="42" name="Text 40"/>
          <p:cNvSpPr/>
          <p:nvPr/>
        </p:nvSpPr>
        <p:spPr>
          <a:xfrm>
            <a:off x="5111496" y="5385816"/>
            <a:ext cx="749808" cy="128016"/>
          </a:xfrm>
          <a:prstGeom prst="rect">
            <a:avLst/>
          </a:prstGeom>
          <a:noFill/>
          <a:ln/>
        </p:spPr>
        <p:txBody>
          <a:bodyPr wrap="square" lIns="0" tIns="0" rIns="0" bIns="0" rtlCol="0" anchor="ctr">
            <a:normAutofit/>
          </a:bodyPr>
          <a:lstStyle/>
          <a:p>
            <a:pPr marL="0" indent="0" algn="ctr">
              <a:buNone/>
            </a:pPr>
            <a:r>
              <a:rPr lang="en-US" sz="820" dirty="0">
                <a:solidFill>
                  <a:srgbClr val="1F2933"/>
                </a:solidFill>
              </a:rPr>
              <a:t>0.444</a:t>
            </a:r>
            <a:endParaRPr lang="en-US" sz="820" dirty="0"/>
          </a:p>
        </p:txBody>
      </p:sp>
      <p:sp>
        <p:nvSpPr>
          <p:cNvPr id="43" name="Shape 41"/>
          <p:cNvSpPr/>
          <p:nvPr/>
        </p:nvSpPr>
        <p:spPr>
          <a:xfrm>
            <a:off x="6263640" y="4160520"/>
            <a:ext cx="5074920" cy="1737360"/>
          </a:xfrm>
          <a:prstGeom prst="roundRect">
            <a:avLst>
              <a:gd name="adj" fmla="val 3158"/>
            </a:avLst>
          </a:prstGeom>
          <a:solidFill>
            <a:srgbClr val="FFFFFF"/>
          </a:solidFill>
          <a:ln w="12700">
            <a:solidFill>
              <a:srgbClr val="D8DEE6">
                <a:alpha val="85000"/>
              </a:srgbClr>
            </a:solidFill>
            <a:prstDash val="solid"/>
          </a:ln>
        </p:spPr>
        <p:txBody>
          <a:bodyPr/>
          <a:lstStyle/>
          <a:p>
            <a:endParaRPr lang="en-GB"/>
          </a:p>
        </p:txBody>
      </p:sp>
      <p:sp>
        <p:nvSpPr>
          <p:cNvPr id="44" name="Text 42"/>
          <p:cNvSpPr/>
          <p:nvPr/>
        </p:nvSpPr>
        <p:spPr>
          <a:xfrm>
            <a:off x="6373368" y="4242816"/>
            <a:ext cx="4855464" cy="164592"/>
          </a:xfrm>
          <a:prstGeom prst="rect">
            <a:avLst/>
          </a:prstGeom>
          <a:noFill/>
          <a:ln/>
        </p:spPr>
        <p:txBody>
          <a:bodyPr wrap="square" lIns="0" tIns="0" rIns="0" bIns="0" rtlCol="0" anchor="ctr"/>
          <a:lstStyle/>
          <a:p>
            <a:pPr marL="0" indent="0">
              <a:buNone/>
            </a:pPr>
            <a:r>
              <a:rPr lang="en-US" sz="1020" b="1" dirty="0">
                <a:solidFill>
                  <a:srgbClr val="12385B"/>
                </a:solidFill>
              </a:rPr>
              <a:t>SHAP summary explanation</a:t>
            </a:r>
            <a:endParaRPr lang="en-US" sz="1020" dirty="0"/>
          </a:p>
        </p:txBody>
      </p:sp>
      <p:pic>
        <p:nvPicPr>
          <p:cNvPr id="45" name="Image 0" descr="/mnt/data/key_extracted_plots/18_shap_summary.png"/>
          <p:cNvPicPr>
            <a:picLocks noChangeAspect="1"/>
          </p:cNvPicPr>
          <p:nvPr/>
        </p:nvPicPr>
        <p:blipFill>
          <a:blip r:embed="rId3"/>
          <a:stretch>
            <a:fillRect/>
          </a:stretch>
        </p:blipFill>
        <p:spPr>
          <a:xfrm rot="16200000">
            <a:off x="8252705" y="2769427"/>
            <a:ext cx="1096790" cy="4589967"/>
          </a:xfrm>
          <a:prstGeom prst="rect">
            <a:avLst/>
          </a:prstGeom>
        </p:spPr>
      </p:pic>
      <p:sp>
        <p:nvSpPr>
          <p:cNvPr id="46" name="Text 43"/>
          <p:cNvSpPr/>
          <p:nvPr/>
        </p:nvSpPr>
        <p:spPr>
          <a:xfrm>
            <a:off x="868680" y="6080760"/>
            <a:ext cx="10424160" cy="201168"/>
          </a:xfrm>
          <a:prstGeom prst="rect">
            <a:avLst/>
          </a:prstGeom>
          <a:noFill/>
          <a:ln/>
        </p:spPr>
        <p:txBody>
          <a:bodyPr wrap="square" lIns="0" tIns="0" rIns="0" bIns="0" rtlCol="0" anchor="ctr"/>
          <a:lstStyle/>
          <a:p>
            <a:pPr marL="0" indent="0" algn="ctr">
              <a:buNone/>
            </a:pPr>
            <a:r>
              <a:rPr lang="en-US" sz="1150" b="1" dirty="0">
                <a:solidFill>
                  <a:srgbClr val="12385B"/>
                </a:solidFill>
              </a:rPr>
              <a:t>Recommended deployment: decision-support ranking tool, monitored on future campaigns, with a duration-free version for pre-call targeting.</a:t>
            </a:r>
            <a:endParaRPr lang="en-US" sz="115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115</TotalTime>
  <Words>1259</Words>
  <Application>Microsoft Office PowerPoint</Application>
  <PresentationFormat>Widescreen</PresentationFormat>
  <Paragraphs>253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Politecnico di Milano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Marketing Subscription Prediction</dc:title>
  <dc:subject>FinTech final project presentation</dc:subject>
  <dc:creator>OpenAI</dc:creator>
  <cp:lastModifiedBy>Salvatore Mariano Librici</cp:lastModifiedBy>
  <cp:revision>4</cp:revision>
  <dcterms:created xsi:type="dcterms:W3CDTF">2026-05-26T14:55:20Z</dcterms:created>
  <dcterms:modified xsi:type="dcterms:W3CDTF">2026-06-01T17:45:00Z</dcterms:modified>
</cp:coreProperties>
</file>